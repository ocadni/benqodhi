
<file path=[Content_Types].xml><?xml version="1.0" encoding="utf-8"?>
<Types xmlns="http://schemas.openxmlformats.org/package/2006/content-types">
  <Default Extension="jpeg" ContentType="image/jpeg"/>
  <Default Extension="jpg" ContentType="image/jpeg"/>
  <Default Extension="org&amp;utm_campaign=index&amp;utm_content=origina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30"/>
  </p:notesMasterIdLst>
  <p:sldIdLst>
    <p:sldId id="256" r:id="rId2"/>
    <p:sldId id="300" r:id="rId3"/>
    <p:sldId id="315" r:id="rId4"/>
    <p:sldId id="261" r:id="rId5"/>
    <p:sldId id="301" r:id="rId6"/>
    <p:sldId id="302" r:id="rId7"/>
    <p:sldId id="257" r:id="rId8"/>
    <p:sldId id="303" r:id="rId9"/>
    <p:sldId id="304" r:id="rId10"/>
    <p:sldId id="258" r:id="rId11"/>
    <p:sldId id="259" r:id="rId12"/>
    <p:sldId id="260" r:id="rId13"/>
    <p:sldId id="305" r:id="rId14"/>
    <p:sldId id="262" r:id="rId15"/>
    <p:sldId id="263" r:id="rId16"/>
    <p:sldId id="318" r:id="rId17"/>
    <p:sldId id="319" r:id="rId18"/>
    <p:sldId id="306" r:id="rId19"/>
    <p:sldId id="307" r:id="rId20"/>
    <p:sldId id="308" r:id="rId21"/>
    <p:sldId id="309" r:id="rId22"/>
    <p:sldId id="310" r:id="rId23"/>
    <p:sldId id="311" r:id="rId24"/>
    <p:sldId id="312" r:id="rId25"/>
    <p:sldId id="317" r:id="rId26"/>
    <p:sldId id="313" r:id="rId27"/>
    <p:sldId id="314" r:id="rId28"/>
    <p:sldId id="31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FA7"/>
    <a:srgbClr val="4590B8"/>
    <a:srgbClr val="1A32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80" autoAdjust="0"/>
    <p:restoredTop sz="85407" autoAdjust="0"/>
  </p:normalViewPr>
  <p:slideViewPr>
    <p:cSldViewPr snapToGrid="0">
      <p:cViewPr varScale="1">
        <p:scale>
          <a:sx n="95" d="100"/>
          <a:sy n="95" d="100"/>
        </p:scale>
        <p:origin x="832"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89EC6-F4E0-4D91-97E6-5D4E69B4AA28}" type="datetimeFigureOut">
              <a:rPr lang="it-IT" smtClean="0"/>
              <a:t>10/09/26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87347A-0D7D-4292-9D57-289DE16A4CE5}" type="slidenum">
              <a:rPr lang="it-IT" smtClean="0"/>
              <a:t>‹#›</a:t>
            </a:fld>
            <a:endParaRPr lang="it-IT"/>
          </a:p>
        </p:txBody>
      </p:sp>
    </p:spTree>
    <p:extLst>
      <p:ext uri="{BB962C8B-B14F-4D97-AF65-F5344CB8AC3E}">
        <p14:creationId xmlns:p14="http://schemas.microsoft.com/office/powerpoint/2010/main" val="3671972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887347A-0D7D-4292-9D57-289DE16A4CE5}" type="slidenum">
              <a:rPr lang="it-IT" smtClean="0"/>
              <a:t>1</a:t>
            </a:fld>
            <a:endParaRPr lang="it-IT"/>
          </a:p>
        </p:txBody>
      </p:sp>
    </p:spTree>
    <p:extLst>
      <p:ext uri="{BB962C8B-B14F-4D97-AF65-F5344CB8AC3E}">
        <p14:creationId xmlns:p14="http://schemas.microsoft.com/office/powerpoint/2010/main" val="2384837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FB99C-B3F8-5B49-7DF4-4A8D3BE3019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8CF82CBF-5013-2032-B577-F7779137C55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1D6F17BB-08A8-AE32-E62C-C7B12FB8E98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9C5FC5AD-1779-A925-51BB-C38FEBED6835}"/>
              </a:ext>
            </a:extLst>
          </p:cNvPr>
          <p:cNvSpPr>
            <a:spLocks noGrp="1"/>
          </p:cNvSpPr>
          <p:nvPr>
            <p:ph type="sldNum" sz="quarter" idx="5"/>
          </p:nvPr>
        </p:nvSpPr>
        <p:spPr/>
        <p:txBody>
          <a:bodyPr/>
          <a:lstStyle/>
          <a:p>
            <a:fld id="{3887347A-0D7D-4292-9D57-289DE16A4CE5}" type="slidenum">
              <a:rPr lang="it-IT" smtClean="0"/>
              <a:t>2</a:t>
            </a:fld>
            <a:endParaRPr lang="it-IT"/>
          </a:p>
        </p:txBody>
      </p:sp>
    </p:spTree>
    <p:extLst>
      <p:ext uri="{BB962C8B-B14F-4D97-AF65-F5344CB8AC3E}">
        <p14:creationId xmlns:p14="http://schemas.microsoft.com/office/powerpoint/2010/main" val="386322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E4440-2172-3B57-6CA6-A0F3C87BA6E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9AD983B-5246-AAEE-E845-86668F8A03AF}"/>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C3893962-5857-C0AA-922F-76F754012AB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3A4DB241-E51F-B48C-9190-0AD3E57C98A8}"/>
              </a:ext>
            </a:extLst>
          </p:cNvPr>
          <p:cNvSpPr>
            <a:spLocks noGrp="1"/>
          </p:cNvSpPr>
          <p:nvPr>
            <p:ph type="sldNum" sz="quarter" idx="5"/>
          </p:nvPr>
        </p:nvSpPr>
        <p:spPr/>
        <p:txBody>
          <a:bodyPr/>
          <a:lstStyle/>
          <a:p>
            <a:fld id="{3887347A-0D7D-4292-9D57-289DE16A4CE5}" type="slidenum">
              <a:rPr lang="it-IT" smtClean="0"/>
              <a:t>3</a:t>
            </a:fld>
            <a:endParaRPr lang="it-IT"/>
          </a:p>
        </p:txBody>
      </p:sp>
    </p:spTree>
    <p:extLst>
      <p:ext uri="{BB962C8B-B14F-4D97-AF65-F5344CB8AC3E}">
        <p14:creationId xmlns:p14="http://schemas.microsoft.com/office/powerpoint/2010/main" val="1915040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3887347A-0D7D-4292-9D57-289DE16A4CE5}" type="slidenum">
              <a:rPr lang="it-IT" smtClean="0"/>
              <a:t>4</a:t>
            </a:fld>
            <a:endParaRPr lang="it-IT"/>
          </a:p>
        </p:txBody>
      </p:sp>
    </p:spTree>
    <p:extLst>
      <p:ext uri="{BB962C8B-B14F-4D97-AF65-F5344CB8AC3E}">
        <p14:creationId xmlns:p14="http://schemas.microsoft.com/office/powerpoint/2010/main" val="3889218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1C90F-16A9-680C-33C2-142ECBEA2D1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74ADEFD-DF52-F315-E633-48DA23C175B8}"/>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F7B9AE1-49C5-B8D2-98FC-AC4910C5CD3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CC02790-9F07-8639-2355-31D8A4CFF1DA}"/>
              </a:ext>
            </a:extLst>
          </p:cNvPr>
          <p:cNvSpPr>
            <a:spLocks noGrp="1"/>
          </p:cNvSpPr>
          <p:nvPr>
            <p:ph type="sldNum" sz="quarter" idx="5"/>
          </p:nvPr>
        </p:nvSpPr>
        <p:spPr/>
        <p:txBody>
          <a:bodyPr/>
          <a:lstStyle/>
          <a:p>
            <a:fld id="{3887347A-0D7D-4292-9D57-289DE16A4CE5}" type="slidenum">
              <a:rPr lang="it-IT" smtClean="0"/>
              <a:t>5</a:t>
            </a:fld>
            <a:endParaRPr lang="it-IT"/>
          </a:p>
        </p:txBody>
      </p:sp>
    </p:spTree>
    <p:extLst>
      <p:ext uri="{BB962C8B-B14F-4D97-AF65-F5344CB8AC3E}">
        <p14:creationId xmlns:p14="http://schemas.microsoft.com/office/powerpoint/2010/main" val="2170600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Double service c</a:t>
                </a:r>
                <a:r>
                  <a:rPr lang="en-IT" dirty="0"/>
                  <a:t>onstraints are provided in input</a:t>
                </a:r>
              </a:p>
              <a:p>
                <a:r>
                  <a:rPr lang="en-IT" dirty="0"/>
                  <a:t>For example, if the patient's preferred window is </a:t>
                </a:r>
                <a:r>
                  <a:rPr lang="en-IT" b="1" dirty="0"/>
                  <a:t>10:15–11:00</a:t>
                </a:r>
                <a:r>
                  <a:rPr lang="en-IT" dirty="0"/>
                  <a:t>, then</a:t>
                </a:r>
              </a:p>
              <a:p>
                <a:pPr/>
                <a14:m>
                  <m:oMathPara xmlns:m="http://schemas.openxmlformats.org/officeDocument/2006/math">
                    <m:oMath>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𝑒</m:t>
                          </m:r>
                        </m:e>
                        <m:sub>
                          <m:r>
                            <a:rPr lang="en-IT" sz="1200" i="1" kern="1200">
                              <a:solidFill>
                                <a:schemeClr val="tx1"/>
                              </a:solidFill>
                              <a:latin typeface="Cambria Math" panose="02040503050406030204" pitchFamily="18" charset="0"/>
                              <a:ea typeface="+mn-ea"/>
                              <a:cs typeface="+mn-cs"/>
                            </a:rPr>
                            <m:t>𝑖</m:t>
                          </m:r>
                        </m:sub>
                      </m:sSub>
                      <m:r>
                        <a:rPr lang="en-IT" sz="1200" i="0" kern="1200">
                          <a:solidFill>
                            <a:schemeClr val="tx1"/>
                          </a:solidFill>
                          <a:latin typeface="Cambria Math" panose="02040503050406030204" pitchFamily="18" charset="0"/>
                          <a:ea typeface="+mn-ea"/>
                          <a:cs typeface="+mn-cs"/>
                        </a:rPr>
                        <m:t>=10:15, </m:t>
                      </m:r>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𝑙</m:t>
                          </m:r>
                        </m:e>
                        <m:sub>
                          <m:r>
                            <a:rPr lang="en-IT" sz="1200" i="1" kern="1200">
                              <a:solidFill>
                                <a:schemeClr val="tx1"/>
                              </a:solidFill>
                              <a:latin typeface="Cambria Math" panose="02040503050406030204" pitchFamily="18" charset="0"/>
                              <a:ea typeface="+mn-ea"/>
                              <a:cs typeface="+mn-cs"/>
                            </a:rPr>
                            <m:t>𝑖</m:t>
                          </m:r>
                        </m:sub>
                      </m:sSub>
                      <m:r>
                        <a:rPr lang="en-IT" sz="1200" i="0" kern="1200">
                          <a:solidFill>
                            <a:schemeClr val="tx1"/>
                          </a:solidFill>
                          <a:latin typeface="Cambria Math" panose="02040503050406030204" pitchFamily="18" charset="0"/>
                          <a:ea typeface="+mn-ea"/>
                          <a:cs typeface="+mn-cs"/>
                        </a:rPr>
                        <m:t>=11:00.</m:t>
                      </m:r>
                    </m:oMath>
                  </m:oMathPara>
                </a14:m>
                <a:endParaRPr lang="en-IT" dirty="0"/>
              </a:p>
              <a:p>
                <a:r>
                  <a:rPr lang="en-IT" dirty="0"/>
                  <a:t>If service N starts at 10:50, </a:t>
                </a:r>
                <a14:m>
                  <m:oMath xmlns:m="http://schemas.openxmlformats.org/officeDocument/2006/math">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𝑧</m:t>
                        </m:r>
                      </m:e>
                      <m:sub>
                        <m:r>
                          <a:rPr lang="en-IT" sz="1200" i="1" kern="1200">
                            <a:solidFill>
                              <a:schemeClr val="tx1"/>
                            </a:solidFill>
                            <a:latin typeface="Cambria Math" panose="02040503050406030204" pitchFamily="18" charset="0"/>
                            <a:ea typeface="+mn-ea"/>
                            <a:cs typeface="+mn-cs"/>
                          </a:rPr>
                          <m:t>𝑖𝑁</m:t>
                        </m:r>
                      </m:sub>
                    </m:sSub>
                    <m:r>
                      <a:rPr lang="en-IT" sz="1200" i="0" kern="1200">
                        <a:solidFill>
                          <a:schemeClr val="tx1"/>
                        </a:solidFill>
                        <a:latin typeface="Cambria Math" panose="02040503050406030204" pitchFamily="18" charset="0"/>
                        <a:ea typeface="+mn-ea"/>
                        <a:cs typeface="+mn-cs"/>
                      </a:rPr>
                      <m:t>=0</m:t>
                    </m:r>
                  </m:oMath>
                </a14:m>
                <a:r>
                  <a:rPr lang="en-IT" dirty="0"/>
                  <a:t>. If service H starts at 11:10, </a:t>
                </a:r>
                <a14:m>
                  <m:oMath xmlns:m="http://schemas.openxmlformats.org/officeDocument/2006/math">
                    <m:sSub>
                      <m:sSubPr>
                        <m:ctrlPr>
                          <a:rPr lang="en-IT" sz="1200" i="1" kern="1200">
                            <a:solidFill>
                              <a:schemeClr val="tx1"/>
                            </a:solidFill>
                            <a:latin typeface="Cambria Math" panose="02040503050406030204" pitchFamily="18" charset="0"/>
                            <a:ea typeface="+mn-ea"/>
                            <a:cs typeface="+mn-cs"/>
                          </a:rPr>
                        </m:ctrlPr>
                      </m:sSubPr>
                      <m:e>
                        <m:r>
                          <a:rPr lang="en-IT" sz="1200" i="1" kern="1200">
                            <a:solidFill>
                              <a:schemeClr val="tx1"/>
                            </a:solidFill>
                            <a:latin typeface="Cambria Math" panose="02040503050406030204" pitchFamily="18" charset="0"/>
                            <a:ea typeface="+mn-ea"/>
                            <a:cs typeface="+mn-cs"/>
                          </a:rPr>
                          <m:t>𝑧</m:t>
                        </m:r>
                      </m:e>
                      <m:sub>
                        <m:r>
                          <a:rPr lang="en-IT" sz="1200" i="1" kern="1200">
                            <a:solidFill>
                              <a:schemeClr val="tx1"/>
                            </a:solidFill>
                            <a:latin typeface="Cambria Math" panose="02040503050406030204" pitchFamily="18" charset="0"/>
                            <a:ea typeface="+mn-ea"/>
                            <a:cs typeface="+mn-cs"/>
                          </a:rPr>
                          <m:t>𝑖𝐻</m:t>
                        </m:r>
                      </m:sub>
                    </m:sSub>
                    <m:r>
                      <a:rPr lang="en-IT" sz="1200" i="0" kern="1200">
                        <a:solidFill>
                          <a:schemeClr val="tx1"/>
                        </a:solidFill>
                        <a:latin typeface="Cambria Math" panose="02040503050406030204" pitchFamily="18" charset="0"/>
                        <a:ea typeface="+mn-ea"/>
                        <a:cs typeface="+mn-cs"/>
                      </a:rPr>
                      <m:t>=10</m:t>
                    </m:r>
                  </m:oMath>
                </a14:m>
                <a:r>
                  <a:rPr lang="en-IT" dirty="0"/>
                  <a:t>minutes.</a:t>
                </a:r>
              </a:p>
              <a:p>
                <a:endParaRPr lang="en-IT" dirty="0"/>
              </a:p>
              <a:p>
                <a:r>
                  <a:rPr lang="en-IT" dirty="0"/>
                  <a:t>The version we solved assumes equal weights in the travel-time matrix and 2 hours of interval for each patient</a:t>
                </a:r>
              </a:p>
              <a:p>
                <a:endParaRPr lang="en-IT" dirty="0"/>
              </a:p>
            </p:txBody>
          </p:sp>
        </mc:Choice>
        <mc:Fallback xmlns="">
          <p:sp>
            <p:nvSpPr>
              <p:cNvPr id="3" name="Notes Placeholder 2"/>
              <p:cNvSpPr>
                <a:spLocks noGrp="1"/>
              </p:cNvSpPr>
              <p:nvPr>
                <p:ph type="body" idx="1"/>
              </p:nvPr>
            </p:nvSpPr>
            <p:spPr/>
            <p:txBody>
              <a:bodyPr/>
              <a:lstStyle/>
              <a:p>
                <a:r>
                  <a:rPr lang="en-GB" dirty="0"/>
                  <a:t>Double service c</a:t>
                </a:r>
                <a:r>
                  <a:rPr lang="en-IT" dirty="0"/>
                  <a:t>onstraints are provided in input</a:t>
                </a:r>
              </a:p>
              <a:p>
                <a:r>
                  <a:rPr lang="en-IT" dirty="0"/>
                  <a:t>For example, if the patient's preferred window is </a:t>
                </a:r>
                <a:r>
                  <a:rPr lang="en-IT" b="1" dirty="0"/>
                  <a:t>10:15–11:00</a:t>
                </a:r>
                <a:r>
                  <a:rPr lang="en-IT" dirty="0"/>
                  <a:t>, then</a:t>
                </a:r>
              </a:p>
              <a:p>
                <a:pPr/>
                <a:r>
                  <a:rPr lang="en-IT" sz="1200" i="0" kern="1200">
                    <a:solidFill>
                      <a:schemeClr val="tx1"/>
                    </a:solidFill>
                    <a:latin typeface="Cambria Math" panose="02040503050406030204" pitchFamily="18" charset="0"/>
                    <a:ea typeface="+mn-ea"/>
                    <a:cs typeface="+mn-cs"/>
                  </a:rPr>
                  <a:t>𝑒_𝑖=10:15, 𝑙_𝑖=11:00.</a:t>
                </a:r>
                <a:endParaRPr lang="en-IT" dirty="0"/>
              </a:p>
              <a:p>
                <a:r>
                  <a:rPr lang="en-IT" dirty="0"/>
                  <a:t>If service N starts at 10:50, </a:t>
                </a:r>
                <a:r>
                  <a:rPr lang="en-IT" sz="1200" i="0" kern="1200">
                    <a:solidFill>
                      <a:schemeClr val="tx1"/>
                    </a:solidFill>
                    <a:latin typeface="Cambria Math" panose="02040503050406030204" pitchFamily="18" charset="0"/>
                    <a:ea typeface="+mn-ea"/>
                    <a:cs typeface="+mn-cs"/>
                  </a:rPr>
                  <a:t>𝑧_𝑖𝑁=0</a:t>
                </a:r>
                <a:r>
                  <a:rPr lang="en-IT" dirty="0"/>
                  <a:t>. If service H starts at 11:10, </a:t>
                </a:r>
                <a:r>
                  <a:rPr lang="en-IT" sz="1200" i="0" kern="1200">
                    <a:solidFill>
                      <a:schemeClr val="tx1"/>
                    </a:solidFill>
                    <a:latin typeface="Cambria Math" panose="02040503050406030204" pitchFamily="18" charset="0"/>
                    <a:ea typeface="+mn-ea"/>
                    <a:cs typeface="+mn-cs"/>
                  </a:rPr>
                  <a:t>𝑧_𝑖𝐻=10</a:t>
                </a:r>
                <a:r>
                  <a:rPr lang="en-IT" dirty="0"/>
                  <a:t>minutes.</a:t>
                </a:r>
              </a:p>
              <a:p>
                <a:endParaRPr lang="en-IT" dirty="0"/>
              </a:p>
              <a:p>
                <a:r>
                  <a:rPr lang="en-IT" dirty="0"/>
                  <a:t>The version we solved assumes equal weights in the travel-time matrix and 2 hours of interval for each patient</a:t>
                </a:r>
              </a:p>
              <a:p>
                <a:endParaRPr lang="en-IT" dirty="0"/>
              </a:p>
            </p:txBody>
          </p:sp>
        </mc:Fallback>
      </mc:AlternateContent>
      <p:sp>
        <p:nvSpPr>
          <p:cNvPr id="4" name="Slide Number Placeholder 3"/>
          <p:cNvSpPr>
            <a:spLocks noGrp="1"/>
          </p:cNvSpPr>
          <p:nvPr>
            <p:ph type="sldNum" sz="quarter" idx="5"/>
          </p:nvPr>
        </p:nvSpPr>
        <p:spPr/>
        <p:txBody>
          <a:bodyPr/>
          <a:lstStyle/>
          <a:p>
            <a:fld id="{3887347A-0D7D-4292-9D57-289DE16A4CE5}" type="slidenum">
              <a:rPr lang="it-IT" smtClean="0"/>
              <a:t>6</a:t>
            </a:fld>
            <a:endParaRPr lang="it-IT"/>
          </a:p>
        </p:txBody>
      </p:sp>
    </p:spTree>
    <p:extLst>
      <p:ext uri="{BB962C8B-B14F-4D97-AF65-F5344CB8AC3E}">
        <p14:creationId xmlns:p14="http://schemas.microsoft.com/office/powerpoint/2010/main" val="1376183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t>
            </a:r>
            <a:r>
              <a:rPr lang="en-IT" dirty="0"/>
              <a:t>hromosome has 1 key per patient + 2 auxiliary keys</a:t>
            </a:r>
          </a:p>
        </p:txBody>
      </p:sp>
      <p:sp>
        <p:nvSpPr>
          <p:cNvPr id="4" name="Slide Number Placeholder 3"/>
          <p:cNvSpPr>
            <a:spLocks noGrp="1"/>
          </p:cNvSpPr>
          <p:nvPr>
            <p:ph type="sldNum" sz="quarter" idx="5"/>
          </p:nvPr>
        </p:nvSpPr>
        <p:spPr/>
        <p:txBody>
          <a:bodyPr/>
          <a:lstStyle/>
          <a:p>
            <a:fld id="{3887347A-0D7D-4292-9D57-289DE16A4CE5}" type="slidenum">
              <a:rPr lang="it-IT" smtClean="0"/>
              <a:t>8</a:t>
            </a:fld>
            <a:endParaRPr lang="it-IT"/>
          </a:p>
        </p:txBody>
      </p:sp>
    </p:spTree>
    <p:extLst>
      <p:ext uri="{BB962C8B-B14F-4D97-AF65-F5344CB8AC3E}">
        <p14:creationId xmlns:p14="http://schemas.microsoft.com/office/powerpoint/2010/main" val="3835407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Decoder creates the solution for each chromosome. First keys with bigger values.</a:t>
            </a:r>
          </a:p>
          <a:p>
            <a:r>
              <a:rPr lang="en-IT" dirty="0"/>
              <a:t>For example it starts with P3 and checks which caregivers has the lowest cost of assignment (as long as the constraints are satisfied)</a:t>
            </a:r>
          </a:p>
        </p:txBody>
      </p:sp>
      <p:sp>
        <p:nvSpPr>
          <p:cNvPr id="4" name="Slide Number Placeholder 3"/>
          <p:cNvSpPr>
            <a:spLocks noGrp="1"/>
          </p:cNvSpPr>
          <p:nvPr>
            <p:ph type="sldNum" sz="quarter" idx="5"/>
          </p:nvPr>
        </p:nvSpPr>
        <p:spPr/>
        <p:txBody>
          <a:bodyPr/>
          <a:lstStyle/>
          <a:p>
            <a:fld id="{3887347A-0D7D-4292-9D57-289DE16A4CE5}" type="slidenum">
              <a:rPr lang="it-IT" smtClean="0"/>
              <a:t>9</a:t>
            </a:fld>
            <a:endParaRPr lang="it-IT"/>
          </a:p>
        </p:txBody>
      </p:sp>
    </p:spTree>
    <p:extLst>
      <p:ext uri="{BB962C8B-B14F-4D97-AF65-F5344CB8AC3E}">
        <p14:creationId xmlns:p14="http://schemas.microsoft.com/office/powerpoint/2010/main" val="4073414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a:t>
            </a:r>
            <a:r>
              <a:rPr lang="en-IT" dirty="0"/>
              <a:t>irst level I have the two sets of solution</a:t>
            </a:r>
          </a:p>
          <a:p>
            <a:r>
              <a:rPr lang="en-GB" dirty="0"/>
              <a:t>S</a:t>
            </a:r>
            <a:r>
              <a:rPr lang="en-IT" dirty="0"/>
              <a:t>econd level I choose among the parents which can give good info</a:t>
            </a:r>
          </a:p>
          <a:p>
            <a:r>
              <a:rPr lang="en-IT" dirty="0"/>
              <a:t>Third level I  generate new chromosomes by keeping in mind the parents</a:t>
            </a:r>
          </a:p>
        </p:txBody>
      </p:sp>
      <p:sp>
        <p:nvSpPr>
          <p:cNvPr id="4" name="Slide Number Placeholder 3"/>
          <p:cNvSpPr>
            <a:spLocks noGrp="1"/>
          </p:cNvSpPr>
          <p:nvPr>
            <p:ph type="sldNum" sz="quarter" idx="5"/>
          </p:nvPr>
        </p:nvSpPr>
        <p:spPr/>
        <p:txBody>
          <a:bodyPr/>
          <a:lstStyle/>
          <a:p>
            <a:fld id="{3887347A-0D7D-4292-9D57-289DE16A4CE5}" type="slidenum">
              <a:rPr lang="it-IT" smtClean="0"/>
              <a:t>10</a:t>
            </a:fld>
            <a:endParaRPr lang="it-IT"/>
          </a:p>
        </p:txBody>
      </p:sp>
    </p:spTree>
    <p:extLst>
      <p:ext uri="{BB962C8B-B14F-4D97-AF65-F5344CB8AC3E}">
        <p14:creationId xmlns:p14="http://schemas.microsoft.com/office/powerpoint/2010/main" val="2665092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LLM works once for each generation</a:t>
            </a:r>
          </a:p>
          <a:p>
            <a:r>
              <a:rPr lang="en-IT" dirty="0"/>
              <a:t>It takes the best current chromosome (solution), and related information (i.e., geographics), and decides which keys should be changed. We might end up generating several chromosomes at each step by using the 3 strategies in the next slide</a:t>
            </a:r>
          </a:p>
        </p:txBody>
      </p:sp>
      <p:sp>
        <p:nvSpPr>
          <p:cNvPr id="4" name="Slide Number Placeholder 3"/>
          <p:cNvSpPr>
            <a:spLocks noGrp="1"/>
          </p:cNvSpPr>
          <p:nvPr>
            <p:ph type="sldNum" sz="quarter" idx="5"/>
          </p:nvPr>
        </p:nvSpPr>
        <p:spPr/>
        <p:txBody>
          <a:bodyPr/>
          <a:lstStyle/>
          <a:p>
            <a:fld id="{3887347A-0D7D-4292-9D57-289DE16A4CE5}" type="slidenum">
              <a:rPr lang="it-IT" smtClean="0"/>
              <a:t>12</a:t>
            </a:fld>
            <a:endParaRPr lang="it-IT"/>
          </a:p>
        </p:txBody>
      </p:sp>
    </p:spTree>
    <p:extLst>
      <p:ext uri="{BB962C8B-B14F-4D97-AF65-F5344CB8AC3E}">
        <p14:creationId xmlns:p14="http://schemas.microsoft.com/office/powerpoint/2010/main" val="3454013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These are the </a:t>
            </a:r>
            <a:r>
              <a:rPr lang="en-IT" b="1" dirty="0"/>
              <a:t>three </a:t>
            </a:r>
            <a:r>
              <a:rPr lang="en-IT" b="1"/>
              <a:t>ways our </a:t>
            </a:r>
            <a:r>
              <a:rPr lang="en-IT" b="1" dirty="0"/>
              <a:t>LLM-BRKGA generates candidate perturbations after the LLM has identified which patients should be reconsidered</a:t>
            </a:r>
            <a:r>
              <a:rPr lang="en-IT" dirty="0"/>
              <a:t>.</a:t>
            </a:r>
          </a:p>
          <a:p>
            <a:pPr marL="228600" indent="-228600">
              <a:buAutoNum type="arabicParenR"/>
            </a:pPr>
            <a:r>
              <a:rPr lang="en-IT" b="1" dirty="0"/>
              <a:t>Allele biasing</a:t>
            </a:r>
            <a:r>
              <a:rPr lang="en-IT" dirty="0"/>
              <a:t> — the key associated with the patient indicated by the LLM is included the first time with high value and second time with low value (2 new chromosomes generated)</a:t>
            </a:r>
          </a:p>
          <a:p>
            <a:pPr marL="228600" indent="-228600">
              <a:buAutoNum type="arabicParenR"/>
            </a:pPr>
            <a:r>
              <a:rPr lang="en-IT" b="1" dirty="0"/>
              <a:t>Randomization</a:t>
            </a:r>
            <a:r>
              <a:rPr lang="en-IT" dirty="0"/>
              <a:t> — instead of deliberately pushing the key high or low, give the selected patient's gene a </a:t>
            </a:r>
            <a:r>
              <a:rPr lang="en-IT" b="1" dirty="0"/>
              <a:t>new random value</a:t>
            </a:r>
            <a:r>
              <a:rPr lang="en-IT" dirty="0"/>
              <a:t>:</a:t>
            </a:r>
          </a:p>
          <a:p>
            <a:pPr marL="228600" indent="-228600">
              <a:buAutoNum type="arabicParenR"/>
            </a:pPr>
            <a:r>
              <a:rPr lang="en-IT" b="1" dirty="0"/>
              <a:t>Combinatorial variants</a:t>
            </a:r>
            <a:r>
              <a:rPr lang="en-IT" dirty="0"/>
              <a:t> — when the LLM identifies multiple patients, the algorithm generates </a:t>
            </a:r>
            <a:r>
              <a:rPr lang="en-IT" b="1" dirty="0"/>
              <a:t>different combinations of these perturbations</a:t>
            </a:r>
            <a:r>
              <a:rPr lang="en-IT" dirty="0"/>
              <a:t> rather than trying only one modification</a:t>
            </a:r>
          </a:p>
          <a:p>
            <a:pPr marL="228600" indent="-228600">
              <a:buAutoNum type="arabicParenR"/>
            </a:pPr>
            <a:endParaRPr lang="en-IT" dirty="0"/>
          </a:p>
          <a:p>
            <a:pPr marL="228600" indent="-228600">
              <a:buAutoNum type="arabicParenR"/>
            </a:pPr>
            <a:endParaRPr lang="en-IT" dirty="0"/>
          </a:p>
          <a:p>
            <a:pPr marL="0" indent="0">
              <a:buFontTx/>
              <a:buNone/>
            </a:pPr>
            <a:r>
              <a:rPr lang="en-IT" dirty="0"/>
              <a:t>Each generation uses one (Allele or Randomization). For example if LLM identifies P3 and P5, we use combinatorial variants (two new generation, first with allele high value for P3 and low for P5 and the second with low value for P3 and high for P5)</a:t>
            </a:r>
          </a:p>
        </p:txBody>
      </p:sp>
      <p:sp>
        <p:nvSpPr>
          <p:cNvPr id="4" name="Slide Number Placeholder 3"/>
          <p:cNvSpPr>
            <a:spLocks noGrp="1"/>
          </p:cNvSpPr>
          <p:nvPr>
            <p:ph type="sldNum" sz="quarter" idx="5"/>
          </p:nvPr>
        </p:nvSpPr>
        <p:spPr/>
        <p:txBody>
          <a:bodyPr/>
          <a:lstStyle/>
          <a:p>
            <a:fld id="{3887347A-0D7D-4292-9D57-289DE16A4CE5}" type="slidenum">
              <a:rPr lang="it-IT" smtClean="0"/>
              <a:t>13</a:t>
            </a:fld>
            <a:endParaRPr lang="it-IT"/>
          </a:p>
        </p:txBody>
      </p:sp>
    </p:spTree>
    <p:extLst>
      <p:ext uri="{BB962C8B-B14F-4D97-AF65-F5344CB8AC3E}">
        <p14:creationId xmlns:p14="http://schemas.microsoft.com/office/powerpoint/2010/main" val="3448256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b="0" dirty="0"/>
              <a:t>elite-group shaking is an additional mechanism introduced in the proposed LLM-BRKGA</a:t>
            </a:r>
            <a:br>
              <a:rPr lang="en-IT" b="0" dirty="0"/>
            </a:br>
            <a:br>
              <a:rPr lang="en-IT" b="0" dirty="0"/>
            </a:br>
            <a:r>
              <a:rPr lang="en-IT" b="0" dirty="0"/>
              <a:t>1) search stagnates: </a:t>
            </a:r>
            <a:r>
              <a:rPr lang="en-IT" dirty="0"/>
              <a:t>When the number of generations without improvement reaches the </a:t>
            </a:r>
            <a:r>
              <a:rPr lang="en-IT" sz="1200" kern="1200" dirty="0">
                <a:solidFill>
                  <a:schemeClr val="tx1"/>
                </a:solidFill>
                <a:latin typeface="+mn-lt"/>
                <a:ea typeface="+mn-ea"/>
                <a:cs typeface="+mn-cs"/>
              </a:rPr>
              <a:t>shaketrigger</a:t>
            </a:r>
            <a:r>
              <a:rPr lang="en-IT" dirty="0"/>
              <a:t> threshold, shaking is activated</a:t>
            </a:r>
            <a:br>
              <a:rPr lang="en-IT" dirty="0"/>
            </a:br>
            <a:r>
              <a:rPr lang="en-IT" dirty="0"/>
              <a:t>2) shake elite set: The </a:t>
            </a:r>
            <a:r>
              <a:rPr lang="en-IT" b="1" dirty="0"/>
              <a:t>elite set</a:t>
            </a:r>
            <a:r>
              <a:rPr lang="en-IT" dirty="0"/>
              <a:t> is the group of best chromosomes (best solutions) currently in the population. Instead of leaving all these good solutions unchanged, the shaking operator deliberately modifies a subset of them.</a:t>
            </a:r>
          </a:p>
          <a:p>
            <a:r>
              <a:rPr lang="en-IT" b="0" dirty="0"/>
              <a:t>3) reevalaute: </a:t>
            </a:r>
            <a:r>
              <a:rPr lang="en-IT" dirty="0"/>
              <a:t>After changing the chromosomes, they have to be </a:t>
            </a:r>
            <a:r>
              <a:rPr lang="en-IT" b="1" dirty="0"/>
              <a:t>decoded again into HHCRSP schedules and evaluated</a:t>
            </a:r>
            <a:r>
              <a:rPr lang="en-IT" dirty="0"/>
              <a:t> using the objective function</a:t>
            </a:r>
            <a:endParaRPr lang="en-IT" b="0" dirty="0"/>
          </a:p>
        </p:txBody>
      </p:sp>
      <p:sp>
        <p:nvSpPr>
          <p:cNvPr id="4" name="Slide Number Placeholder 3"/>
          <p:cNvSpPr>
            <a:spLocks noGrp="1"/>
          </p:cNvSpPr>
          <p:nvPr>
            <p:ph type="sldNum" sz="quarter" idx="5"/>
          </p:nvPr>
        </p:nvSpPr>
        <p:spPr/>
        <p:txBody>
          <a:bodyPr/>
          <a:lstStyle/>
          <a:p>
            <a:fld id="{3887347A-0D7D-4292-9D57-289DE16A4CE5}" type="slidenum">
              <a:rPr lang="it-IT" smtClean="0"/>
              <a:t>14</a:t>
            </a:fld>
            <a:endParaRPr lang="it-IT"/>
          </a:p>
        </p:txBody>
      </p:sp>
    </p:spTree>
    <p:extLst>
      <p:ext uri="{BB962C8B-B14F-4D97-AF65-F5344CB8AC3E}">
        <p14:creationId xmlns:p14="http://schemas.microsoft.com/office/powerpoint/2010/main" val="427257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GA = genetic algorithm</a:t>
            </a:r>
          </a:p>
        </p:txBody>
      </p:sp>
      <p:sp>
        <p:nvSpPr>
          <p:cNvPr id="4" name="Slide Number Placeholder 3"/>
          <p:cNvSpPr>
            <a:spLocks noGrp="1"/>
          </p:cNvSpPr>
          <p:nvPr>
            <p:ph type="sldNum" sz="quarter" idx="5"/>
          </p:nvPr>
        </p:nvSpPr>
        <p:spPr/>
        <p:txBody>
          <a:bodyPr/>
          <a:lstStyle/>
          <a:p>
            <a:fld id="{3887347A-0D7D-4292-9D57-289DE16A4CE5}" type="slidenum">
              <a:rPr lang="it-IT" smtClean="0"/>
              <a:t>15</a:t>
            </a:fld>
            <a:endParaRPr lang="it-IT"/>
          </a:p>
        </p:txBody>
      </p:sp>
    </p:spTree>
    <p:extLst>
      <p:ext uri="{BB962C8B-B14F-4D97-AF65-F5344CB8AC3E}">
        <p14:creationId xmlns:p14="http://schemas.microsoft.com/office/powerpoint/2010/main" val="2639475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766EE-8D45-AAFA-A01E-DF77FB4F58D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2D8B230-F16E-55E7-9135-476F1B9072F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01D4C6AC-9DA8-5CF9-ACCC-781246C1FCA9}"/>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EAD4340-14F8-5EE8-2C48-EEF28F93DB6B}"/>
              </a:ext>
            </a:extLst>
          </p:cNvPr>
          <p:cNvSpPr>
            <a:spLocks noGrp="1"/>
          </p:cNvSpPr>
          <p:nvPr>
            <p:ph type="sldNum" sz="quarter" idx="5"/>
          </p:nvPr>
        </p:nvSpPr>
        <p:spPr/>
        <p:txBody>
          <a:bodyPr/>
          <a:lstStyle/>
          <a:p>
            <a:fld id="{3887347A-0D7D-4292-9D57-289DE16A4CE5}" type="slidenum">
              <a:rPr lang="it-IT" smtClean="0"/>
              <a:t>16</a:t>
            </a:fld>
            <a:endParaRPr lang="it-IT"/>
          </a:p>
        </p:txBody>
      </p:sp>
    </p:spTree>
    <p:extLst>
      <p:ext uri="{BB962C8B-B14F-4D97-AF65-F5344CB8AC3E}">
        <p14:creationId xmlns:p14="http://schemas.microsoft.com/office/powerpoint/2010/main" val="1272410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54A73-D879-9C0F-5D8C-ACF770480DB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9BB0CE2-5BBF-B24B-6E8B-00CD0133875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3B26274-35B0-05DD-ED14-885E5FAE4A4F}"/>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8415119D-38F6-41D8-7CDF-A8F08A720E59}"/>
              </a:ext>
            </a:extLst>
          </p:cNvPr>
          <p:cNvSpPr>
            <a:spLocks noGrp="1"/>
          </p:cNvSpPr>
          <p:nvPr>
            <p:ph type="sldNum" sz="quarter" idx="5"/>
          </p:nvPr>
        </p:nvSpPr>
        <p:spPr/>
        <p:txBody>
          <a:bodyPr/>
          <a:lstStyle/>
          <a:p>
            <a:fld id="{3887347A-0D7D-4292-9D57-289DE16A4CE5}" type="slidenum">
              <a:rPr lang="it-IT" smtClean="0"/>
              <a:t>17</a:t>
            </a:fld>
            <a:endParaRPr lang="it-IT"/>
          </a:p>
        </p:txBody>
      </p:sp>
    </p:spTree>
    <p:extLst>
      <p:ext uri="{BB962C8B-B14F-4D97-AF65-F5344CB8AC3E}">
        <p14:creationId xmlns:p14="http://schemas.microsoft.com/office/powerpoint/2010/main" val="2397241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7ABCE-317B-CC64-6038-2D64E70803F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CE04B68-9775-8CEB-6FA6-DE6CB0482B9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255633E-D50C-988D-6781-A263D932F3CE}"/>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E83ABA88-3471-EA52-7C4D-326B50F1DD65}"/>
              </a:ext>
            </a:extLst>
          </p:cNvPr>
          <p:cNvSpPr>
            <a:spLocks noGrp="1"/>
          </p:cNvSpPr>
          <p:nvPr>
            <p:ph type="sldNum" sz="quarter" idx="5"/>
          </p:nvPr>
        </p:nvSpPr>
        <p:spPr/>
        <p:txBody>
          <a:bodyPr/>
          <a:lstStyle/>
          <a:p>
            <a:fld id="{3887347A-0D7D-4292-9D57-289DE16A4CE5}" type="slidenum">
              <a:rPr lang="it-IT" smtClean="0"/>
              <a:t>18</a:t>
            </a:fld>
            <a:endParaRPr lang="it-IT"/>
          </a:p>
        </p:txBody>
      </p:sp>
    </p:spTree>
    <p:extLst>
      <p:ext uri="{BB962C8B-B14F-4D97-AF65-F5344CB8AC3E}">
        <p14:creationId xmlns:p14="http://schemas.microsoft.com/office/powerpoint/2010/main" val="31844803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4 devices and 5 time units I need</a:t>
            </a:r>
          </a:p>
          <a:p>
            <a:r>
              <a:rPr lang="en-IT" dirty="0"/>
              <a:t>GOAL è trovare k* che è un vettore di 4 valori</a:t>
            </a:r>
          </a:p>
          <a:p>
            <a:r>
              <a:rPr lang="en-IT" dirty="0"/>
              <a:t>(1,2,3,4) esempio (primo device lo shifto di 1 unita a destra; secondo di 2 unità a dx, etc.) (posso avere 5 ma non da 6 in su per questo esempio)</a:t>
            </a:r>
          </a:p>
        </p:txBody>
      </p:sp>
      <p:sp>
        <p:nvSpPr>
          <p:cNvPr id="4" name="Slide Number Placeholder 3"/>
          <p:cNvSpPr>
            <a:spLocks noGrp="1"/>
          </p:cNvSpPr>
          <p:nvPr>
            <p:ph type="sldNum" sz="quarter" idx="5"/>
          </p:nvPr>
        </p:nvSpPr>
        <p:spPr/>
        <p:txBody>
          <a:bodyPr/>
          <a:lstStyle/>
          <a:p>
            <a:fld id="{3887347A-0D7D-4292-9D57-289DE16A4CE5}" type="slidenum">
              <a:rPr lang="it-IT" smtClean="0"/>
              <a:t>20</a:t>
            </a:fld>
            <a:endParaRPr lang="it-IT"/>
          </a:p>
        </p:txBody>
      </p:sp>
    </p:spTree>
    <p:extLst>
      <p:ext uri="{BB962C8B-B14F-4D97-AF65-F5344CB8AC3E}">
        <p14:creationId xmlns:p14="http://schemas.microsoft.com/office/powerpoint/2010/main" val="4036398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T^M sono tutte le possibili configurazioni</a:t>
            </a:r>
          </a:p>
          <a:p>
            <a:r>
              <a:rPr lang="en-IT" dirty="0"/>
              <a:t>L’Oracle marca gli stati inferiori alla soglia ma senza dirmi quali. Per sapere quali li misuro dopo averli amplificati.</a:t>
            </a:r>
          </a:p>
        </p:txBody>
      </p:sp>
      <p:sp>
        <p:nvSpPr>
          <p:cNvPr id="4" name="Slide Number Placeholder 3"/>
          <p:cNvSpPr>
            <a:spLocks noGrp="1"/>
          </p:cNvSpPr>
          <p:nvPr>
            <p:ph type="sldNum" sz="quarter" idx="5"/>
          </p:nvPr>
        </p:nvSpPr>
        <p:spPr/>
        <p:txBody>
          <a:bodyPr/>
          <a:lstStyle/>
          <a:p>
            <a:fld id="{3887347A-0D7D-4292-9D57-289DE16A4CE5}" type="slidenum">
              <a:rPr lang="it-IT" smtClean="0"/>
              <a:t>21</a:t>
            </a:fld>
            <a:endParaRPr lang="it-IT"/>
          </a:p>
        </p:txBody>
      </p:sp>
    </p:spTree>
    <p:extLst>
      <p:ext uri="{BB962C8B-B14F-4D97-AF65-F5344CB8AC3E}">
        <p14:creationId xmlns:p14="http://schemas.microsoft.com/office/powerpoint/2010/main" val="175876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Se abbiamo T=4 e M=5 servono 2 bit per ogni shift (i.e., per ogni device) quindi 10 qubits</a:t>
            </a:r>
          </a:p>
        </p:txBody>
      </p:sp>
      <p:sp>
        <p:nvSpPr>
          <p:cNvPr id="4" name="Slide Number Placeholder 3"/>
          <p:cNvSpPr>
            <a:spLocks noGrp="1"/>
          </p:cNvSpPr>
          <p:nvPr>
            <p:ph type="sldNum" sz="quarter" idx="5"/>
          </p:nvPr>
        </p:nvSpPr>
        <p:spPr/>
        <p:txBody>
          <a:bodyPr/>
          <a:lstStyle/>
          <a:p>
            <a:fld id="{3887347A-0D7D-4292-9D57-289DE16A4CE5}" type="slidenum">
              <a:rPr lang="it-IT" smtClean="0"/>
              <a:t>22</a:t>
            </a:fld>
            <a:endParaRPr lang="it-IT"/>
          </a:p>
        </p:txBody>
      </p:sp>
    </p:spTree>
    <p:extLst>
      <p:ext uri="{BB962C8B-B14F-4D97-AF65-F5344CB8AC3E}">
        <p14:creationId xmlns:p14="http://schemas.microsoft.com/office/powerpoint/2010/main" val="2761938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3887347A-0D7D-4292-9D57-289DE16A4CE5}" type="slidenum">
              <a:rPr lang="it-IT" smtClean="0"/>
              <a:t>24</a:t>
            </a:fld>
            <a:endParaRPr lang="it-IT"/>
          </a:p>
        </p:txBody>
      </p:sp>
    </p:spTree>
    <p:extLst>
      <p:ext uri="{BB962C8B-B14F-4D97-AF65-F5344CB8AC3E}">
        <p14:creationId xmlns:p14="http://schemas.microsoft.com/office/powerpoint/2010/main" val="23638034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F46AB-2E90-CA65-1132-1D6EB33EB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FCC0A-6E95-F5BD-9E18-58EFB6C1F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D3FE8-0FA7-8A4E-0158-4A395DAAA045}"/>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74BB6449-C892-E12E-D701-5D94F5502C44}"/>
              </a:ext>
            </a:extLst>
          </p:cNvPr>
          <p:cNvSpPr>
            <a:spLocks noGrp="1"/>
          </p:cNvSpPr>
          <p:nvPr>
            <p:ph type="sldNum" sz="quarter" idx="5"/>
          </p:nvPr>
        </p:nvSpPr>
        <p:spPr/>
        <p:txBody>
          <a:bodyPr/>
          <a:lstStyle/>
          <a:p>
            <a:fld id="{3887347A-0D7D-4292-9D57-289DE16A4CE5}" type="slidenum">
              <a:rPr lang="it-IT" smtClean="0"/>
              <a:t>25</a:t>
            </a:fld>
            <a:endParaRPr lang="it-IT"/>
          </a:p>
        </p:txBody>
      </p:sp>
    </p:spTree>
    <p:extLst>
      <p:ext uri="{BB962C8B-B14F-4D97-AF65-F5344CB8AC3E}">
        <p14:creationId xmlns:p14="http://schemas.microsoft.com/office/powerpoint/2010/main" val="472872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The classical exhaustive algorithm, on the other hand, evaluates approximately T^M</a:t>
            </a:r>
          </a:p>
          <a:p>
            <a:r>
              <a:rPr lang="en-IT" dirty="0"/>
              <a:t>An idealized Grover search for an improving configuration needs on the order of O(T^M/2)</a:t>
            </a:r>
          </a:p>
        </p:txBody>
      </p:sp>
      <p:sp>
        <p:nvSpPr>
          <p:cNvPr id="4" name="Slide Number Placeholder 3"/>
          <p:cNvSpPr>
            <a:spLocks noGrp="1"/>
          </p:cNvSpPr>
          <p:nvPr>
            <p:ph type="sldNum" sz="quarter" idx="5"/>
          </p:nvPr>
        </p:nvSpPr>
        <p:spPr/>
        <p:txBody>
          <a:bodyPr/>
          <a:lstStyle/>
          <a:p>
            <a:fld id="{3887347A-0D7D-4292-9D57-289DE16A4CE5}" type="slidenum">
              <a:rPr lang="it-IT" smtClean="0"/>
              <a:t>27</a:t>
            </a:fld>
            <a:endParaRPr lang="it-IT"/>
          </a:p>
        </p:txBody>
      </p:sp>
    </p:spTree>
    <p:extLst>
      <p:ext uri="{BB962C8B-B14F-4D97-AF65-F5344CB8AC3E}">
        <p14:creationId xmlns:p14="http://schemas.microsoft.com/office/powerpoint/2010/main" val="2137828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9/10/26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2" name="Title 1"/>
          <p:cNvSpPr>
            <a:spLocks noGrp="1"/>
          </p:cNvSpPr>
          <p:nvPr>
            <p:ph type="title"/>
          </p:nvPr>
        </p:nvSpPr>
        <p:spPr>
          <a:xfrm>
            <a:off x="581192" y="702156"/>
            <a:ext cx="11029616" cy="1013800"/>
          </a:xfrm>
        </p:spPr>
        <p:txBody>
          <a:bodyPr/>
          <a:lstStyle/>
          <a:p>
            <a:r>
              <a:rPr lang="it-IT"/>
              <a:t>Fare clic per modificare lo stile del titolo dello schema</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9/10/26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it-IT"/>
              <a:t>Fare clic per modificare lo stile del titolo dello schema</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it-IT"/>
              <a:t>Fare clic per modificare lo stile del titolo dello schema</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B61BEF0D-F0BB-DE4B-95CE-6DB70DBA9567}" type="datetimeFigureOut">
              <a:rPr lang="en-US" dirty="0"/>
              <a:pPr/>
              <a:t>9/10/26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9/10/26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9/10/26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diego.reforgiato@unica.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org&amp;utm_campaign=index&amp;utm_content=origi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B369A81-9E15-4957-AD6B-3A86B37A8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6134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49558ED-B147-4C90-BB06-CB3978D515C5}"/>
              </a:ext>
            </a:extLst>
          </p:cNvPr>
          <p:cNvSpPr>
            <a:spLocks noGrp="1"/>
          </p:cNvSpPr>
          <p:nvPr>
            <p:ph type="ctrTitle"/>
          </p:nvPr>
        </p:nvSpPr>
        <p:spPr>
          <a:xfrm>
            <a:off x="4145802" y="1665421"/>
            <a:ext cx="7896382" cy="1066801"/>
          </a:xfrm>
        </p:spPr>
        <p:txBody>
          <a:bodyPr vert="horz" lIns="91440" tIns="45720" rIns="91440" bIns="45720" rtlCol="0" anchor="b">
            <a:normAutofit fontScale="90000"/>
          </a:bodyPr>
          <a:lstStyle/>
          <a:p>
            <a:r>
              <a:rPr lang="en-US" dirty="0"/>
              <a:t>From Healthcare to Smart Grids: Exploring Optimization Problems and Quantum Solutions</a:t>
            </a:r>
          </a:p>
        </p:txBody>
      </p:sp>
      <p:sp>
        <p:nvSpPr>
          <p:cNvPr id="9" name="CasellaDiTesto 8">
            <a:extLst>
              <a:ext uri="{FF2B5EF4-FFF2-40B4-BE49-F238E27FC236}">
                <a16:creationId xmlns:a16="http://schemas.microsoft.com/office/drawing/2014/main" id="{DAD98CF6-C11C-FB5A-B8C4-7AB91EA1EE3F}"/>
              </a:ext>
            </a:extLst>
          </p:cNvPr>
          <p:cNvSpPr txBox="1"/>
          <p:nvPr/>
        </p:nvSpPr>
        <p:spPr>
          <a:xfrm>
            <a:off x="3735093" y="4969410"/>
            <a:ext cx="5796366" cy="156966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dk1"/>
              </a:buClr>
              <a:buSzPts val="2800"/>
            </a:pPr>
            <a:r>
              <a:rPr lang="it-IT" sz="2000" b="1" dirty="0">
                <a:solidFill>
                  <a:schemeClr val="dk1"/>
                </a:solidFill>
                <a:latin typeface="+mn-lt"/>
                <a:ea typeface="Hind Vadodara Light"/>
                <a:cs typeface="Hind Vadodara Light"/>
                <a:sym typeface="Hind Vadodara Light"/>
              </a:rPr>
              <a:t>Diego </a:t>
            </a:r>
            <a:r>
              <a:rPr lang="it-IT" sz="2000" b="1" dirty="0" err="1">
                <a:solidFill>
                  <a:schemeClr val="dk1"/>
                </a:solidFill>
                <a:latin typeface="+mn-lt"/>
                <a:ea typeface="Hind Vadodara Light"/>
                <a:cs typeface="Hind Vadodara Light"/>
                <a:sym typeface="Hind Vadodara Light"/>
              </a:rPr>
              <a:t>Reforgiato</a:t>
            </a:r>
            <a:r>
              <a:rPr lang="it-IT" sz="2000" b="1" dirty="0">
                <a:solidFill>
                  <a:schemeClr val="dk1"/>
                </a:solidFill>
                <a:latin typeface="+mn-lt"/>
                <a:ea typeface="Hind Vadodara Light"/>
                <a:cs typeface="Hind Vadodara Light"/>
                <a:sym typeface="Hind Vadodara Light"/>
              </a:rPr>
              <a:t> Recupero </a:t>
            </a:r>
          </a:p>
          <a:p>
            <a:pPr algn="ctr">
              <a:buClr>
                <a:schemeClr val="dk1"/>
              </a:buClr>
              <a:buSzPts val="2800"/>
            </a:pPr>
            <a:r>
              <a:rPr lang="it-IT" sz="2000" i="1" dirty="0">
                <a:solidFill>
                  <a:schemeClr val="dk1"/>
                </a:solidFill>
                <a:latin typeface="+mn-lt"/>
                <a:ea typeface="Hind Vadodara Light"/>
                <a:cs typeface="Hind Vadodara Light"/>
                <a:sym typeface="Hind Vadodara Light"/>
              </a:rPr>
              <a:t>Department of </a:t>
            </a:r>
            <a:r>
              <a:rPr lang="it-IT" sz="2000" i="1" dirty="0" err="1">
                <a:solidFill>
                  <a:schemeClr val="dk1"/>
                </a:solidFill>
                <a:latin typeface="+mn-lt"/>
                <a:ea typeface="Hind Vadodara Light"/>
                <a:cs typeface="Hind Vadodara Light"/>
                <a:sym typeface="Hind Vadodara Light"/>
              </a:rPr>
              <a:t>Mathematics</a:t>
            </a:r>
            <a:r>
              <a:rPr lang="it-IT" sz="2000" i="1" dirty="0">
                <a:solidFill>
                  <a:schemeClr val="dk1"/>
                </a:solidFill>
                <a:latin typeface="+mn-lt"/>
                <a:ea typeface="Hind Vadodara Light"/>
                <a:cs typeface="Hind Vadodara Light"/>
                <a:sym typeface="Hind Vadodara Light"/>
              </a:rPr>
              <a:t> and Computer Science</a:t>
            </a:r>
            <a:r>
              <a:rPr lang="it-IT" sz="2000" dirty="0">
                <a:solidFill>
                  <a:schemeClr val="dk1"/>
                </a:solidFill>
                <a:latin typeface="+mn-lt"/>
                <a:ea typeface="Hind Vadodara Light"/>
                <a:cs typeface="Hind Vadodara Light"/>
                <a:sym typeface="Hind Vadodara Light"/>
              </a:rPr>
              <a:t>, University of Cagliari</a:t>
            </a:r>
          </a:p>
          <a:p>
            <a:pPr algn="ctr">
              <a:buClr>
                <a:schemeClr val="dk1"/>
              </a:buClr>
              <a:buSzPts val="2800"/>
            </a:pPr>
            <a:r>
              <a:rPr lang="it-IT" sz="2000" dirty="0">
                <a:solidFill>
                  <a:schemeClr val="dk1"/>
                </a:solidFill>
                <a:latin typeface="+mn-lt"/>
                <a:ea typeface="Hind Vadodara Light"/>
                <a:cs typeface="Hind Vadodara Light"/>
                <a:sym typeface="Hind Vadodara Light"/>
              </a:rPr>
              <a:t>Cagliari, </a:t>
            </a:r>
            <a:r>
              <a:rPr lang="it-IT" sz="2000" dirty="0" err="1">
                <a:solidFill>
                  <a:schemeClr val="dk1"/>
                </a:solidFill>
                <a:latin typeface="+mn-lt"/>
                <a:ea typeface="Hind Vadodara Light"/>
                <a:cs typeface="Hind Vadodara Light"/>
                <a:sym typeface="Hind Vadodara Light"/>
              </a:rPr>
              <a:t>Italy</a:t>
            </a:r>
            <a:r>
              <a:rPr lang="it-IT" sz="2000" dirty="0">
                <a:solidFill>
                  <a:schemeClr val="dk1"/>
                </a:solidFill>
                <a:latin typeface="+mn-lt"/>
                <a:ea typeface="Hind Vadodara Light"/>
                <a:cs typeface="Hind Vadodara Light"/>
                <a:sym typeface="Hind Vadodara Light"/>
              </a:rPr>
              <a:t> </a:t>
            </a:r>
            <a:endParaRPr lang="it-IT" sz="1467" dirty="0">
              <a:solidFill>
                <a:schemeClr val="dk1"/>
              </a:solidFill>
              <a:latin typeface="+mn-lt"/>
              <a:ea typeface="Hind Vadodara Light"/>
              <a:cs typeface="Hind Vadodara Light"/>
              <a:sym typeface="Hind Vadodara Light"/>
            </a:endParaRPr>
          </a:p>
          <a:p>
            <a:pPr algn="ctr">
              <a:buClr>
                <a:schemeClr val="dk1"/>
              </a:buClr>
              <a:buSzPts val="2800"/>
            </a:pPr>
            <a:r>
              <a:rPr lang="it-IT" sz="1600" dirty="0">
                <a:solidFill>
                  <a:schemeClr val="dk1"/>
                </a:solidFill>
                <a:latin typeface="+mn-lt"/>
                <a:ea typeface="Hind Vadodara Light"/>
                <a:cs typeface="Hind Vadodara Light"/>
                <a:sym typeface="Hind Vadodara Light"/>
                <a:hlinkClick r:id="rId3"/>
              </a:rPr>
              <a:t>diego.reforgiato@unica.it</a:t>
            </a:r>
            <a:r>
              <a:rPr lang="it-IT" sz="1600" dirty="0">
                <a:solidFill>
                  <a:schemeClr val="dk1"/>
                </a:solidFill>
                <a:latin typeface="+mn-lt"/>
                <a:ea typeface="Hind Vadodara Light"/>
                <a:cs typeface="Hind Vadodara Light"/>
                <a:sym typeface="Hind Vadodara Light"/>
              </a:rPr>
              <a:t> </a:t>
            </a:r>
          </a:p>
        </p:txBody>
      </p:sp>
      <p:pic>
        <p:nvPicPr>
          <p:cNvPr id="10" name="Immagine 9">
            <a:extLst>
              <a:ext uri="{FF2B5EF4-FFF2-40B4-BE49-F238E27FC236}">
                <a16:creationId xmlns:a16="http://schemas.microsoft.com/office/drawing/2014/main" id="{FBFF6C0B-8E8A-79BC-A0ED-A68174DCC103}"/>
              </a:ext>
            </a:extLst>
          </p:cNvPr>
          <p:cNvPicPr>
            <a:picLocks noChangeAspect="1"/>
          </p:cNvPicPr>
          <p:nvPr/>
        </p:nvPicPr>
        <p:blipFill>
          <a:blip r:embed="rId4"/>
          <a:srcRect/>
          <a:stretch/>
        </p:blipFill>
        <p:spPr>
          <a:xfrm>
            <a:off x="5536982" y="2789419"/>
            <a:ext cx="2192588" cy="2122794"/>
          </a:xfrm>
          <a:prstGeom prst="rect">
            <a:avLst/>
          </a:prstGeom>
        </p:spPr>
      </p:pic>
      <p:pic>
        <p:nvPicPr>
          <p:cNvPr id="4" name="Picture 3">
            <a:extLst>
              <a:ext uri="{FF2B5EF4-FFF2-40B4-BE49-F238E27FC236}">
                <a16:creationId xmlns:a16="http://schemas.microsoft.com/office/drawing/2014/main" id="{5BEF5D35-02F4-4011-9C51-2B5EE42F58FE}"/>
              </a:ext>
            </a:extLst>
          </p:cNvPr>
          <p:cNvPicPr>
            <a:picLocks noChangeAspect="1"/>
          </p:cNvPicPr>
          <p:nvPr/>
        </p:nvPicPr>
        <p:blipFill>
          <a:blip r:embed="rId5"/>
          <a:stretch>
            <a:fillRect/>
          </a:stretch>
        </p:blipFill>
        <p:spPr>
          <a:xfrm>
            <a:off x="455504" y="928820"/>
            <a:ext cx="3279589" cy="3279589"/>
          </a:xfrm>
          <a:prstGeom prst="rect">
            <a:avLst/>
          </a:prstGeom>
        </p:spPr>
      </p:pic>
    </p:spTree>
    <p:extLst>
      <p:ext uri="{BB962C8B-B14F-4D97-AF65-F5344CB8AC3E}">
        <p14:creationId xmlns:p14="http://schemas.microsoft.com/office/powerpoint/2010/main" val="1781157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9701D-AFCA-5E27-A910-D1FC55187BE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FCA7D4C-27C3-7CB7-D9CA-DF149D8F96B9}"/>
              </a:ext>
            </a:extLst>
          </p:cNvPr>
          <p:cNvPicPr>
            <a:picLocks noChangeAspect="1"/>
          </p:cNvPicPr>
          <p:nvPr/>
        </p:nvPicPr>
        <p:blipFill>
          <a:blip r:embed="rId3"/>
          <a:stretch>
            <a:fillRect/>
          </a:stretch>
        </p:blipFill>
        <p:spPr>
          <a:xfrm>
            <a:off x="8296833" y="658907"/>
            <a:ext cx="3890671" cy="3113646"/>
          </a:xfrm>
          <a:prstGeom prst="rect">
            <a:avLst/>
          </a:prstGeom>
        </p:spPr>
      </p:pic>
      <p:sp>
        <p:nvSpPr>
          <p:cNvPr id="3" name="CasellaDiTesto 2">
            <a:extLst>
              <a:ext uri="{FF2B5EF4-FFF2-40B4-BE49-F238E27FC236}">
                <a16:creationId xmlns:a16="http://schemas.microsoft.com/office/drawing/2014/main" id="{FCF84A69-6D10-BF5C-C125-216C0DB241C2}"/>
              </a:ext>
            </a:extLst>
          </p:cNvPr>
          <p:cNvSpPr txBox="1"/>
          <p:nvPr/>
        </p:nvSpPr>
        <p:spPr>
          <a:xfrm>
            <a:off x="243643" y="1199979"/>
            <a:ext cx="11453248" cy="5509200"/>
          </a:xfrm>
          <a:prstGeom prst="rect">
            <a:avLst/>
          </a:prstGeom>
          <a:noFill/>
        </p:spPr>
        <p:txBody>
          <a:bodyPr wrap="square" rtlCol="0">
            <a:spAutoFit/>
          </a:bodyPr>
          <a:lstStyle/>
          <a:p>
            <a:pPr marL="342900" indent="-342900">
              <a:buFontTx/>
              <a:buChar char="-"/>
            </a:pPr>
            <a:r>
              <a:rPr lang="en-US" b="1" dirty="0">
                <a:solidFill>
                  <a:srgbClr val="1A3260"/>
                </a:solidFill>
              </a:rPr>
              <a:t>Collaboration Agreement n. 36805 between JRC and UNICA </a:t>
            </a:r>
          </a:p>
          <a:p>
            <a:r>
              <a:rPr lang="en-US" b="1" dirty="0">
                <a:solidFill>
                  <a:srgbClr val="1A3260"/>
                </a:solidFill>
              </a:rPr>
              <a:t>from 19/12/2023 to 19/12/2026</a:t>
            </a:r>
          </a:p>
          <a:p>
            <a:pPr marL="342900" indent="-342900">
              <a:buFontTx/>
              <a:buChar char="-"/>
            </a:pPr>
            <a:endParaRPr lang="en-US" sz="2000" dirty="0">
              <a:solidFill>
                <a:srgbClr val="1A3260"/>
              </a:solidFill>
            </a:endParaRPr>
          </a:p>
          <a:p>
            <a:r>
              <a:rPr lang="en-US" sz="2000" b="1" dirty="0">
                <a:solidFill>
                  <a:srgbClr val="1A3260"/>
                </a:solidFill>
              </a:rPr>
              <a:t>	</a:t>
            </a:r>
          </a:p>
          <a:p>
            <a:endParaRPr lang="en-US" sz="2000" b="1" dirty="0">
              <a:solidFill>
                <a:srgbClr val="1A3260"/>
              </a:solidFill>
            </a:endParaRPr>
          </a:p>
          <a:p>
            <a:endParaRPr lang="en-US" sz="2000" b="1" dirty="0">
              <a:solidFill>
                <a:srgbClr val="1A3260"/>
              </a:solidFill>
            </a:endParaRPr>
          </a:p>
          <a:p>
            <a:r>
              <a:rPr lang="en-US" sz="2000" b="1" dirty="0">
                <a:solidFill>
                  <a:srgbClr val="1A3260"/>
                </a:solidFill>
              </a:rPr>
              <a:t>Latest Collaborative Works in 2026:</a:t>
            </a:r>
          </a:p>
          <a:p>
            <a:r>
              <a:rPr lang="en-US" i="1" dirty="0">
                <a:solidFill>
                  <a:srgbClr val="1A3260"/>
                </a:solidFill>
              </a:rPr>
              <a:t>- Beyond classical models: LLM-driven survival analysis for breast cancer prognosis using European cancer registry data. Sergio Consoli, Dimitris </a:t>
            </a:r>
            <a:r>
              <a:rPr lang="en-US" i="1" dirty="0" err="1">
                <a:solidFill>
                  <a:srgbClr val="1A3260"/>
                </a:solidFill>
              </a:rPr>
              <a:t>Katsimpokis</a:t>
            </a:r>
            <a:r>
              <a:rPr lang="en-US" i="1" dirty="0">
                <a:solidFill>
                  <a:srgbClr val="1A3260"/>
                </a:solidFill>
              </a:rPr>
              <a:t>, Antonello Meloni, Diego </a:t>
            </a:r>
            <a:r>
              <a:rPr lang="en-US" i="1" dirty="0" err="1">
                <a:solidFill>
                  <a:srgbClr val="1A3260"/>
                </a:solidFill>
              </a:rPr>
              <a:t>Reforgiato</a:t>
            </a:r>
            <a:r>
              <a:rPr lang="en-US" i="1" dirty="0">
                <a:solidFill>
                  <a:srgbClr val="1A3260"/>
                </a:solidFill>
              </a:rPr>
              <a:t> Recupero and Matthijs </a:t>
            </a:r>
            <a:r>
              <a:rPr lang="en-US" i="1" dirty="0" err="1">
                <a:solidFill>
                  <a:srgbClr val="1A3260"/>
                </a:solidFill>
              </a:rPr>
              <a:t>Sloep</a:t>
            </a:r>
            <a:r>
              <a:rPr lang="en-US" i="1" dirty="0">
                <a:solidFill>
                  <a:srgbClr val="1A3260"/>
                </a:solidFill>
              </a:rPr>
              <a:t>. BMC Medical Informatics and Decision Making 26, 321 (2026). https://</a:t>
            </a:r>
            <a:r>
              <a:rPr lang="en-US" i="1" dirty="0" err="1">
                <a:solidFill>
                  <a:srgbClr val="1A3260"/>
                </a:solidFill>
              </a:rPr>
              <a:t>doi.org</a:t>
            </a:r>
            <a:r>
              <a:rPr lang="en-US" i="1" dirty="0">
                <a:solidFill>
                  <a:srgbClr val="1A3260"/>
                </a:solidFill>
              </a:rPr>
              <a:t>/10.1186/s12911-026-03619-6</a:t>
            </a:r>
          </a:p>
          <a:p>
            <a:r>
              <a:rPr lang="en-US" i="1" dirty="0">
                <a:solidFill>
                  <a:srgbClr val="1A3260"/>
                </a:solidFill>
                <a:highlight>
                  <a:srgbClr val="00FFFF"/>
                </a:highlight>
              </a:rPr>
              <a:t>- LLM-Guided Genetic Search for the Home Healthcare Routing and Scheduling Problem. Roberta </a:t>
            </a:r>
            <a:r>
              <a:rPr lang="en-US" i="1" dirty="0" err="1">
                <a:solidFill>
                  <a:srgbClr val="1A3260"/>
                </a:solidFill>
                <a:highlight>
                  <a:srgbClr val="00FFFF"/>
                </a:highlight>
              </a:rPr>
              <a:t>Angioni</a:t>
            </a:r>
            <a:r>
              <a:rPr lang="en-US" i="1" dirty="0">
                <a:solidFill>
                  <a:srgbClr val="1A3260"/>
                </a:solidFill>
                <a:highlight>
                  <a:srgbClr val="00FFFF"/>
                </a:highlight>
              </a:rPr>
              <a:t>, Sergio Consoli, Silvia Maria Massa, Diego </a:t>
            </a:r>
            <a:r>
              <a:rPr lang="en-US" i="1" dirty="0" err="1">
                <a:solidFill>
                  <a:srgbClr val="1A3260"/>
                </a:solidFill>
                <a:highlight>
                  <a:srgbClr val="00FFFF"/>
                </a:highlight>
              </a:rPr>
              <a:t>Reforgiato</a:t>
            </a:r>
            <a:r>
              <a:rPr lang="en-US" i="1" dirty="0">
                <a:solidFill>
                  <a:srgbClr val="1A3260"/>
                </a:solidFill>
                <a:highlight>
                  <a:srgbClr val="00FFFF"/>
                </a:highlight>
              </a:rPr>
              <a:t> Recupero, Daniele Riboni. Accepted to </a:t>
            </a:r>
            <a:r>
              <a:rPr lang="en-US" i="1" dirty="0" err="1">
                <a:solidFill>
                  <a:srgbClr val="1A3260"/>
                </a:solidFill>
                <a:highlight>
                  <a:srgbClr val="00FFFF"/>
                </a:highlight>
              </a:rPr>
              <a:t>ACMGoodIT</a:t>
            </a:r>
            <a:r>
              <a:rPr lang="en-US" i="1" dirty="0">
                <a:solidFill>
                  <a:srgbClr val="1A3260"/>
                </a:solidFill>
                <a:highlight>
                  <a:srgbClr val="00FFFF"/>
                </a:highlight>
              </a:rPr>
              <a:t> 2026</a:t>
            </a:r>
          </a:p>
          <a:p>
            <a:r>
              <a:rPr lang="en-US" i="1" dirty="0">
                <a:solidFill>
                  <a:srgbClr val="1A3260"/>
                </a:solidFill>
              </a:rPr>
              <a:t>- Evaluating Knowledge Graph-Grounded Retrieval-Augmented Generation for Biomedical Question Answering: A Preliminary Analysis. Roberta </a:t>
            </a:r>
            <a:r>
              <a:rPr lang="en-US" i="1" dirty="0" err="1">
                <a:solidFill>
                  <a:srgbClr val="1A3260"/>
                </a:solidFill>
              </a:rPr>
              <a:t>Angioni</a:t>
            </a:r>
            <a:r>
              <a:rPr lang="en-US" i="1" dirty="0">
                <a:solidFill>
                  <a:srgbClr val="1A3260"/>
                </a:solidFill>
              </a:rPr>
              <a:t>, Sergio Consoli, Silvia M. Massa, Daniele Riboni and Diego </a:t>
            </a:r>
            <a:r>
              <a:rPr lang="en-US" i="1" dirty="0" err="1">
                <a:solidFill>
                  <a:srgbClr val="1A3260"/>
                </a:solidFill>
              </a:rPr>
              <a:t>Reforgiato</a:t>
            </a:r>
            <a:r>
              <a:rPr lang="en-US" i="1" dirty="0">
                <a:solidFill>
                  <a:srgbClr val="1A3260"/>
                </a:solidFill>
              </a:rPr>
              <a:t> Recupero, accepted to RAGE-KG 2026 (ISWC 2026)</a:t>
            </a:r>
          </a:p>
          <a:p>
            <a:r>
              <a:rPr lang="en-US" i="1" dirty="0">
                <a:solidFill>
                  <a:srgbClr val="1A3260"/>
                </a:solidFill>
              </a:rPr>
              <a:t>- </a:t>
            </a:r>
            <a:r>
              <a:rPr lang="en-US" i="1" dirty="0" err="1">
                <a:solidFill>
                  <a:srgbClr val="1A3260"/>
                </a:solidFill>
              </a:rPr>
              <a:t>BioKG</a:t>
            </a:r>
            <a:r>
              <a:rPr lang="en-US" i="1" dirty="0">
                <a:solidFill>
                  <a:srgbClr val="1A3260"/>
                </a:solidFill>
              </a:rPr>
              <a:t>-RAG: Integrating Biomedical Ontologies for Knowledge-Grounded Retrieval-Augmented Generation. Sergio Consoli, Lorenzo Bertolini, Roberta </a:t>
            </a:r>
            <a:r>
              <a:rPr lang="en-US" i="1" dirty="0" err="1">
                <a:solidFill>
                  <a:srgbClr val="1A3260"/>
                </a:solidFill>
              </a:rPr>
              <a:t>Angioni</a:t>
            </a:r>
            <a:r>
              <a:rPr lang="en-US" i="1" dirty="0">
                <a:solidFill>
                  <a:srgbClr val="1A3260"/>
                </a:solidFill>
              </a:rPr>
              <a:t>, Silvia M. Massa, Daniele Riboni and Diego </a:t>
            </a:r>
            <a:r>
              <a:rPr lang="en-US" i="1" dirty="0" err="1">
                <a:solidFill>
                  <a:srgbClr val="1A3260"/>
                </a:solidFill>
              </a:rPr>
              <a:t>Reforgiato</a:t>
            </a:r>
            <a:r>
              <a:rPr lang="en-US" i="1" dirty="0">
                <a:solidFill>
                  <a:srgbClr val="1A3260"/>
                </a:solidFill>
              </a:rPr>
              <a:t> Recupero, accepted as demo paper to ISWC 2026</a:t>
            </a:r>
          </a:p>
          <a:p>
            <a:r>
              <a:rPr lang="en-US" i="1" dirty="0">
                <a:solidFill>
                  <a:srgbClr val="1A3260"/>
                </a:solidFill>
              </a:rPr>
              <a:t>- Toward Safe Healthcare LLMs: Alignment Faking, Introspection, and Control.  Antonello Meloni, Antonio Puertas-Gallardo, Sergio Consoli, Lorenzo Bertolini, Mario Ceresa and Diego </a:t>
            </a:r>
            <a:r>
              <a:rPr lang="en-US" i="1" dirty="0" err="1">
                <a:solidFill>
                  <a:srgbClr val="1A3260"/>
                </a:solidFill>
              </a:rPr>
              <a:t>Reforgiato</a:t>
            </a:r>
            <a:r>
              <a:rPr lang="en-US" i="1" dirty="0">
                <a:solidFill>
                  <a:srgbClr val="1A3260"/>
                </a:solidFill>
              </a:rPr>
              <a:t> Recupero. Accepted to ELMKE 2026 (ISWC 2026)</a:t>
            </a:r>
          </a:p>
        </p:txBody>
      </p:sp>
      <p:sp>
        <p:nvSpPr>
          <p:cNvPr id="2" name="CasellaDiTesto 1">
            <a:extLst>
              <a:ext uri="{FF2B5EF4-FFF2-40B4-BE49-F238E27FC236}">
                <a16:creationId xmlns:a16="http://schemas.microsoft.com/office/drawing/2014/main" id="{720A6BDA-78FC-C100-3CD3-D48CB0B3911A}"/>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Collaboration Agreement</a:t>
            </a:r>
          </a:p>
        </p:txBody>
      </p:sp>
    </p:spTree>
    <p:extLst>
      <p:ext uri="{BB962C8B-B14F-4D97-AF65-F5344CB8AC3E}">
        <p14:creationId xmlns:p14="http://schemas.microsoft.com/office/powerpoint/2010/main" val="123164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F72CE-63EA-2543-47E5-501490F79709}"/>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9E497AC3-36C6-DC9A-3C04-96FBB8A68075}"/>
              </a:ext>
            </a:extLst>
          </p:cNvPr>
          <p:cNvSpPr txBox="1"/>
          <p:nvPr/>
        </p:nvSpPr>
        <p:spPr>
          <a:xfrm>
            <a:off x="689821" y="565749"/>
            <a:ext cx="10880202" cy="707886"/>
          </a:xfrm>
          <a:prstGeom prst="rect">
            <a:avLst/>
          </a:prstGeom>
          <a:noFill/>
        </p:spPr>
        <p:txBody>
          <a:bodyPr wrap="square" rtlCol="0">
            <a:spAutoFit/>
          </a:bodyPr>
          <a:lstStyle/>
          <a:p>
            <a:pPr algn="ctr"/>
            <a:r>
              <a:rPr lang="it-IT" sz="4000" b="1" dirty="0" err="1">
                <a:solidFill>
                  <a:srgbClr val="4590B8"/>
                </a:solidFill>
              </a:rPr>
              <a:t>Outline</a:t>
            </a:r>
            <a:endParaRPr lang="it-IT" sz="4000" b="1" dirty="0">
              <a:solidFill>
                <a:srgbClr val="4590B8"/>
              </a:solidFill>
            </a:endParaRPr>
          </a:p>
        </p:txBody>
      </p:sp>
      <p:sp>
        <p:nvSpPr>
          <p:cNvPr id="3" name="CasellaDiTesto 2">
            <a:extLst>
              <a:ext uri="{FF2B5EF4-FFF2-40B4-BE49-F238E27FC236}">
                <a16:creationId xmlns:a16="http://schemas.microsoft.com/office/drawing/2014/main" id="{2CB9C033-3D58-C7FE-BDE5-4A1B7DE37B19}"/>
              </a:ext>
            </a:extLst>
          </p:cNvPr>
          <p:cNvSpPr txBox="1"/>
          <p:nvPr/>
        </p:nvSpPr>
        <p:spPr>
          <a:xfrm>
            <a:off x="418454" y="1321002"/>
            <a:ext cx="11453248" cy="3323987"/>
          </a:xfrm>
          <a:prstGeom prst="rect">
            <a:avLst/>
          </a:prstGeom>
          <a:noFill/>
        </p:spPr>
        <p:txBody>
          <a:bodyPr wrap="square" rtlCol="0">
            <a:spAutoFit/>
          </a:bodyPr>
          <a:lstStyle/>
          <a:p>
            <a:pPr marL="342900" indent="-342900">
              <a:buFontTx/>
              <a:buChar char="-"/>
            </a:pPr>
            <a:r>
              <a:rPr lang="en-US" sz="3000" dirty="0">
                <a:solidFill>
                  <a:srgbClr val="1A3260"/>
                </a:solidFill>
              </a:rPr>
              <a:t>Home Care Routing and Scheduling Problem (HHCRSP)</a:t>
            </a:r>
          </a:p>
          <a:p>
            <a:pPr marL="342900" indent="-342900">
              <a:buFontTx/>
              <a:buChar char="-"/>
            </a:pPr>
            <a:r>
              <a:rPr lang="en-US" sz="3000" dirty="0">
                <a:solidFill>
                  <a:srgbClr val="1A3260"/>
                </a:solidFill>
              </a:rPr>
              <a:t>Classical solution</a:t>
            </a:r>
          </a:p>
          <a:p>
            <a:endParaRPr lang="en-US" sz="3000" dirty="0">
              <a:solidFill>
                <a:srgbClr val="1A3260"/>
              </a:solidFill>
            </a:endParaRPr>
          </a:p>
          <a:p>
            <a:endParaRPr lang="en-US" sz="3000" dirty="0">
              <a:solidFill>
                <a:srgbClr val="1A3260"/>
              </a:solidFill>
            </a:endParaRPr>
          </a:p>
          <a:p>
            <a:endParaRPr lang="en-US" sz="3000" dirty="0">
              <a:solidFill>
                <a:srgbClr val="1A3260"/>
              </a:solidFill>
            </a:endParaRPr>
          </a:p>
          <a:p>
            <a:pPr marL="342900" indent="-342900">
              <a:buFontTx/>
              <a:buChar char="-"/>
            </a:pPr>
            <a:r>
              <a:rPr lang="en-US" sz="3000" dirty="0">
                <a:solidFill>
                  <a:srgbClr val="1A3260"/>
                </a:solidFill>
              </a:rPr>
              <a:t>Problem of scheduling flexible energy loads</a:t>
            </a:r>
          </a:p>
          <a:p>
            <a:pPr marL="342900" indent="-342900">
              <a:buFontTx/>
              <a:buChar char="-"/>
            </a:pPr>
            <a:r>
              <a:rPr lang="en-US" sz="3000" dirty="0">
                <a:solidFill>
                  <a:srgbClr val="1A3260"/>
                </a:solidFill>
              </a:rPr>
              <a:t>Quantum solution</a:t>
            </a:r>
          </a:p>
        </p:txBody>
      </p:sp>
      <p:pic>
        <p:nvPicPr>
          <p:cNvPr id="4" name="Picture 3" descr="L'arrivo di ChatGPT Health e le falle nella gestione delle emergenze">
            <a:extLst>
              <a:ext uri="{FF2B5EF4-FFF2-40B4-BE49-F238E27FC236}">
                <a16:creationId xmlns:a16="http://schemas.microsoft.com/office/drawing/2014/main" id="{52E665D4-0A2B-9F6B-1935-0ADD29689E43}"/>
              </a:ext>
            </a:extLst>
          </p:cNvPr>
          <p:cNvPicPr>
            <a:picLocks noChangeAspect="1"/>
          </p:cNvPicPr>
          <p:nvPr/>
        </p:nvPicPr>
        <p:blipFill>
          <a:blip r:embed="rId3"/>
          <a:stretch>
            <a:fillRect/>
          </a:stretch>
        </p:blipFill>
        <p:spPr>
          <a:xfrm>
            <a:off x="9753600" y="1506982"/>
            <a:ext cx="2118102" cy="1412068"/>
          </a:xfrm>
          <a:prstGeom prst="rect">
            <a:avLst/>
          </a:prstGeom>
        </p:spPr>
      </p:pic>
      <p:pic>
        <p:nvPicPr>
          <p:cNvPr id="5" name="Picture 4" descr="What is a Smart Grid?">
            <a:extLst>
              <a:ext uri="{FF2B5EF4-FFF2-40B4-BE49-F238E27FC236}">
                <a16:creationId xmlns:a16="http://schemas.microsoft.com/office/drawing/2014/main" id="{ED8CB45E-234E-358B-4E87-E36269EDDC84}"/>
              </a:ext>
            </a:extLst>
          </p:cNvPr>
          <p:cNvPicPr>
            <a:picLocks noChangeAspect="1"/>
          </p:cNvPicPr>
          <p:nvPr/>
        </p:nvPicPr>
        <p:blipFill>
          <a:blip r:embed="rId4"/>
          <a:stretch>
            <a:fillRect/>
          </a:stretch>
        </p:blipFill>
        <p:spPr>
          <a:xfrm>
            <a:off x="9753600" y="3738960"/>
            <a:ext cx="2120159" cy="1464374"/>
          </a:xfrm>
          <a:prstGeom prst="rect">
            <a:avLst/>
          </a:prstGeom>
        </p:spPr>
      </p:pic>
      <p:sp>
        <p:nvSpPr>
          <p:cNvPr id="6" name="TextBox 5">
            <a:extLst>
              <a:ext uri="{FF2B5EF4-FFF2-40B4-BE49-F238E27FC236}">
                <a16:creationId xmlns:a16="http://schemas.microsoft.com/office/drawing/2014/main" id="{937E0AC6-7D87-1064-163F-7533D707F7E5}"/>
              </a:ext>
            </a:extLst>
          </p:cNvPr>
          <p:cNvSpPr txBox="1"/>
          <p:nvPr/>
        </p:nvSpPr>
        <p:spPr>
          <a:xfrm>
            <a:off x="3455894" y="2234161"/>
            <a:ext cx="3832411" cy="861774"/>
          </a:xfrm>
          <a:prstGeom prst="rect">
            <a:avLst/>
          </a:prstGeom>
          <a:noFill/>
        </p:spPr>
        <p:txBody>
          <a:bodyPr wrap="square" rtlCol="0">
            <a:spAutoFit/>
          </a:bodyPr>
          <a:lstStyle/>
          <a:p>
            <a:r>
              <a:rPr lang="en-IT" sz="2500" b="1" dirty="0">
                <a:solidFill>
                  <a:srgbClr val="FF0000"/>
                </a:solidFill>
              </a:rPr>
              <a:t>YESTERDAY</a:t>
            </a:r>
            <a:br>
              <a:rPr lang="en-IT" sz="2500" b="1" dirty="0">
                <a:solidFill>
                  <a:srgbClr val="FF0000"/>
                </a:solidFill>
              </a:rPr>
            </a:br>
            <a:r>
              <a:rPr lang="en-IT" sz="2500" b="1" dirty="0">
                <a:solidFill>
                  <a:srgbClr val="FF0000"/>
                </a:solidFill>
              </a:rPr>
              <a:t>TODAY</a:t>
            </a:r>
          </a:p>
        </p:txBody>
      </p:sp>
      <p:sp>
        <p:nvSpPr>
          <p:cNvPr id="7" name="TextBox 6">
            <a:extLst>
              <a:ext uri="{FF2B5EF4-FFF2-40B4-BE49-F238E27FC236}">
                <a16:creationId xmlns:a16="http://schemas.microsoft.com/office/drawing/2014/main" id="{A5C9E160-7E3C-85BA-FB48-DA8A87D20384}"/>
              </a:ext>
            </a:extLst>
          </p:cNvPr>
          <p:cNvSpPr txBox="1"/>
          <p:nvPr/>
        </p:nvSpPr>
        <p:spPr>
          <a:xfrm>
            <a:off x="3455895" y="4739495"/>
            <a:ext cx="2971800" cy="477054"/>
          </a:xfrm>
          <a:prstGeom prst="rect">
            <a:avLst/>
          </a:prstGeom>
          <a:noFill/>
        </p:spPr>
        <p:txBody>
          <a:bodyPr wrap="square" rtlCol="0">
            <a:spAutoFit/>
          </a:bodyPr>
          <a:lstStyle/>
          <a:p>
            <a:r>
              <a:rPr lang="en-IT" sz="2500" b="1" dirty="0">
                <a:solidFill>
                  <a:srgbClr val="FF0000"/>
                </a:solidFill>
              </a:rPr>
              <a:t>TOMORROW</a:t>
            </a:r>
          </a:p>
        </p:txBody>
      </p:sp>
    </p:spTree>
    <p:extLst>
      <p:ext uri="{BB962C8B-B14F-4D97-AF65-F5344CB8AC3E}">
        <p14:creationId xmlns:p14="http://schemas.microsoft.com/office/powerpoint/2010/main" val="1721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E5C5B940-26C7-BD9A-3E5D-FA27545106EE}"/>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HHCRSP</a:t>
            </a:r>
          </a:p>
        </p:txBody>
      </p:sp>
      <p:sp>
        <p:nvSpPr>
          <p:cNvPr id="3" name="CasellaDiTesto 2">
            <a:extLst>
              <a:ext uri="{FF2B5EF4-FFF2-40B4-BE49-F238E27FC236}">
                <a16:creationId xmlns:a16="http://schemas.microsoft.com/office/drawing/2014/main" id="{A860ED02-6395-7C52-E1DB-D4582E95BEBB}"/>
              </a:ext>
            </a:extLst>
          </p:cNvPr>
          <p:cNvSpPr txBox="1"/>
          <p:nvPr/>
        </p:nvSpPr>
        <p:spPr>
          <a:xfrm>
            <a:off x="418454" y="1321002"/>
            <a:ext cx="11453248" cy="5078313"/>
          </a:xfrm>
          <a:prstGeom prst="rect">
            <a:avLst/>
          </a:prstGeom>
          <a:noFill/>
        </p:spPr>
        <p:txBody>
          <a:bodyPr wrap="square" rtlCol="0">
            <a:spAutoFit/>
          </a:bodyPr>
          <a:lstStyle/>
          <a:p>
            <a:pPr marL="342900" indent="-342900">
              <a:buFontTx/>
              <a:buChar char="-"/>
            </a:pPr>
            <a:r>
              <a:rPr lang="en-US" dirty="0">
                <a:solidFill>
                  <a:srgbClr val="1A3260"/>
                </a:solidFill>
              </a:rPr>
              <a:t>Minimization problem with the goal to organize home visits for a diverse team of caregivers, ensuring they reach patients spread across the area within their scheduled appointment times</a:t>
            </a:r>
          </a:p>
          <a:p>
            <a:pPr marL="342900" indent="-342900">
              <a:buFontTx/>
              <a:buChar char="-"/>
            </a:pPr>
            <a:r>
              <a:rPr lang="en-US" dirty="0">
                <a:solidFill>
                  <a:srgbClr val="1A3260"/>
                </a:solidFill>
              </a:rPr>
              <a:t>It can be defined on a graph where the node set C</a:t>
            </a:r>
            <a:r>
              <a:rPr lang="en-US" baseline="30000" dirty="0">
                <a:solidFill>
                  <a:srgbClr val="1A3260"/>
                </a:solidFill>
              </a:rPr>
              <a:t>0</a:t>
            </a:r>
            <a:r>
              <a:rPr lang="en-US" dirty="0">
                <a:solidFill>
                  <a:srgbClr val="1A3260"/>
                </a:solidFill>
              </a:rPr>
              <a:t>=C∪{0}</a:t>
            </a:r>
          </a:p>
          <a:p>
            <a:pPr marL="342900" indent="-342900">
              <a:buFontTx/>
              <a:buChar char="-"/>
            </a:pPr>
            <a:r>
              <a:rPr lang="en-US" dirty="0">
                <a:solidFill>
                  <a:srgbClr val="1A3260"/>
                </a:solidFill>
              </a:rPr>
              <a:t>C is the set of patients</a:t>
            </a:r>
          </a:p>
          <a:p>
            <a:pPr marL="342900" indent="-342900">
              <a:buFontTx/>
              <a:buChar char="-"/>
            </a:pPr>
            <a:r>
              <a:rPr lang="en-US" dirty="0">
                <a:solidFill>
                  <a:srgbClr val="1A3260"/>
                </a:solidFill>
              </a:rPr>
              <a:t>0 is the office</a:t>
            </a:r>
          </a:p>
          <a:p>
            <a:pPr marL="342900" indent="-342900">
              <a:buFontTx/>
              <a:buChar char="-"/>
            </a:pPr>
            <a:r>
              <a:rPr lang="en-US" dirty="0">
                <a:solidFill>
                  <a:srgbClr val="1A3260"/>
                </a:solidFill>
              </a:rPr>
              <a:t>V is the set of caregivers</a:t>
            </a:r>
          </a:p>
          <a:p>
            <a:pPr marL="342900" indent="-342900">
              <a:buFontTx/>
              <a:buChar char="-"/>
            </a:pPr>
            <a:r>
              <a:rPr lang="en-US" dirty="0" err="1">
                <a:solidFill>
                  <a:srgbClr val="1A3260"/>
                </a:solidFill>
              </a:rPr>
              <a:t>a</a:t>
            </a:r>
            <a:r>
              <a:rPr lang="en-US" baseline="-25000" dirty="0" err="1">
                <a:solidFill>
                  <a:srgbClr val="1A3260"/>
                </a:solidFill>
              </a:rPr>
              <a:t>V,S</a:t>
            </a:r>
            <a:r>
              <a:rPr lang="en-US" baseline="-25000" dirty="0">
                <a:solidFill>
                  <a:srgbClr val="1A3260"/>
                </a:solidFill>
              </a:rPr>
              <a:t> </a:t>
            </a:r>
            <a:r>
              <a:rPr lang="en-US" dirty="0">
                <a:solidFill>
                  <a:srgbClr val="1A3260"/>
                </a:solidFill>
              </a:rPr>
              <a:t>is a binary parameter equal to 1 if v is qualified to perform service type s ∈ S</a:t>
            </a:r>
          </a:p>
          <a:p>
            <a:pPr marL="342900" indent="-342900">
              <a:buFontTx/>
              <a:buChar char="-"/>
            </a:pPr>
            <a:r>
              <a:rPr lang="en-US" dirty="0">
                <a:solidFill>
                  <a:srgbClr val="1A3260"/>
                </a:solidFill>
              </a:rPr>
              <a:t>The complexity lies in the division of patients based on the service requirements: (single service VS double service)</a:t>
            </a:r>
          </a:p>
          <a:p>
            <a:pPr marL="342900" indent="-342900">
              <a:buFontTx/>
              <a:buChar char="-"/>
            </a:pPr>
            <a:r>
              <a:rPr lang="en-US" dirty="0">
                <a:solidFill>
                  <a:srgbClr val="1A3260"/>
                </a:solidFill>
              </a:rPr>
              <a:t>Double services enforce temporal dependencies, some can be performed simultaneously, some are linked by precedence according to:</a:t>
            </a:r>
          </a:p>
          <a:p>
            <a:pPr marL="800100" lvl="1" indent="-342900">
              <a:buFontTx/>
              <a:buChar char="-"/>
            </a:pPr>
            <a:r>
              <a:rPr lang="en-US" b="1" dirty="0">
                <a:solidFill>
                  <a:srgbClr val="1A3260"/>
                </a:solidFill>
              </a:rPr>
              <a:t>Simultaneous services</a:t>
            </a:r>
            <a:r>
              <a:rPr lang="en-US" dirty="0">
                <a:solidFill>
                  <a:srgbClr val="1A3260"/>
                </a:solidFill>
              </a:rPr>
              <a:t>: two caregivers must start their respective service operations at the exact same time</a:t>
            </a:r>
          </a:p>
          <a:p>
            <a:pPr marL="800100" lvl="1" indent="-342900">
              <a:buFontTx/>
              <a:buChar char="-"/>
            </a:pPr>
            <a:r>
              <a:rPr lang="en-US" b="1" dirty="0">
                <a:solidFill>
                  <a:srgbClr val="1A3260"/>
                </a:solidFill>
              </a:rPr>
              <a:t>Service with precedence</a:t>
            </a:r>
            <a:r>
              <a:rPr lang="en-US" dirty="0">
                <a:solidFill>
                  <a:srgbClr val="1A3260"/>
                </a:solidFill>
              </a:rPr>
              <a:t>: here, the second operation must start within a specific time lag after the start of the first operation</a:t>
            </a:r>
          </a:p>
          <a:p>
            <a:pPr marL="342900" indent="-342900">
              <a:buFontTx/>
              <a:buChar char="-"/>
            </a:pPr>
            <a:r>
              <a:rPr lang="en-US" dirty="0">
                <a:solidFill>
                  <a:srgbClr val="1A3260"/>
                </a:solidFill>
              </a:rPr>
              <a:t>Time slots are modeled via time windows [</a:t>
            </a:r>
            <a:r>
              <a:rPr lang="en-US" dirty="0" err="1">
                <a:solidFill>
                  <a:srgbClr val="1A3260"/>
                </a:solidFill>
              </a:rPr>
              <a:t>e</a:t>
            </a:r>
            <a:r>
              <a:rPr lang="en-US" baseline="-25000" dirty="0" err="1">
                <a:solidFill>
                  <a:srgbClr val="1A3260"/>
                </a:solidFill>
              </a:rPr>
              <a:t>i</a:t>
            </a:r>
            <a:r>
              <a:rPr lang="en-US" dirty="0" err="1">
                <a:solidFill>
                  <a:srgbClr val="1A3260"/>
                </a:solidFill>
              </a:rPr>
              <a:t>,l</a:t>
            </a:r>
            <a:r>
              <a:rPr lang="en-US" baseline="-25000" dirty="0" err="1">
                <a:solidFill>
                  <a:srgbClr val="1A3260"/>
                </a:solidFill>
              </a:rPr>
              <a:t>i</a:t>
            </a:r>
            <a:r>
              <a:rPr lang="en-US" dirty="0">
                <a:solidFill>
                  <a:srgbClr val="1A3260"/>
                </a:solidFill>
              </a:rPr>
              <a:t>] for each patient </a:t>
            </a:r>
            <a:r>
              <a:rPr lang="en-US" dirty="0" err="1">
                <a:solidFill>
                  <a:srgbClr val="1A3260"/>
                </a:solidFill>
              </a:rPr>
              <a:t>i</a:t>
            </a:r>
            <a:r>
              <a:rPr lang="en-US" dirty="0">
                <a:solidFill>
                  <a:srgbClr val="1A3260"/>
                </a:solidFill>
              </a:rPr>
              <a:t>. If a caregiver arrives before </a:t>
            </a:r>
            <a:r>
              <a:rPr lang="en-US" dirty="0" err="1">
                <a:solidFill>
                  <a:srgbClr val="1A3260"/>
                </a:solidFill>
              </a:rPr>
              <a:t>e</a:t>
            </a:r>
            <a:r>
              <a:rPr lang="en-US" baseline="-25000" dirty="0" err="1">
                <a:solidFill>
                  <a:srgbClr val="1A3260"/>
                </a:solidFill>
              </a:rPr>
              <a:t>i</a:t>
            </a:r>
            <a:r>
              <a:rPr lang="en-US" dirty="0">
                <a:solidFill>
                  <a:srgbClr val="1A3260"/>
                </a:solidFill>
              </a:rPr>
              <a:t> they must wait until the window opens. Services starting after l</a:t>
            </a:r>
            <a:r>
              <a:rPr lang="en-US" baseline="-25000" dirty="0">
                <a:solidFill>
                  <a:srgbClr val="1A3260"/>
                </a:solidFill>
              </a:rPr>
              <a:t>i</a:t>
            </a:r>
            <a:r>
              <a:rPr lang="en-US" dirty="0">
                <a:solidFill>
                  <a:srgbClr val="1A3260"/>
                </a:solidFill>
              </a:rPr>
              <a:t> are feasible but incur a tardiness penalty </a:t>
            </a:r>
            <a:r>
              <a:rPr lang="en-US" dirty="0" err="1">
                <a:solidFill>
                  <a:srgbClr val="1A3260"/>
                </a:solidFill>
              </a:rPr>
              <a:t>z</a:t>
            </a:r>
            <a:r>
              <a:rPr lang="en-US" baseline="-25000" dirty="0" err="1">
                <a:solidFill>
                  <a:srgbClr val="1A3260"/>
                </a:solidFill>
              </a:rPr>
              <a:t>i,s</a:t>
            </a:r>
            <a:r>
              <a:rPr lang="en-US" dirty="0">
                <a:solidFill>
                  <a:srgbClr val="1A3260"/>
                </a:solidFill>
              </a:rPr>
              <a:t>. Therefore, </a:t>
            </a:r>
            <a:r>
              <a:rPr lang="en-US" dirty="0" err="1">
                <a:solidFill>
                  <a:srgbClr val="1A3260"/>
                </a:solidFill>
              </a:rPr>
              <a:t>t</a:t>
            </a:r>
            <a:r>
              <a:rPr lang="en-US" baseline="-25000" dirty="0" err="1">
                <a:solidFill>
                  <a:srgbClr val="1A3260"/>
                </a:solidFill>
              </a:rPr>
              <a:t>i,s</a:t>
            </a:r>
            <a:r>
              <a:rPr lang="en-US" dirty="0">
                <a:solidFill>
                  <a:srgbClr val="1A3260"/>
                </a:solidFill>
              </a:rPr>
              <a:t> is the actual starting time and </a:t>
            </a:r>
            <a:r>
              <a:rPr lang="en-US" dirty="0" err="1">
                <a:solidFill>
                  <a:srgbClr val="1A3260"/>
                </a:solidFill>
              </a:rPr>
              <a:t>z</a:t>
            </a:r>
            <a:r>
              <a:rPr lang="en-US" baseline="-25000" dirty="0" err="1">
                <a:solidFill>
                  <a:srgbClr val="1A3260"/>
                </a:solidFill>
              </a:rPr>
              <a:t>i,s</a:t>
            </a:r>
            <a:r>
              <a:rPr lang="en-US" dirty="0">
                <a:solidFill>
                  <a:srgbClr val="1A3260"/>
                </a:solidFill>
              </a:rPr>
              <a:t> is the tardiness of that service.</a:t>
            </a:r>
            <a:endParaRPr lang="en-US" baseline="-25000" dirty="0">
              <a:solidFill>
                <a:srgbClr val="1A3260"/>
              </a:solidFill>
            </a:endParaRPr>
          </a:p>
          <a:p>
            <a:pPr marL="342900" indent="-342900">
              <a:buFontTx/>
              <a:buChar char="-"/>
            </a:pPr>
            <a:r>
              <a:rPr lang="en-US" dirty="0">
                <a:solidFill>
                  <a:srgbClr val="1A3260"/>
                </a:solidFill>
              </a:rPr>
              <a:t>Caregivers must return to the depot after finishing their visits with each patient node being visited only once per route and caregivers cannot perform two consecutive services for the same patient</a:t>
            </a:r>
          </a:p>
        </p:txBody>
      </p:sp>
    </p:spTree>
    <p:extLst>
      <p:ext uri="{BB962C8B-B14F-4D97-AF65-F5344CB8AC3E}">
        <p14:creationId xmlns:p14="http://schemas.microsoft.com/office/powerpoint/2010/main" val="396871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EF1F9-5A6B-2726-ABA7-B497EEB209EE}"/>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2D67DEE3-D846-C8FB-4AEA-DCE51972C978}"/>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HHCRSP</a:t>
            </a:r>
          </a:p>
        </p:txBody>
      </p:sp>
      <p:sp>
        <p:nvSpPr>
          <p:cNvPr id="3" name="CasellaDiTesto 2">
            <a:extLst>
              <a:ext uri="{FF2B5EF4-FFF2-40B4-BE49-F238E27FC236}">
                <a16:creationId xmlns:a16="http://schemas.microsoft.com/office/drawing/2014/main" id="{7A53187C-D65D-725E-0FCF-E59A1BD92DC1}"/>
              </a:ext>
            </a:extLst>
          </p:cNvPr>
          <p:cNvSpPr txBox="1"/>
          <p:nvPr/>
        </p:nvSpPr>
        <p:spPr>
          <a:xfrm>
            <a:off x="418454" y="1321002"/>
            <a:ext cx="11453248" cy="5632311"/>
          </a:xfrm>
          <a:prstGeom prst="rect">
            <a:avLst/>
          </a:prstGeom>
          <a:noFill/>
        </p:spPr>
        <p:txBody>
          <a:bodyPr wrap="square" rtlCol="0">
            <a:spAutoFit/>
          </a:bodyPr>
          <a:lstStyle/>
          <a:p>
            <a:pPr marL="342900" indent="-342900">
              <a:buFontTx/>
              <a:buChar char="-"/>
            </a:pPr>
            <a:r>
              <a:rPr lang="en-US" sz="3000" dirty="0">
                <a:solidFill>
                  <a:srgbClr val="1A3260"/>
                </a:solidFill>
              </a:rPr>
              <a:t>Optimization goal is:</a:t>
            </a:r>
          </a:p>
          <a:p>
            <a:pPr lvl="1"/>
            <a:r>
              <a:rPr lang="en-US" sz="3000" b="1" i="1" dirty="0">
                <a:solidFill>
                  <a:srgbClr val="1A3260"/>
                </a:solidFill>
              </a:rPr>
              <a:t>Min Z = ƛ</a:t>
            </a:r>
            <a:r>
              <a:rPr lang="en-US" sz="3000" b="1" i="1" baseline="-25000" dirty="0">
                <a:solidFill>
                  <a:srgbClr val="1A3260"/>
                </a:solidFill>
              </a:rPr>
              <a:t>1</a:t>
            </a:r>
            <a:r>
              <a:rPr lang="en-US" sz="3000" b="1" i="1" dirty="0">
                <a:solidFill>
                  <a:srgbClr val="1A3260"/>
                </a:solidFill>
              </a:rPr>
              <a:t>D+ ƛ</a:t>
            </a:r>
            <a:r>
              <a:rPr lang="en-US" sz="3000" b="1" i="1" baseline="-25000" dirty="0">
                <a:solidFill>
                  <a:srgbClr val="1A3260"/>
                </a:solidFill>
              </a:rPr>
              <a:t>2</a:t>
            </a:r>
            <a:r>
              <a:rPr lang="en-US" sz="3000" b="1" i="1" dirty="0">
                <a:solidFill>
                  <a:srgbClr val="1A3260"/>
                </a:solidFill>
              </a:rPr>
              <a:t>T+ ƛ</a:t>
            </a:r>
            <a:r>
              <a:rPr lang="en-US" sz="3000" b="1" i="1" baseline="-25000" dirty="0">
                <a:solidFill>
                  <a:srgbClr val="1A3260"/>
                </a:solidFill>
              </a:rPr>
              <a:t>3</a:t>
            </a:r>
            <a:r>
              <a:rPr lang="en-US" sz="3000" b="1" i="1" dirty="0">
                <a:solidFill>
                  <a:srgbClr val="1A3260"/>
                </a:solidFill>
              </a:rPr>
              <a:t>T</a:t>
            </a:r>
            <a:r>
              <a:rPr lang="en-US" sz="3000" b="1" i="1" baseline="30000" dirty="0">
                <a:solidFill>
                  <a:srgbClr val="1A3260"/>
                </a:solidFill>
              </a:rPr>
              <a:t>max</a:t>
            </a:r>
          </a:p>
          <a:p>
            <a:r>
              <a:rPr lang="en-US" sz="3000" dirty="0">
                <a:solidFill>
                  <a:srgbClr val="1A3260"/>
                </a:solidFill>
              </a:rPr>
              <a:t>where </a:t>
            </a:r>
          </a:p>
          <a:p>
            <a:r>
              <a:rPr lang="en-US" sz="3000" b="1" dirty="0">
                <a:solidFill>
                  <a:srgbClr val="1A3260"/>
                </a:solidFill>
              </a:rPr>
              <a:t>D</a:t>
            </a:r>
            <a:r>
              <a:rPr lang="en-US" sz="3000" dirty="0">
                <a:solidFill>
                  <a:srgbClr val="1A3260"/>
                </a:solidFill>
              </a:rPr>
              <a:t> is the total distance traveled by the fleet,</a:t>
            </a:r>
          </a:p>
          <a:p>
            <a:r>
              <a:rPr lang="en-US" sz="3000" b="1" dirty="0">
                <a:solidFill>
                  <a:srgbClr val="1A3260"/>
                </a:solidFill>
              </a:rPr>
              <a:t>T</a:t>
            </a:r>
            <a:r>
              <a:rPr lang="en-US" sz="3000" dirty="0">
                <a:solidFill>
                  <a:srgbClr val="1A3260"/>
                </a:solidFill>
              </a:rPr>
              <a:t> is the total tardiness representing the aggregate lateness of all services relative to the patients’ preferred time windows,</a:t>
            </a:r>
          </a:p>
          <a:p>
            <a:r>
              <a:rPr lang="en-US" sz="3000" b="1" dirty="0" err="1">
                <a:solidFill>
                  <a:srgbClr val="1A3260"/>
                </a:solidFill>
              </a:rPr>
              <a:t>T</a:t>
            </a:r>
            <a:r>
              <a:rPr lang="en-US" sz="3000" b="1" baseline="30000" dirty="0" err="1">
                <a:solidFill>
                  <a:srgbClr val="1A3260"/>
                </a:solidFill>
              </a:rPr>
              <a:t>max</a:t>
            </a:r>
            <a:r>
              <a:rPr lang="en-US" sz="3000" dirty="0">
                <a:solidFill>
                  <a:srgbClr val="1A3260"/>
                </a:solidFill>
              </a:rPr>
              <a:t> is the maximum tardiness, representing the single highest delay observed in the schedule among all patients. It prevents scenarios where a minority of patients suffer extreme delays.</a:t>
            </a:r>
          </a:p>
          <a:p>
            <a:r>
              <a:rPr lang="en-US" sz="3000" dirty="0">
                <a:solidFill>
                  <a:srgbClr val="1A3260"/>
                </a:solidFill>
              </a:rPr>
              <a:t>Weights </a:t>
            </a:r>
            <a:r>
              <a:rPr lang="en-US" sz="3000" b="1" dirty="0">
                <a:solidFill>
                  <a:srgbClr val="1A3260"/>
                </a:solidFill>
              </a:rPr>
              <a:t>ƛ</a:t>
            </a:r>
            <a:r>
              <a:rPr lang="en-US" sz="3000" b="1" baseline="-25000" dirty="0">
                <a:solidFill>
                  <a:srgbClr val="1A3260"/>
                </a:solidFill>
              </a:rPr>
              <a:t>1</a:t>
            </a:r>
            <a:r>
              <a:rPr lang="en-US" sz="3000" dirty="0">
                <a:solidFill>
                  <a:srgbClr val="1A3260"/>
                </a:solidFill>
              </a:rPr>
              <a:t>, </a:t>
            </a:r>
            <a:r>
              <a:rPr lang="en-US" sz="3000" b="1" dirty="0">
                <a:solidFill>
                  <a:srgbClr val="1A3260"/>
                </a:solidFill>
              </a:rPr>
              <a:t>ƛ</a:t>
            </a:r>
            <a:r>
              <a:rPr lang="en-US" sz="3000" b="1" baseline="-25000" dirty="0">
                <a:solidFill>
                  <a:srgbClr val="1A3260"/>
                </a:solidFill>
              </a:rPr>
              <a:t>2</a:t>
            </a:r>
            <a:r>
              <a:rPr lang="en-US" sz="3000" dirty="0">
                <a:solidFill>
                  <a:srgbClr val="1A3260"/>
                </a:solidFill>
              </a:rPr>
              <a:t>, </a:t>
            </a:r>
            <a:r>
              <a:rPr lang="en-US" sz="3000" b="1" dirty="0">
                <a:solidFill>
                  <a:srgbClr val="1A3260"/>
                </a:solidFill>
              </a:rPr>
              <a:t>ƛ</a:t>
            </a:r>
            <a:r>
              <a:rPr lang="en-US" sz="3000" b="1" baseline="-25000" dirty="0">
                <a:solidFill>
                  <a:srgbClr val="1A3260"/>
                </a:solidFill>
              </a:rPr>
              <a:t>3</a:t>
            </a:r>
            <a:r>
              <a:rPr lang="en-US" sz="3000" dirty="0">
                <a:solidFill>
                  <a:srgbClr val="1A3260"/>
                </a:solidFill>
              </a:rPr>
              <a:t> allow the planner to flexibly prioritize between minimizing distance traveled and service quality. They are fixed (1/3 in the paper for the three of them)</a:t>
            </a:r>
          </a:p>
        </p:txBody>
      </p:sp>
    </p:spTree>
    <p:extLst>
      <p:ext uri="{BB962C8B-B14F-4D97-AF65-F5344CB8AC3E}">
        <p14:creationId xmlns:p14="http://schemas.microsoft.com/office/powerpoint/2010/main" val="405462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34840" y="-25654"/>
            <a:ext cx="2197653" cy="507831"/>
          </a:xfrm>
          <a:prstGeom prst="rect">
            <a:avLst/>
          </a:prstGeom>
          <a:noFill/>
        </p:spPr>
        <p:txBody>
          <a:bodyPr wrap="none">
            <a:spAutoFit/>
          </a:bodyPr>
          <a:lstStyle/>
          <a:p>
            <a:r>
              <a:rPr sz="2700" b="1" dirty="0">
                <a:solidFill>
                  <a:srgbClr val="1A2B43"/>
                </a:solidFill>
              </a:rPr>
              <a:t>Toy Instance</a:t>
            </a:r>
          </a:p>
        </p:txBody>
      </p:sp>
      <p:sp>
        <p:nvSpPr>
          <p:cNvPr id="3" name="TextBox 2"/>
          <p:cNvSpPr txBox="1"/>
          <p:nvPr/>
        </p:nvSpPr>
        <p:spPr>
          <a:xfrm>
            <a:off x="530352" y="841248"/>
            <a:ext cx="2649700" cy="276999"/>
          </a:xfrm>
          <a:prstGeom prst="rect">
            <a:avLst/>
          </a:prstGeom>
          <a:noFill/>
        </p:spPr>
        <p:txBody>
          <a:bodyPr wrap="none">
            <a:spAutoFit/>
          </a:bodyPr>
          <a:lstStyle/>
          <a:p>
            <a:r>
              <a:rPr sz="1200" dirty="0">
                <a:solidFill>
                  <a:srgbClr val="305D8E"/>
                </a:solidFill>
              </a:rPr>
              <a:t>5 patients • 3 heterogeneous caregivers</a:t>
            </a:r>
          </a:p>
        </p:txBody>
      </p:sp>
      <p:sp>
        <p:nvSpPr>
          <p:cNvPr id="4" name="Rounded Rectangle 3"/>
          <p:cNvSpPr/>
          <p:nvPr/>
        </p:nvSpPr>
        <p:spPr>
          <a:xfrm>
            <a:off x="502920" y="1234440"/>
            <a:ext cx="3657600" cy="2057400"/>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17320"/>
            <a:ext cx="3200400" cy="320040"/>
          </a:xfrm>
          <a:prstGeom prst="rect">
            <a:avLst/>
          </a:prstGeom>
          <a:noFill/>
        </p:spPr>
        <p:txBody>
          <a:bodyPr wrap="square">
            <a:spAutoFit/>
          </a:bodyPr>
          <a:lstStyle/>
          <a:p>
            <a:r>
              <a:rPr sz="1800" b="1">
                <a:solidFill>
                  <a:srgbClr val="1A2B43"/>
                </a:solidFill>
              </a:rPr>
              <a:t>Sets &amp; service types</a:t>
            </a:r>
          </a:p>
        </p:txBody>
      </p:sp>
      <p:sp>
        <p:nvSpPr>
          <p:cNvPr id="6" name="TextBox 5"/>
          <p:cNvSpPr txBox="1"/>
          <p:nvPr/>
        </p:nvSpPr>
        <p:spPr>
          <a:xfrm>
            <a:off x="731520" y="1828800"/>
            <a:ext cx="3154680" cy="1143000"/>
          </a:xfrm>
          <a:prstGeom prst="rect">
            <a:avLst/>
          </a:prstGeom>
          <a:noFill/>
        </p:spPr>
        <p:txBody>
          <a:bodyPr wrap="square">
            <a:spAutoFit/>
          </a:bodyPr>
          <a:lstStyle/>
          <a:p>
            <a:r>
              <a:rPr sz="1400" b="0" dirty="0">
                <a:solidFill>
                  <a:srgbClr val="282828"/>
                </a:solidFill>
              </a:rPr>
              <a:t>Patients: C = {1,2,3,4,5}
Depot: 0
Caregivers: V = {</a:t>
            </a:r>
            <a:r>
              <a:rPr sz="1400" b="0" dirty="0" err="1">
                <a:solidFill>
                  <a:srgbClr val="282828"/>
                </a:solidFill>
              </a:rPr>
              <a:t>v₁,v₂,v</a:t>
            </a:r>
            <a:r>
              <a:rPr sz="1400" b="0" dirty="0">
                <a:solidFill>
                  <a:srgbClr val="282828"/>
                </a:solidFill>
              </a:rPr>
              <a:t>₃}
Services: N = Nursing, P = Personal care, H = Physiotherapy</a:t>
            </a:r>
          </a:p>
        </p:txBody>
      </p:sp>
      <p:sp>
        <p:nvSpPr>
          <p:cNvPr id="7" name="TextBox 6"/>
          <p:cNvSpPr txBox="1"/>
          <p:nvPr/>
        </p:nvSpPr>
        <p:spPr>
          <a:xfrm>
            <a:off x="731520" y="2880360"/>
            <a:ext cx="3108960" cy="228600"/>
          </a:xfrm>
          <a:prstGeom prst="rect">
            <a:avLst/>
          </a:prstGeom>
          <a:noFill/>
        </p:spPr>
        <p:txBody>
          <a:bodyPr wrap="square">
            <a:spAutoFit/>
          </a:bodyPr>
          <a:lstStyle/>
          <a:p>
            <a:r>
              <a:rPr sz="1200" b="1">
                <a:solidFill>
                  <a:srgbClr val="305D8E"/>
                </a:solidFill>
              </a:rPr>
              <a:t>Durations: N 30 min • P 25 min • H 40 min</a:t>
            </a:r>
          </a:p>
        </p:txBody>
      </p:sp>
      <p:graphicFrame>
        <p:nvGraphicFramePr>
          <p:cNvPr id="8" name="Table 7"/>
          <p:cNvGraphicFramePr>
            <a:graphicFrameLocks noGrp="1"/>
          </p:cNvGraphicFramePr>
          <p:nvPr>
            <p:extLst>
              <p:ext uri="{D42A27DB-BD31-4B8C-83A1-F6EECF244321}">
                <p14:modId xmlns:p14="http://schemas.microsoft.com/office/powerpoint/2010/main" val="1165288769"/>
              </p:ext>
            </p:extLst>
          </p:nvPr>
        </p:nvGraphicFramePr>
        <p:xfrm>
          <a:off x="4434840" y="1280160"/>
          <a:ext cx="2743200" cy="18288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457200">
                <a:tc>
                  <a:txBody>
                    <a:bodyPr/>
                    <a:lstStyle/>
                    <a:p>
                      <a:pPr algn="ctr"/>
                      <a:r>
                        <a:rPr lang="it-IT" sz="1200" b="1" dirty="0" err="1">
                          <a:solidFill>
                            <a:srgbClr val="FFFFFF"/>
                          </a:solidFill>
                        </a:rPr>
                        <a:t>Qualification</a:t>
                      </a:r>
                      <a:endParaRPr sz="1200" b="1" dirty="0">
                        <a:solidFill>
                          <a:srgbClr val="FFFFFF"/>
                        </a:solidFill>
                      </a:endParaRPr>
                    </a:p>
                  </a:txBody>
                  <a:tcPr>
                    <a:solidFill>
                      <a:srgbClr val="1A2B43"/>
                    </a:solidFill>
                  </a:tcPr>
                </a:tc>
                <a:tc>
                  <a:txBody>
                    <a:bodyPr/>
                    <a:lstStyle/>
                    <a:p>
                      <a:pPr algn="ctr"/>
                      <a:r>
                        <a:rPr sz="1200" b="1">
                          <a:solidFill>
                            <a:srgbClr val="FFFFFF"/>
                          </a:solidFill>
                        </a:rPr>
                        <a:t>N</a:t>
                      </a:r>
                    </a:p>
                  </a:txBody>
                  <a:tcPr>
                    <a:solidFill>
                      <a:srgbClr val="1A2B43"/>
                    </a:solidFill>
                  </a:tcPr>
                </a:tc>
                <a:tc>
                  <a:txBody>
                    <a:bodyPr/>
                    <a:lstStyle/>
                    <a:p>
                      <a:pPr algn="ctr"/>
                      <a:r>
                        <a:rPr sz="1200" b="1">
                          <a:solidFill>
                            <a:srgbClr val="FFFFFF"/>
                          </a:solidFill>
                        </a:rPr>
                        <a:t>P</a:t>
                      </a:r>
                    </a:p>
                  </a:txBody>
                  <a:tcPr>
                    <a:solidFill>
                      <a:srgbClr val="1A2B43"/>
                    </a:solidFill>
                  </a:tcPr>
                </a:tc>
                <a:tc>
                  <a:txBody>
                    <a:bodyPr/>
                    <a:lstStyle/>
                    <a:p>
                      <a:pPr algn="ctr"/>
                      <a:r>
                        <a:rPr sz="1200" b="1">
                          <a:solidFill>
                            <a:srgbClr val="FFFFFF"/>
                          </a:solidFill>
                        </a:rPr>
                        <a:t>H</a:t>
                      </a:r>
                    </a:p>
                  </a:txBody>
                  <a:tcPr>
                    <a:solidFill>
                      <a:srgbClr val="1A2B43"/>
                    </a:solidFill>
                  </a:tcPr>
                </a:tc>
                <a:extLst>
                  <a:ext uri="{0D108BD9-81ED-4DB2-BD59-A6C34878D82A}">
                    <a16:rowId xmlns:a16="http://schemas.microsoft.com/office/drawing/2014/main" val="10000"/>
                  </a:ext>
                </a:extLst>
              </a:tr>
              <a:tr h="457200">
                <a:tc>
                  <a:txBody>
                    <a:bodyPr/>
                    <a:lstStyle/>
                    <a:p>
                      <a:pPr algn="ctr"/>
                      <a:r>
                        <a:rPr sz="1200">
                          <a:solidFill>
                            <a:srgbClr val="282828"/>
                          </a:solidFill>
                        </a:rPr>
                        <a:t>v₁</a:t>
                      </a:r>
                    </a:p>
                  </a:txBody>
                  <a:tcPr>
                    <a:solidFill>
                      <a:srgbClr val="EFF4F9"/>
                    </a:solidFill>
                  </a:tcPr>
                </a:tc>
                <a:tc>
                  <a:txBody>
                    <a:bodyPr/>
                    <a:lstStyle/>
                    <a:p>
                      <a:pPr algn="ctr"/>
                      <a:r>
                        <a:rPr sz="1200">
                          <a:solidFill>
                            <a:srgbClr val="282828"/>
                          </a:solidFill>
                        </a:rPr>
                        <a:t>1</a:t>
                      </a:r>
                    </a:p>
                  </a:txBody>
                  <a:tcPr>
                    <a:solidFill>
                      <a:srgbClr val="EFF4F9"/>
                    </a:solidFill>
                  </a:tcPr>
                </a:tc>
                <a:tc>
                  <a:txBody>
                    <a:bodyPr/>
                    <a:lstStyle/>
                    <a:p>
                      <a:pPr algn="ctr"/>
                      <a:r>
                        <a:rPr sz="1200">
                          <a:solidFill>
                            <a:srgbClr val="282828"/>
                          </a:solidFill>
                        </a:rPr>
                        <a:t>0</a:t>
                      </a:r>
                    </a:p>
                  </a:txBody>
                  <a:tcPr>
                    <a:solidFill>
                      <a:srgbClr val="EFF4F9"/>
                    </a:solidFill>
                  </a:tcPr>
                </a:tc>
                <a:tc>
                  <a:txBody>
                    <a:bodyPr/>
                    <a:lstStyle/>
                    <a:p>
                      <a:pPr algn="ctr"/>
                      <a:r>
                        <a:rPr sz="1200">
                          <a:solidFill>
                            <a:srgbClr val="282828"/>
                          </a:solidFill>
                        </a:rPr>
                        <a:t>0</a:t>
                      </a:r>
                    </a:p>
                  </a:txBody>
                  <a:tcPr>
                    <a:solidFill>
                      <a:srgbClr val="EFF4F9"/>
                    </a:solidFill>
                  </a:tcPr>
                </a:tc>
                <a:extLst>
                  <a:ext uri="{0D108BD9-81ED-4DB2-BD59-A6C34878D82A}">
                    <a16:rowId xmlns:a16="http://schemas.microsoft.com/office/drawing/2014/main" val="10001"/>
                  </a:ext>
                </a:extLst>
              </a:tr>
              <a:tr h="457200">
                <a:tc>
                  <a:txBody>
                    <a:bodyPr/>
                    <a:lstStyle/>
                    <a:p>
                      <a:pPr algn="ctr"/>
                      <a:r>
                        <a:rPr sz="1200">
                          <a:solidFill>
                            <a:srgbClr val="282828"/>
                          </a:solidFill>
                        </a:rPr>
                        <a:t>v₂</a:t>
                      </a:r>
                    </a:p>
                  </a:txBody>
                  <a:tcPr>
                    <a:solidFill>
                      <a:srgbClr val="FFFFFF"/>
                    </a:solidFill>
                  </a:tcPr>
                </a:tc>
                <a:tc>
                  <a:txBody>
                    <a:bodyPr/>
                    <a:lstStyle/>
                    <a:p>
                      <a:pPr algn="ctr"/>
                      <a:r>
                        <a:rPr sz="1200">
                          <a:solidFill>
                            <a:srgbClr val="282828"/>
                          </a:solidFill>
                        </a:rPr>
                        <a:t>0</a:t>
                      </a:r>
                    </a:p>
                  </a:txBody>
                  <a:tcPr>
                    <a:solidFill>
                      <a:srgbClr val="FFFFFF"/>
                    </a:solidFill>
                  </a:tcPr>
                </a:tc>
                <a:tc>
                  <a:txBody>
                    <a:bodyPr/>
                    <a:lstStyle/>
                    <a:p>
                      <a:pPr algn="ctr"/>
                      <a:r>
                        <a:rPr sz="1200">
                          <a:solidFill>
                            <a:srgbClr val="282828"/>
                          </a:solidFill>
                        </a:rPr>
                        <a:t>1</a:t>
                      </a:r>
                    </a:p>
                  </a:txBody>
                  <a:tcPr>
                    <a:solidFill>
                      <a:srgbClr val="FFFFFF"/>
                    </a:solidFill>
                  </a:tcPr>
                </a:tc>
                <a:tc>
                  <a:txBody>
                    <a:bodyPr/>
                    <a:lstStyle/>
                    <a:p>
                      <a:pPr algn="ctr"/>
                      <a:r>
                        <a:rPr sz="1200">
                          <a:solidFill>
                            <a:srgbClr val="282828"/>
                          </a:solidFill>
                        </a:rPr>
                        <a:t>0</a:t>
                      </a:r>
                    </a:p>
                  </a:txBody>
                  <a:tcPr>
                    <a:solidFill>
                      <a:srgbClr val="FFFFFF"/>
                    </a:solidFill>
                  </a:tcPr>
                </a:tc>
                <a:extLst>
                  <a:ext uri="{0D108BD9-81ED-4DB2-BD59-A6C34878D82A}">
                    <a16:rowId xmlns:a16="http://schemas.microsoft.com/office/drawing/2014/main" val="10002"/>
                  </a:ext>
                </a:extLst>
              </a:tr>
              <a:tr h="457200">
                <a:tc>
                  <a:txBody>
                    <a:bodyPr/>
                    <a:lstStyle/>
                    <a:p>
                      <a:pPr algn="ctr"/>
                      <a:r>
                        <a:rPr sz="1200">
                          <a:solidFill>
                            <a:srgbClr val="282828"/>
                          </a:solidFill>
                        </a:rPr>
                        <a:t>v₃</a:t>
                      </a:r>
                    </a:p>
                  </a:txBody>
                  <a:tcPr>
                    <a:solidFill>
                      <a:srgbClr val="EFF4F9"/>
                    </a:solidFill>
                  </a:tcPr>
                </a:tc>
                <a:tc>
                  <a:txBody>
                    <a:bodyPr/>
                    <a:lstStyle/>
                    <a:p>
                      <a:pPr algn="ctr"/>
                      <a:r>
                        <a:rPr sz="1200">
                          <a:solidFill>
                            <a:srgbClr val="282828"/>
                          </a:solidFill>
                        </a:rPr>
                        <a:t>0</a:t>
                      </a:r>
                    </a:p>
                  </a:txBody>
                  <a:tcPr>
                    <a:solidFill>
                      <a:srgbClr val="EFF4F9"/>
                    </a:solidFill>
                  </a:tcPr>
                </a:tc>
                <a:tc>
                  <a:txBody>
                    <a:bodyPr/>
                    <a:lstStyle/>
                    <a:p>
                      <a:pPr algn="ctr"/>
                      <a:r>
                        <a:rPr sz="1200">
                          <a:solidFill>
                            <a:srgbClr val="282828"/>
                          </a:solidFill>
                        </a:rPr>
                        <a:t>0</a:t>
                      </a:r>
                    </a:p>
                  </a:txBody>
                  <a:tcPr>
                    <a:solidFill>
                      <a:srgbClr val="EFF4F9"/>
                    </a:solidFill>
                  </a:tcPr>
                </a:tc>
                <a:tc>
                  <a:txBody>
                    <a:bodyPr/>
                    <a:lstStyle/>
                    <a:p>
                      <a:pPr algn="ctr"/>
                      <a:r>
                        <a:rPr sz="1200" dirty="0">
                          <a:solidFill>
                            <a:srgbClr val="282828"/>
                          </a:solidFill>
                        </a:rPr>
                        <a:t>1</a:t>
                      </a:r>
                    </a:p>
                  </a:txBody>
                  <a:tcPr>
                    <a:solidFill>
                      <a:srgbClr val="EFF4F9"/>
                    </a:solid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7406640" y="1280160"/>
          <a:ext cx="4251960" cy="2331720"/>
        </p:xfrm>
        <a:graphic>
          <a:graphicData uri="http://schemas.openxmlformats.org/drawingml/2006/table">
            <a:tbl>
              <a:tblPr firstRow="1" bandRow="1">
                <a:tableStyleId>{5C22544A-7EE6-4342-B048-85BDC9FD1C3A}</a:tableStyleId>
              </a:tblPr>
              <a:tblGrid>
                <a:gridCol w="1062990">
                  <a:extLst>
                    <a:ext uri="{9D8B030D-6E8A-4147-A177-3AD203B41FA5}">
                      <a16:colId xmlns:a16="http://schemas.microsoft.com/office/drawing/2014/main" val="20000"/>
                    </a:ext>
                  </a:extLst>
                </a:gridCol>
                <a:gridCol w="1062990">
                  <a:extLst>
                    <a:ext uri="{9D8B030D-6E8A-4147-A177-3AD203B41FA5}">
                      <a16:colId xmlns:a16="http://schemas.microsoft.com/office/drawing/2014/main" val="20001"/>
                    </a:ext>
                  </a:extLst>
                </a:gridCol>
                <a:gridCol w="1062990">
                  <a:extLst>
                    <a:ext uri="{9D8B030D-6E8A-4147-A177-3AD203B41FA5}">
                      <a16:colId xmlns:a16="http://schemas.microsoft.com/office/drawing/2014/main" val="20002"/>
                    </a:ext>
                  </a:extLst>
                </a:gridCol>
                <a:gridCol w="1062990">
                  <a:extLst>
                    <a:ext uri="{9D8B030D-6E8A-4147-A177-3AD203B41FA5}">
                      <a16:colId xmlns:a16="http://schemas.microsoft.com/office/drawing/2014/main" val="20003"/>
                    </a:ext>
                  </a:extLst>
                </a:gridCol>
              </a:tblGrid>
              <a:tr h="388620">
                <a:tc>
                  <a:txBody>
                    <a:bodyPr/>
                    <a:lstStyle/>
                    <a:p>
                      <a:pPr algn="ctr"/>
                      <a:r>
                        <a:rPr sz="1000" b="1">
                          <a:solidFill>
                            <a:srgbClr val="FFFFFF"/>
                          </a:solidFill>
                        </a:rPr>
                        <a:t>Pt.</a:t>
                      </a:r>
                    </a:p>
                  </a:txBody>
                  <a:tcPr>
                    <a:solidFill>
                      <a:srgbClr val="1A2B43"/>
                    </a:solidFill>
                  </a:tcPr>
                </a:tc>
                <a:tc>
                  <a:txBody>
                    <a:bodyPr/>
                    <a:lstStyle/>
                    <a:p>
                      <a:pPr algn="ctr"/>
                      <a:r>
                        <a:rPr sz="1000" b="1">
                          <a:solidFill>
                            <a:srgbClr val="FFFFFF"/>
                          </a:solidFill>
                        </a:rPr>
                        <a:t>Services</a:t>
                      </a:r>
                    </a:p>
                  </a:txBody>
                  <a:tcPr>
                    <a:solidFill>
                      <a:srgbClr val="1A2B43"/>
                    </a:solidFill>
                  </a:tcPr>
                </a:tc>
                <a:tc>
                  <a:txBody>
                    <a:bodyPr/>
                    <a:lstStyle/>
                    <a:p>
                      <a:pPr algn="ctr"/>
                      <a:r>
                        <a:rPr sz="1000" b="1">
                          <a:solidFill>
                            <a:srgbClr val="FFFFFF"/>
                          </a:solidFill>
                        </a:rPr>
                        <a:t>Rule</a:t>
                      </a:r>
                    </a:p>
                  </a:txBody>
                  <a:tcPr>
                    <a:solidFill>
                      <a:srgbClr val="1A2B43"/>
                    </a:solidFill>
                  </a:tcPr>
                </a:tc>
                <a:tc>
                  <a:txBody>
                    <a:bodyPr/>
                    <a:lstStyle/>
                    <a:p>
                      <a:pPr algn="ctr"/>
                      <a:r>
                        <a:rPr sz="1000" b="1">
                          <a:solidFill>
                            <a:srgbClr val="FFFFFF"/>
                          </a:solidFill>
                        </a:rPr>
                        <a:t>Window</a:t>
                      </a:r>
                    </a:p>
                  </a:txBody>
                  <a:tcPr>
                    <a:solidFill>
                      <a:srgbClr val="1A2B43"/>
                    </a:solidFill>
                  </a:tcPr>
                </a:tc>
                <a:extLst>
                  <a:ext uri="{0D108BD9-81ED-4DB2-BD59-A6C34878D82A}">
                    <a16:rowId xmlns:a16="http://schemas.microsoft.com/office/drawing/2014/main" val="10000"/>
                  </a:ext>
                </a:extLst>
              </a:tr>
              <a:tr h="388620">
                <a:tc>
                  <a:txBody>
                    <a:bodyPr/>
                    <a:lstStyle/>
                    <a:p>
                      <a:pPr algn="ctr"/>
                      <a:r>
                        <a:rPr sz="1000">
                          <a:solidFill>
                            <a:srgbClr val="282828"/>
                          </a:solidFill>
                        </a:rPr>
                        <a:t>1</a:t>
                      </a:r>
                    </a:p>
                  </a:txBody>
                  <a:tcPr>
                    <a:solidFill>
                      <a:srgbClr val="EFF4F9"/>
                    </a:solidFill>
                  </a:tcPr>
                </a:tc>
                <a:tc>
                  <a:txBody>
                    <a:bodyPr/>
                    <a:lstStyle/>
                    <a:p>
                      <a:pPr algn="ctr"/>
                      <a:r>
                        <a:rPr sz="1000">
                          <a:solidFill>
                            <a:srgbClr val="282828"/>
                          </a:solidFill>
                        </a:rPr>
                        <a:t>N</a:t>
                      </a:r>
                    </a:p>
                  </a:txBody>
                  <a:tcPr>
                    <a:solidFill>
                      <a:srgbClr val="EFF4F9"/>
                    </a:solidFill>
                  </a:tcPr>
                </a:tc>
                <a:tc>
                  <a:txBody>
                    <a:bodyPr/>
                    <a:lstStyle/>
                    <a:p>
                      <a:pPr algn="ctr"/>
                      <a:r>
                        <a:rPr sz="1000">
                          <a:solidFill>
                            <a:srgbClr val="282828"/>
                          </a:solidFill>
                        </a:rPr>
                        <a:t>Single</a:t>
                      </a:r>
                    </a:p>
                  </a:txBody>
                  <a:tcPr>
                    <a:solidFill>
                      <a:srgbClr val="EFF4F9"/>
                    </a:solidFill>
                  </a:tcPr>
                </a:tc>
                <a:tc>
                  <a:txBody>
                    <a:bodyPr/>
                    <a:lstStyle/>
                    <a:p>
                      <a:pPr algn="ctr"/>
                      <a:r>
                        <a:rPr sz="1000">
                          <a:solidFill>
                            <a:srgbClr val="282828"/>
                          </a:solidFill>
                        </a:rPr>
                        <a:t>08:30–09:00</a:t>
                      </a:r>
                    </a:p>
                  </a:txBody>
                  <a:tcPr>
                    <a:solidFill>
                      <a:srgbClr val="EFF4F9"/>
                    </a:solidFill>
                  </a:tcPr>
                </a:tc>
                <a:extLst>
                  <a:ext uri="{0D108BD9-81ED-4DB2-BD59-A6C34878D82A}">
                    <a16:rowId xmlns:a16="http://schemas.microsoft.com/office/drawing/2014/main" val="10001"/>
                  </a:ext>
                </a:extLst>
              </a:tr>
              <a:tr h="388620">
                <a:tc>
                  <a:txBody>
                    <a:bodyPr/>
                    <a:lstStyle/>
                    <a:p>
                      <a:pPr algn="ctr"/>
                      <a:r>
                        <a:rPr sz="1000">
                          <a:solidFill>
                            <a:srgbClr val="282828"/>
                          </a:solidFill>
                        </a:rPr>
                        <a:t>2</a:t>
                      </a:r>
                    </a:p>
                  </a:txBody>
                  <a:tcPr>
                    <a:solidFill>
                      <a:srgbClr val="FFFFFF"/>
                    </a:solidFill>
                  </a:tcPr>
                </a:tc>
                <a:tc>
                  <a:txBody>
                    <a:bodyPr/>
                    <a:lstStyle/>
                    <a:p>
                      <a:pPr algn="ctr"/>
                      <a:r>
                        <a:rPr sz="1000">
                          <a:solidFill>
                            <a:srgbClr val="282828"/>
                          </a:solidFill>
                        </a:rPr>
                        <a:t>N + P</a:t>
                      </a:r>
                    </a:p>
                  </a:txBody>
                  <a:tcPr>
                    <a:solidFill>
                      <a:srgbClr val="FFFFFF"/>
                    </a:solidFill>
                  </a:tcPr>
                </a:tc>
                <a:tc>
                  <a:txBody>
                    <a:bodyPr/>
                    <a:lstStyle/>
                    <a:p>
                      <a:pPr algn="ctr"/>
                      <a:r>
                        <a:rPr sz="1000">
                          <a:solidFill>
                            <a:srgbClr val="282828"/>
                          </a:solidFill>
                        </a:rPr>
                        <a:t>Simultaneous</a:t>
                      </a:r>
                    </a:p>
                  </a:txBody>
                  <a:tcPr>
                    <a:solidFill>
                      <a:srgbClr val="FFFFFF"/>
                    </a:solidFill>
                  </a:tcPr>
                </a:tc>
                <a:tc>
                  <a:txBody>
                    <a:bodyPr/>
                    <a:lstStyle/>
                    <a:p>
                      <a:pPr algn="ctr"/>
                      <a:r>
                        <a:rPr sz="1000">
                          <a:solidFill>
                            <a:srgbClr val="282828"/>
                          </a:solidFill>
                        </a:rPr>
                        <a:t>09:15–09:45</a:t>
                      </a:r>
                    </a:p>
                  </a:txBody>
                  <a:tcPr>
                    <a:solidFill>
                      <a:srgbClr val="FFFFFF"/>
                    </a:solidFill>
                  </a:tcPr>
                </a:tc>
                <a:extLst>
                  <a:ext uri="{0D108BD9-81ED-4DB2-BD59-A6C34878D82A}">
                    <a16:rowId xmlns:a16="http://schemas.microsoft.com/office/drawing/2014/main" val="10002"/>
                  </a:ext>
                </a:extLst>
              </a:tr>
              <a:tr h="388620">
                <a:tc>
                  <a:txBody>
                    <a:bodyPr/>
                    <a:lstStyle/>
                    <a:p>
                      <a:pPr algn="ctr"/>
                      <a:r>
                        <a:rPr sz="1000">
                          <a:solidFill>
                            <a:srgbClr val="282828"/>
                          </a:solidFill>
                        </a:rPr>
                        <a:t>3</a:t>
                      </a:r>
                    </a:p>
                  </a:txBody>
                  <a:tcPr>
                    <a:solidFill>
                      <a:srgbClr val="EFF4F9"/>
                    </a:solidFill>
                  </a:tcPr>
                </a:tc>
                <a:tc>
                  <a:txBody>
                    <a:bodyPr/>
                    <a:lstStyle/>
                    <a:p>
                      <a:pPr algn="ctr"/>
                      <a:r>
                        <a:rPr sz="1000">
                          <a:solidFill>
                            <a:srgbClr val="282828"/>
                          </a:solidFill>
                        </a:rPr>
                        <a:t>P</a:t>
                      </a:r>
                    </a:p>
                  </a:txBody>
                  <a:tcPr>
                    <a:solidFill>
                      <a:srgbClr val="EFF4F9"/>
                    </a:solidFill>
                  </a:tcPr>
                </a:tc>
                <a:tc>
                  <a:txBody>
                    <a:bodyPr/>
                    <a:lstStyle/>
                    <a:p>
                      <a:pPr algn="ctr"/>
                      <a:r>
                        <a:rPr sz="1000">
                          <a:solidFill>
                            <a:srgbClr val="282828"/>
                          </a:solidFill>
                        </a:rPr>
                        <a:t>Single</a:t>
                      </a:r>
                    </a:p>
                  </a:txBody>
                  <a:tcPr>
                    <a:solidFill>
                      <a:srgbClr val="EFF4F9"/>
                    </a:solidFill>
                  </a:tcPr>
                </a:tc>
                <a:tc>
                  <a:txBody>
                    <a:bodyPr/>
                    <a:lstStyle/>
                    <a:p>
                      <a:pPr algn="ctr"/>
                      <a:r>
                        <a:rPr sz="1000">
                          <a:solidFill>
                            <a:srgbClr val="282828"/>
                          </a:solidFill>
                        </a:rPr>
                        <a:t>09:50–09:55</a:t>
                      </a:r>
                    </a:p>
                  </a:txBody>
                  <a:tcPr>
                    <a:solidFill>
                      <a:srgbClr val="EFF4F9"/>
                    </a:solidFill>
                  </a:tcPr>
                </a:tc>
                <a:extLst>
                  <a:ext uri="{0D108BD9-81ED-4DB2-BD59-A6C34878D82A}">
                    <a16:rowId xmlns:a16="http://schemas.microsoft.com/office/drawing/2014/main" val="10003"/>
                  </a:ext>
                </a:extLst>
              </a:tr>
              <a:tr h="388620">
                <a:tc>
                  <a:txBody>
                    <a:bodyPr/>
                    <a:lstStyle/>
                    <a:p>
                      <a:pPr algn="ctr"/>
                      <a:r>
                        <a:rPr sz="1000">
                          <a:solidFill>
                            <a:srgbClr val="282828"/>
                          </a:solidFill>
                        </a:rPr>
                        <a:t>4</a:t>
                      </a:r>
                    </a:p>
                  </a:txBody>
                  <a:tcPr>
                    <a:solidFill>
                      <a:srgbClr val="FFFFFF"/>
                    </a:solidFill>
                  </a:tcPr>
                </a:tc>
                <a:tc>
                  <a:txBody>
                    <a:bodyPr/>
                    <a:lstStyle/>
                    <a:p>
                      <a:pPr algn="ctr"/>
                      <a:r>
                        <a:rPr sz="1000">
                          <a:solidFill>
                            <a:srgbClr val="282828"/>
                          </a:solidFill>
                        </a:rPr>
                        <a:t>N + H</a:t>
                      </a:r>
                    </a:p>
                  </a:txBody>
                  <a:tcPr>
                    <a:solidFill>
                      <a:srgbClr val="FFFFFF"/>
                    </a:solidFill>
                  </a:tcPr>
                </a:tc>
                <a:tc>
                  <a:txBody>
                    <a:bodyPr/>
                    <a:lstStyle/>
                    <a:p>
                      <a:pPr algn="ctr"/>
                      <a:r>
                        <a:rPr sz="1000">
                          <a:solidFill>
                            <a:srgbClr val="282828"/>
                          </a:solidFill>
                        </a:rPr>
                        <a:t>Precedence</a:t>
                      </a:r>
                    </a:p>
                  </a:txBody>
                  <a:tcPr>
                    <a:solidFill>
                      <a:srgbClr val="FFFFFF"/>
                    </a:solidFill>
                  </a:tcPr>
                </a:tc>
                <a:tc>
                  <a:txBody>
                    <a:bodyPr/>
                    <a:lstStyle/>
                    <a:p>
                      <a:pPr algn="ctr"/>
                      <a:r>
                        <a:rPr sz="1000">
                          <a:solidFill>
                            <a:srgbClr val="282828"/>
                          </a:solidFill>
                        </a:rPr>
                        <a:t>10:15–11:00</a:t>
                      </a:r>
                    </a:p>
                  </a:txBody>
                  <a:tcPr>
                    <a:solidFill>
                      <a:srgbClr val="FFFFFF"/>
                    </a:solidFill>
                  </a:tcPr>
                </a:tc>
                <a:extLst>
                  <a:ext uri="{0D108BD9-81ED-4DB2-BD59-A6C34878D82A}">
                    <a16:rowId xmlns:a16="http://schemas.microsoft.com/office/drawing/2014/main" val="10004"/>
                  </a:ext>
                </a:extLst>
              </a:tr>
              <a:tr h="388620">
                <a:tc>
                  <a:txBody>
                    <a:bodyPr/>
                    <a:lstStyle/>
                    <a:p>
                      <a:pPr algn="ctr"/>
                      <a:r>
                        <a:rPr sz="1000">
                          <a:solidFill>
                            <a:srgbClr val="282828"/>
                          </a:solidFill>
                        </a:rPr>
                        <a:t>5</a:t>
                      </a:r>
                    </a:p>
                  </a:txBody>
                  <a:tcPr>
                    <a:solidFill>
                      <a:srgbClr val="EFF4F9"/>
                    </a:solidFill>
                  </a:tcPr>
                </a:tc>
                <a:tc>
                  <a:txBody>
                    <a:bodyPr/>
                    <a:lstStyle/>
                    <a:p>
                      <a:pPr algn="ctr"/>
                      <a:r>
                        <a:rPr sz="1000">
                          <a:solidFill>
                            <a:srgbClr val="282828"/>
                          </a:solidFill>
                        </a:rPr>
                        <a:t>H</a:t>
                      </a:r>
                    </a:p>
                  </a:txBody>
                  <a:tcPr>
                    <a:solidFill>
                      <a:srgbClr val="EFF4F9"/>
                    </a:solidFill>
                  </a:tcPr>
                </a:tc>
                <a:tc>
                  <a:txBody>
                    <a:bodyPr/>
                    <a:lstStyle/>
                    <a:p>
                      <a:pPr algn="ctr"/>
                      <a:r>
                        <a:rPr sz="1000">
                          <a:solidFill>
                            <a:srgbClr val="282828"/>
                          </a:solidFill>
                        </a:rPr>
                        <a:t>Single</a:t>
                      </a:r>
                    </a:p>
                  </a:txBody>
                  <a:tcPr>
                    <a:solidFill>
                      <a:srgbClr val="EFF4F9"/>
                    </a:solidFill>
                  </a:tcPr>
                </a:tc>
                <a:tc>
                  <a:txBody>
                    <a:bodyPr/>
                    <a:lstStyle/>
                    <a:p>
                      <a:pPr algn="ctr"/>
                      <a:r>
                        <a:rPr sz="1000">
                          <a:solidFill>
                            <a:srgbClr val="282828"/>
                          </a:solidFill>
                        </a:rPr>
                        <a:t>11:30–11:40</a:t>
                      </a:r>
                    </a:p>
                  </a:txBody>
                  <a:tcPr>
                    <a:solidFill>
                      <a:srgbClr val="EFF4F9"/>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502920" y="3794760"/>
            <a:ext cx="11155680" cy="405432"/>
          </a:xfrm>
          <a:prstGeom prst="roundRect">
            <a:avLst/>
          </a:prstGeom>
          <a:solidFill>
            <a:srgbClr val="FAF7EB"/>
          </a:solidFill>
          <a:ln>
            <a:solidFill>
              <a:srgbClr val="C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819096"/>
            <a:ext cx="10698480" cy="502920"/>
          </a:xfrm>
          <a:prstGeom prst="rect">
            <a:avLst/>
          </a:prstGeom>
          <a:noFill/>
        </p:spPr>
        <p:txBody>
          <a:bodyPr wrap="square">
            <a:spAutoFit/>
          </a:bodyPr>
          <a:lstStyle/>
          <a:p>
            <a:pPr algn="ctr"/>
            <a:r>
              <a:rPr sz="1800" b="1" dirty="0">
                <a:solidFill>
                  <a:srgbClr val="1A2B43"/>
                </a:solidFill>
              </a:rPr>
              <a:t>Double-service constraints:  Patient 2 → </a:t>
            </a:r>
            <a:r>
              <a:rPr sz="1800" b="1" dirty="0" err="1">
                <a:solidFill>
                  <a:srgbClr val="1A2B43"/>
                </a:solidFill>
              </a:rPr>
              <a:t>t₂,N</a:t>
            </a:r>
            <a:r>
              <a:rPr sz="1800" b="1" dirty="0">
                <a:solidFill>
                  <a:srgbClr val="1A2B43"/>
                </a:solidFill>
              </a:rPr>
              <a:t> = </a:t>
            </a:r>
            <a:r>
              <a:rPr sz="1800" b="1" dirty="0" err="1">
                <a:solidFill>
                  <a:srgbClr val="1A2B43"/>
                </a:solidFill>
              </a:rPr>
              <a:t>t₂,P</a:t>
            </a:r>
            <a:r>
              <a:rPr sz="1800" b="1" dirty="0">
                <a:solidFill>
                  <a:srgbClr val="1A2B43"/>
                </a:solidFill>
              </a:rPr>
              <a:t>   |   Patient 4 → 20 ≤ </a:t>
            </a:r>
            <a:r>
              <a:rPr sz="1800" b="1" dirty="0" err="1">
                <a:solidFill>
                  <a:srgbClr val="1A2B43"/>
                </a:solidFill>
              </a:rPr>
              <a:t>t₄,H</a:t>
            </a:r>
            <a:r>
              <a:rPr sz="1800" b="1" dirty="0">
                <a:solidFill>
                  <a:srgbClr val="1A2B43"/>
                </a:solidFill>
              </a:rPr>
              <a:t> − </a:t>
            </a:r>
            <a:r>
              <a:rPr sz="1800" b="1" dirty="0" err="1">
                <a:solidFill>
                  <a:srgbClr val="1A2B43"/>
                </a:solidFill>
              </a:rPr>
              <a:t>t₄,N</a:t>
            </a:r>
            <a:r>
              <a:rPr sz="1800" b="1" dirty="0">
                <a:solidFill>
                  <a:srgbClr val="1A2B43"/>
                </a:solidFill>
              </a:rPr>
              <a:t> ≤ 40 min</a:t>
            </a:r>
          </a:p>
        </p:txBody>
      </p:sp>
      <p:sp>
        <p:nvSpPr>
          <p:cNvPr id="12" name="TextBox 11"/>
          <p:cNvSpPr txBox="1"/>
          <p:nvPr/>
        </p:nvSpPr>
        <p:spPr>
          <a:xfrm>
            <a:off x="594360" y="4937760"/>
            <a:ext cx="3246120" cy="523220"/>
          </a:xfrm>
          <a:prstGeom prst="rect">
            <a:avLst/>
          </a:prstGeom>
          <a:noFill/>
        </p:spPr>
        <p:txBody>
          <a:bodyPr wrap="square">
            <a:spAutoFit/>
          </a:bodyPr>
          <a:lstStyle/>
          <a:p>
            <a:r>
              <a:rPr lang="it-IT" sz="1400" b="1" dirty="0" err="1">
                <a:solidFill>
                  <a:srgbClr val="1A2B43"/>
                </a:solidFill>
              </a:rPr>
              <a:t>Symmetric</a:t>
            </a:r>
            <a:r>
              <a:rPr lang="it-IT" sz="1400" b="1" dirty="0">
                <a:solidFill>
                  <a:srgbClr val="1A2B43"/>
                </a:solidFill>
              </a:rPr>
              <a:t> </a:t>
            </a:r>
            <a:r>
              <a:rPr sz="1400" b="1" dirty="0">
                <a:solidFill>
                  <a:srgbClr val="1A2B43"/>
                </a:solidFill>
              </a:rPr>
              <a:t>Travel-time </a:t>
            </a:r>
            <a:r>
              <a:rPr lang="it-IT" sz="1400" b="1" dirty="0">
                <a:solidFill>
                  <a:srgbClr val="1A2B43"/>
                </a:solidFill>
              </a:rPr>
              <a:t>Matrix</a:t>
            </a:r>
            <a:r>
              <a:rPr sz="1400" b="1" dirty="0">
                <a:solidFill>
                  <a:srgbClr val="1A2B43"/>
                </a:solidFill>
              </a:rPr>
              <a:t> distance matrix</a:t>
            </a:r>
          </a:p>
        </p:txBody>
      </p:sp>
      <p:graphicFrame>
        <p:nvGraphicFramePr>
          <p:cNvPr id="13" name="Table 12"/>
          <p:cNvGraphicFramePr>
            <a:graphicFrameLocks noGrp="1"/>
          </p:cNvGraphicFramePr>
          <p:nvPr/>
        </p:nvGraphicFramePr>
        <p:xfrm>
          <a:off x="594360" y="5230368"/>
          <a:ext cx="5806440" cy="1493520"/>
        </p:xfrm>
        <a:graphic>
          <a:graphicData uri="http://schemas.openxmlformats.org/drawingml/2006/table">
            <a:tbl>
              <a:tblPr firstRow="1" bandRow="1">
                <a:tableStyleId>{5C22544A-7EE6-4342-B048-85BDC9FD1C3A}</a:tableStyleId>
              </a:tblPr>
              <a:tblGrid>
                <a:gridCol w="829491">
                  <a:extLst>
                    <a:ext uri="{9D8B030D-6E8A-4147-A177-3AD203B41FA5}">
                      <a16:colId xmlns:a16="http://schemas.microsoft.com/office/drawing/2014/main" val="20000"/>
                    </a:ext>
                  </a:extLst>
                </a:gridCol>
                <a:gridCol w="829491">
                  <a:extLst>
                    <a:ext uri="{9D8B030D-6E8A-4147-A177-3AD203B41FA5}">
                      <a16:colId xmlns:a16="http://schemas.microsoft.com/office/drawing/2014/main" val="20001"/>
                    </a:ext>
                  </a:extLst>
                </a:gridCol>
                <a:gridCol w="829491">
                  <a:extLst>
                    <a:ext uri="{9D8B030D-6E8A-4147-A177-3AD203B41FA5}">
                      <a16:colId xmlns:a16="http://schemas.microsoft.com/office/drawing/2014/main" val="20002"/>
                    </a:ext>
                  </a:extLst>
                </a:gridCol>
                <a:gridCol w="829491">
                  <a:extLst>
                    <a:ext uri="{9D8B030D-6E8A-4147-A177-3AD203B41FA5}">
                      <a16:colId xmlns:a16="http://schemas.microsoft.com/office/drawing/2014/main" val="20003"/>
                    </a:ext>
                  </a:extLst>
                </a:gridCol>
                <a:gridCol w="829491">
                  <a:extLst>
                    <a:ext uri="{9D8B030D-6E8A-4147-A177-3AD203B41FA5}">
                      <a16:colId xmlns:a16="http://schemas.microsoft.com/office/drawing/2014/main" val="20004"/>
                    </a:ext>
                  </a:extLst>
                </a:gridCol>
                <a:gridCol w="829491">
                  <a:extLst>
                    <a:ext uri="{9D8B030D-6E8A-4147-A177-3AD203B41FA5}">
                      <a16:colId xmlns:a16="http://schemas.microsoft.com/office/drawing/2014/main" val="20005"/>
                    </a:ext>
                  </a:extLst>
                </a:gridCol>
                <a:gridCol w="829494">
                  <a:extLst>
                    <a:ext uri="{9D8B030D-6E8A-4147-A177-3AD203B41FA5}">
                      <a16:colId xmlns:a16="http://schemas.microsoft.com/office/drawing/2014/main" val="20006"/>
                    </a:ext>
                  </a:extLst>
                </a:gridCol>
              </a:tblGrid>
              <a:tr h="189411">
                <a:tc>
                  <a:txBody>
                    <a:bodyPr/>
                    <a:lstStyle/>
                    <a:p>
                      <a:pPr algn="ctr"/>
                      <a:r>
                        <a:rPr sz="800" b="1">
                          <a:solidFill>
                            <a:srgbClr val="FFFFFF"/>
                          </a:solidFill>
                        </a:rPr>
                        <a:t>From/To</a:t>
                      </a:r>
                    </a:p>
                  </a:txBody>
                  <a:tcPr>
                    <a:solidFill>
                      <a:srgbClr val="1A2B43"/>
                    </a:solidFill>
                  </a:tcPr>
                </a:tc>
                <a:tc>
                  <a:txBody>
                    <a:bodyPr/>
                    <a:lstStyle/>
                    <a:p>
                      <a:pPr algn="ctr"/>
                      <a:r>
                        <a:rPr sz="800" b="1">
                          <a:solidFill>
                            <a:srgbClr val="FFFFFF"/>
                          </a:solidFill>
                        </a:rPr>
                        <a:t>0</a:t>
                      </a:r>
                    </a:p>
                  </a:txBody>
                  <a:tcPr>
                    <a:solidFill>
                      <a:srgbClr val="1A2B43"/>
                    </a:solidFill>
                  </a:tcPr>
                </a:tc>
                <a:tc>
                  <a:txBody>
                    <a:bodyPr/>
                    <a:lstStyle/>
                    <a:p>
                      <a:pPr algn="ctr"/>
                      <a:r>
                        <a:rPr sz="800" b="1">
                          <a:solidFill>
                            <a:srgbClr val="FFFFFF"/>
                          </a:solidFill>
                        </a:rPr>
                        <a:t>1</a:t>
                      </a:r>
                    </a:p>
                  </a:txBody>
                  <a:tcPr>
                    <a:solidFill>
                      <a:srgbClr val="1A2B43"/>
                    </a:solidFill>
                  </a:tcPr>
                </a:tc>
                <a:tc>
                  <a:txBody>
                    <a:bodyPr/>
                    <a:lstStyle/>
                    <a:p>
                      <a:pPr algn="ctr"/>
                      <a:r>
                        <a:rPr sz="800" b="1">
                          <a:solidFill>
                            <a:srgbClr val="FFFFFF"/>
                          </a:solidFill>
                        </a:rPr>
                        <a:t>2</a:t>
                      </a:r>
                    </a:p>
                  </a:txBody>
                  <a:tcPr>
                    <a:solidFill>
                      <a:srgbClr val="1A2B43"/>
                    </a:solidFill>
                  </a:tcPr>
                </a:tc>
                <a:tc>
                  <a:txBody>
                    <a:bodyPr/>
                    <a:lstStyle/>
                    <a:p>
                      <a:pPr algn="ctr"/>
                      <a:r>
                        <a:rPr sz="800" b="1">
                          <a:solidFill>
                            <a:srgbClr val="FFFFFF"/>
                          </a:solidFill>
                        </a:rPr>
                        <a:t>3</a:t>
                      </a:r>
                    </a:p>
                  </a:txBody>
                  <a:tcPr>
                    <a:solidFill>
                      <a:srgbClr val="1A2B43"/>
                    </a:solidFill>
                  </a:tcPr>
                </a:tc>
                <a:tc>
                  <a:txBody>
                    <a:bodyPr/>
                    <a:lstStyle/>
                    <a:p>
                      <a:pPr algn="ctr"/>
                      <a:r>
                        <a:rPr sz="800" b="1">
                          <a:solidFill>
                            <a:srgbClr val="FFFFFF"/>
                          </a:solidFill>
                        </a:rPr>
                        <a:t>4</a:t>
                      </a:r>
                    </a:p>
                  </a:txBody>
                  <a:tcPr>
                    <a:solidFill>
                      <a:srgbClr val="1A2B43"/>
                    </a:solidFill>
                  </a:tcPr>
                </a:tc>
                <a:tc>
                  <a:txBody>
                    <a:bodyPr/>
                    <a:lstStyle/>
                    <a:p>
                      <a:pPr algn="ctr"/>
                      <a:r>
                        <a:rPr sz="800" b="1">
                          <a:solidFill>
                            <a:srgbClr val="FFFFFF"/>
                          </a:solidFill>
                        </a:rPr>
                        <a:t>5</a:t>
                      </a:r>
                    </a:p>
                  </a:txBody>
                  <a:tcPr>
                    <a:solidFill>
                      <a:srgbClr val="1A2B43"/>
                    </a:solidFill>
                  </a:tcPr>
                </a:tc>
                <a:extLst>
                  <a:ext uri="{0D108BD9-81ED-4DB2-BD59-A6C34878D82A}">
                    <a16:rowId xmlns:a16="http://schemas.microsoft.com/office/drawing/2014/main" val="10000"/>
                  </a:ext>
                </a:extLst>
              </a:tr>
              <a:tr h="189411">
                <a:tc>
                  <a:txBody>
                    <a:bodyPr/>
                    <a:lstStyle/>
                    <a:p>
                      <a:pPr algn="ctr"/>
                      <a:r>
                        <a:rPr sz="800">
                          <a:solidFill>
                            <a:srgbClr val="282828"/>
                          </a:solidFill>
                        </a:rPr>
                        <a:t>0</a:t>
                      </a:r>
                    </a:p>
                  </a:txBody>
                  <a:tcPr>
                    <a:solidFill>
                      <a:srgbClr val="EFF4F9"/>
                    </a:solidFill>
                  </a:tcPr>
                </a:tc>
                <a:tc>
                  <a:txBody>
                    <a:bodyPr/>
                    <a:lstStyle/>
                    <a:p>
                      <a:pPr algn="ctr"/>
                      <a:r>
                        <a:rPr sz="800">
                          <a:solidFill>
                            <a:srgbClr val="282828"/>
                          </a:solidFill>
                        </a:rPr>
                        <a:t>–</a:t>
                      </a:r>
                    </a:p>
                  </a:txBody>
                  <a:tcPr>
                    <a:solidFill>
                      <a:srgbClr val="EFF4F9"/>
                    </a:solidFill>
                  </a:tcPr>
                </a:tc>
                <a:tc>
                  <a:txBody>
                    <a:bodyPr/>
                    <a:lstStyle/>
                    <a:p>
                      <a:pPr algn="ctr"/>
                      <a:r>
                        <a:rPr sz="800">
                          <a:solidFill>
                            <a:srgbClr val="282828"/>
                          </a:solidFill>
                        </a:rPr>
                        <a:t>10</a:t>
                      </a:r>
                    </a:p>
                  </a:txBody>
                  <a:tcPr>
                    <a:solidFill>
                      <a:srgbClr val="EFF4F9"/>
                    </a:solidFill>
                  </a:tcPr>
                </a:tc>
                <a:tc>
                  <a:txBody>
                    <a:bodyPr/>
                    <a:lstStyle/>
                    <a:p>
                      <a:pPr algn="ctr"/>
                      <a:r>
                        <a:rPr sz="800">
                          <a:solidFill>
                            <a:srgbClr val="282828"/>
                          </a:solidFill>
                        </a:rPr>
                        <a:t>20</a:t>
                      </a:r>
                    </a:p>
                  </a:txBody>
                  <a:tcPr>
                    <a:solidFill>
                      <a:srgbClr val="EFF4F9"/>
                    </a:solidFill>
                  </a:tcPr>
                </a:tc>
                <a:tc>
                  <a:txBody>
                    <a:bodyPr/>
                    <a:lstStyle/>
                    <a:p>
                      <a:pPr algn="ctr"/>
                      <a:r>
                        <a:rPr sz="800">
                          <a:solidFill>
                            <a:srgbClr val="282828"/>
                          </a:solidFill>
                        </a:rPr>
                        <a:t>30</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20</a:t>
                      </a:r>
                    </a:p>
                  </a:txBody>
                  <a:tcPr>
                    <a:solidFill>
                      <a:srgbClr val="EFF4F9"/>
                    </a:solidFill>
                  </a:tcPr>
                </a:tc>
                <a:extLst>
                  <a:ext uri="{0D108BD9-81ED-4DB2-BD59-A6C34878D82A}">
                    <a16:rowId xmlns:a16="http://schemas.microsoft.com/office/drawing/2014/main" val="10001"/>
                  </a:ext>
                </a:extLst>
              </a:tr>
              <a:tr h="189411">
                <a:tc>
                  <a:txBody>
                    <a:bodyPr/>
                    <a:lstStyle/>
                    <a:p>
                      <a:pPr algn="ctr"/>
                      <a:r>
                        <a:rPr sz="800">
                          <a:solidFill>
                            <a:srgbClr val="282828"/>
                          </a:solidFill>
                        </a:rPr>
                        <a:t>1</a:t>
                      </a:r>
                    </a:p>
                  </a:txBody>
                  <a:tcPr>
                    <a:solidFill>
                      <a:srgbClr val="FFFFFF"/>
                    </a:solidFill>
                  </a:tcPr>
                </a:tc>
                <a:tc>
                  <a:txBody>
                    <a:bodyPr/>
                    <a:lstStyle/>
                    <a:p>
                      <a:pPr algn="ctr"/>
                      <a:r>
                        <a:rPr sz="800">
                          <a:solidFill>
                            <a:srgbClr val="282828"/>
                          </a:solidFill>
                        </a:rPr>
                        <a:t>10</a:t>
                      </a:r>
                    </a:p>
                  </a:txBody>
                  <a:tcPr>
                    <a:solidFill>
                      <a:srgbClr val="FFFFFF"/>
                    </a:solidFill>
                  </a:tcPr>
                </a:tc>
                <a:tc>
                  <a:txBody>
                    <a:bodyPr/>
                    <a:lstStyle/>
                    <a:p>
                      <a:pPr algn="ctr"/>
                      <a:r>
                        <a:rPr sz="800">
                          <a:solidFill>
                            <a:srgbClr val="282828"/>
                          </a:solidFill>
                        </a:rPr>
                        <a:t>–</a:t>
                      </a:r>
                    </a:p>
                  </a:txBody>
                  <a:tcPr>
                    <a:solidFill>
                      <a:srgbClr val="FFFFFF"/>
                    </a:solidFill>
                  </a:tcPr>
                </a:tc>
                <a:tc>
                  <a:txBody>
                    <a:bodyPr/>
                    <a:lstStyle/>
                    <a:p>
                      <a:pPr algn="ctr"/>
                      <a:r>
                        <a:rPr sz="800">
                          <a:solidFill>
                            <a:srgbClr val="282828"/>
                          </a:solidFill>
                        </a:rPr>
                        <a:t>15</a:t>
                      </a:r>
                    </a:p>
                  </a:txBody>
                  <a:tcPr>
                    <a:solidFill>
                      <a:srgbClr val="FFFFFF"/>
                    </a:solidFill>
                  </a:tcPr>
                </a:tc>
                <a:tc>
                  <a:txBody>
                    <a:bodyPr/>
                    <a:lstStyle/>
                    <a:p>
                      <a:pPr algn="ctr"/>
                      <a:r>
                        <a:rPr sz="800">
                          <a:solidFill>
                            <a:srgbClr val="282828"/>
                          </a:solidFill>
                        </a:rPr>
                        <a:t>25</a:t>
                      </a:r>
                    </a:p>
                  </a:txBody>
                  <a:tcPr>
                    <a:solidFill>
                      <a:srgbClr val="FFFFFF"/>
                    </a:solidFill>
                  </a:tcPr>
                </a:tc>
                <a:tc>
                  <a:txBody>
                    <a:bodyPr/>
                    <a:lstStyle/>
                    <a:p>
                      <a:pPr algn="ctr"/>
                      <a:r>
                        <a:rPr sz="800">
                          <a:solidFill>
                            <a:srgbClr val="282828"/>
                          </a:solidFill>
                        </a:rPr>
                        <a:t>30</a:t>
                      </a:r>
                    </a:p>
                  </a:txBody>
                  <a:tcPr>
                    <a:solidFill>
                      <a:srgbClr val="FFFFFF"/>
                    </a:solidFill>
                  </a:tcPr>
                </a:tc>
                <a:tc>
                  <a:txBody>
                    <a:bodyPr/>
                    <a:lstStyle/>
                    <a:p>
                      <a:pPr algn="ctr"/>
                      <a:r>
                        <a:rPr sz="800">
                          <a:solidFill>
                            <a:srgbClr val="282828"/>
                          </a:solidFill>
                        </a:rPr>
                        <a:t>35</a:t>
                      </a:r>
                    </a:p>
                  </a:txBody>
                  <a:tcPr>
                    <a:solidFill>
                      <a:srgbClr val="FFFFFF"/>
                    </a:solidFill>
                  </a:tcPr>
                </a:tc>
                <a:extLst>
                  <a:ext uri="{0D108BD9-81ED-4DB2-BD59-A6C34878D82A}">
                    <a16:rowId xmlns:a16="http://schemas.microsoft.com/office/drawing/2014/main" val="10002"/>
                  </a:ext>
                </a:extLst>
              </a:tr>
              <a:tr h="189411">
                <a:tc>
                  <a:txBody>
                    <a:bodyPr/>
                    <a:lstStyle/>
                    <a:p>
                      <a:pPr algn="ctr"/>
                      <a:r>
                        <a:rPr sz="800">
                          <a:solidFill>
                            <a:srgbClr val="282828"/>
                          </a:solidFill>
                        </a:rPr>
                        <a:t>2</a:t>
                      </a:r>
                    </a:p>
                  </a:txBody>
                  <a:tcPr>
                    <a:solidFill>
                      <a:srgbClr val="EFF4F9"/>
                    </a:solidFill>
                  </a:tcPr>
                </a:tc>
                <a:tc>
                  <a:txBody>
                    <a:bodyPr/>
                    <a:lstStyle/>
                    <a:p>
                      <a:pPr algn="ctr"/>
                      <a:r>
                        <a:rPr sz="800">
                          <a:solidFill>
                            <a:srgbClr val="282828"/>
                          </a:solidFill>
                        </a:rPr>
                        <a:t>20</a:t>
                      </a:r>
                    </a:p>
                  </a:txBody>
                  <a:tcPr>
                    <a:solidFill>
                      <a:srgbClr val="EFF4F9"/>
                    </a:solidFill>
                  </a:tcPr>
                </a:tc>
                <a:tc>
                  <a:txBody>
                    <a:bodyPr/>
                    <a:lstStyle/>
                    <a:p>
                      <a:pPr algn="ctr"/>
                      <a:r>
                        <a:rPr sz="800">
                          <a:solidFill>
                            <a:srgbClr val="282828"/>
                          </a:solidFill>
                        </a:rPr>
                        <a:t>15</a:t>
                      </a:r>
                    </a:p>
                  </a:txBody>
                  <a:tcPr>
                    <a:solidFill>
                      <a:srgbClr val="EFF4F9"/>
                    </a:solidFill>
                  </a:tcPr>
                </a:tc>
                <a:tc>
                  <a:txBody>
                    <a:bodyPr/>
                    <a:lstStyle/>
                    <a:p>
                      <a:pPr algn="ctr"/>
                      <a:r>
                        <a:rPr sz="800">
                          <a:solidFill>
                            <a:srgbClr val="282828"/>
                          </a:solidFill>
                        </a:rPr>
                        <a:t>–</a:t>
                      </a:r>
                    </a:p>
                  </a:txBody>
                  <a:tcPr>
                    <a:solidFill>
                      <a:srgbClr val="EFF4F9"/>
                    </a:solidFill>
                  </a:tcPr>
                </a:tc>
                <a:tc>
                  <a:txBody>
                    <a:bodyPr/>
                    <a:lstStyle/>
                    <a:p>
                      <a:pPr algn="ctr"/>
                      <a:r>
                        <a:rPr sz="800">
                          <a:solidFill>
                            <a:srgbClr val="282828"/>
                          </a:solidFill>
                        </a:rPr>
                        <a:t>20</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30</a:t>
                      </a:r>
                    </a:p>
                  </a:txBody>
                  <a:tcPr>
                    <a:solidFill>
                      <a:srgbClr val="EFF4F9"/>
                    </a:solidFill>
                  </a:tcPr>
                </a:tc>
                <a:extLst>
                  <a:ext uri="{0D108BD9-81ED-4DB2-BD59-A6C34878D82A}">
                    <a16:rowId xmlns:a16="http://schemas.microsoft.com/office/drawing/2014/main" val="10003"/>
                  </a:ext>
                </a:extLst>
              </a:tr>
              <a:tr h="189411">
                <a:tc>
                  <a:txBody>
                    <a:bodyPr/>
                    <a:lstStyle/>
                    <a:p>
                      <a:pPr algn="ctr"/>
                      <a:r>
                        <a:rPr sz="800">
                          <a:solidFill>
                            <a:srgbClr val="282828"/>
                          </a:solidFill>
                        </a:rPr>
                        <a:t>3</a:t>
                      </a:r>
                    </a:p>
                  </a:txBody>
                  <a:tcPr>
                    <a:solidFill>
                      <a:srgbClr val="FFFFFF"/>
                    </a:solidFill>
                  </a:tcPr>
                </a:tc>
                <a:tc>
                  <a:txBody>
                    <a:bodyPr/>
                    <a:lstStyle/>
                    <a:p>
                      <a:pPr algn="ctr"/>
                      <a:r>
                        <a:rPr sz="800">
                          <a:solidFill>
                            <a:srgbClr val="282828"/>
                          </a:solidFill>
                        </a:rPr>
                        <a:t>30</a:t>
                      </a:r>
                    </a:p>
                  </a:txBody>
                  <a:tcPr>
                    <a:solidFill>
                      <a:srgbClr val="FFFFFF"/>
                    </a:solidFill>
                  </a:tcPr>
                </a:tc>
                <a:tc>
                  <a:txBody>
                    <a:bodyPr/>
                    <a:lstStyle/>
                    <a:p>
                      <a:pPr algn="ctr"/>
                      <a:r>
                        <a:rPr sz="800">
                          <a:solidFill>
                            <a:srgbClr val="282828"/>
                          </a:solidFill>
                        </a:rPr>
                        <a:t>25</a:t>
                      </a:r>
                    </a:p>
                  </a:txBody>
                  <a:tcPr>
                    <a:solidFill>
                      <a:srgbClr val="FFFFFF"/>
                    </a:solidFill>
                  </a:tcPr>
                </a:tc>
                <a:tc>
                  <a:txBody>
                    <a:bodyPr/>
                    <a:lstStyle/>
                    <a:p>
                      <a:pPr algn="ctr"/>
                      <a:r>
                        <a:rPr sz="800">
                          <a:solidFill>
                            <a:srgbClr val="282828"/>
                          </a:solidFill>
                        </a:rPr>
                        <a:t>20</a:t>
                      </a:r>
                    </a:p>
                  </a:txBody>
                  <a:tcPr>
                    <a:solidFill>
                      <a:srgbClr val="FFFFFF"/>
                    </a:solidFill>
                  </a:tcPr>
                </a:tc>
                <a:tc>
                  <a:txBody>
                    <a:bodyPr/>
                    <a:lstStyle/>
                    <a:p>
                      <a:pPr algn="ctr"/>
                      <a:r>
                        <a:rPr sz="800">
                          <a:solidFill>
                            <a:srgbClr val="282828"/>
                          </a:solidFill>
                        </a:rPr>
                        <a:t>–</a:t>
                      </a:r>
                    </a:p>
                  </a:txBody>
                  <a:tcPr>
                    <a:solidFill>
                      <a:srgbClr val="FFFFFF"/>
                    </a:solidFill>
                  </a:tcPr>
                </a:tc>
                <a:tc>
                  <a:txBody>
                    <a:bodyPr/>
                    <a:lstStyle/>
                    <a:p>
                      <a:pPr algn="ctr"/>
                      <a:r>
                        <a:rPr sz="800">
                          <a:solidFill>
                            <a:srgbClr val="282828"/>
                          </a:solidFill>
                        </a:rPr>
                        <a:t>25</a:t>
                      </a:r>
                    </a:p>
                  </a:txBody>
                  <a:tcPr>
                    <a:solidFill>
                      <a:srgbClr val="FFFFFF"/>
                    </a:solidFill>
                  </a:tcPr>
                </a:tc>
                <a:tc>
                  <a:txBody>
                    <a:bodyPr/>
                    <a:lstStyle/>
                    <a:p>
                      <a:pPr algn="ctr"/>
                      <a:r>
                        <a:rPr sz="800">
                          <a:solidFill>
                            <a:srgbClr val="282828"/>
                          </a:solidFill>
                        </a:rPr>
                        <a:t>20</a:t>
                      </a:r>
                    </a:p>
                  </a:txBody>
                  <a:tcPr>
                    <a:solidFill>
                      <a:srgbClr val="FFFFFF"/>
                    </a:solidFill>
                  </a:tcPr>
                </a:tc>
                <a:extLst>
                  <a:ext uri="{0D108BD9-81ED-4DB2-BD59-A6C34878D82A}">
                    <a16:rowId xmlns:a16="http://schemas.microsoft.com/office/drawing/2014/main" val="10004"/>
                  </a:ext>
                </a:extLst>
              </a:tr>
              <a:tr h="189411">
                <a:tc>
                  <a:txBody>
                    <a:bodyPr/>
                    <a:lstStyle/>
                    <a:p>
                      <a:pPr algn="ctr"/>
                      <a:r>
                        <a:rPr sz="800">
                          <a:solidFill>
                            <a:srgbClr val="282828"/>
                          </a:solidFill>
                        </a:rPr>
                        <a:t>4</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30</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25</a:t>
                      </a:r>
                    </a:p>
                  </a:txBody>
                  <a:tcPr>
                    <a:solidFill>
                      <a:srgbClr val="EFF4F9"/>
                    </a:solidFill>
                  </a:tcPr>
                </a:tc>
                <a:tc>
                  <a:txBody>
                    <a:bodyPr/>
                    <a:lstStyle/>
                    <a:p>
                      <a:pPr algn="ctr"/>
                      <a:r>
                        <a:rPr sz="800">
                          <a:solidFill>
                            <a:srgbClr val="282828"/>
                          </a:solidFill>
                        </a:rPr>
                        <a:t>–</a:t>
                      </a:r>
                    </a:p>
                  </a:txBody>
                  <a:tcPr>
                    <a:solidFill>
                      <a:srgbClr val="EFF4F9"/>
                    </a:solidFill>
                  </a:tcPr>
                </a:tc>
                <a:tc>
                  <a:txBody>
                    <a:bodyPr/>
                    <a:lstStyle/>
                    <a:p>
                      <a:pPr algn="ctr"/>
                      <a:r>
                        <a:rPr sz="800">
                          <a:solidFill>
                            <a:srgbClr val="282828"/>
                          </a:solidFill>
                        </a:rPr>
                        <a:t>15</a:t>
                      </a:r>
                    </a:p>
                  </a:txBody>
                  <a:tcPr>
                    <a:solidFill>
                      <a:srgbClr val="EFF4F9"/>
                    </a:solidFill>
                  </a:tcPr>
                </a:tc>
                <a:extLst>
                  <a:ext uri="{0D108BD9-81ED-4DB2-BD59-A6C34878D82A}">
                    <a16:rowId xmlns:a16="http://schemas.microsoft.com/office/drawing/2014/main" val="10005"/>
                  </a:ext>
                </a:extLst>
              </a:tr>
              <a:tr h="189414">
                <a:tc>
                  <a:txBody>
                    <a:bodyPr/>
                    <a:lstStyle/>
                    <a:p>
                      <a:pPr algn="ctr"/>
                      <a:r>
                        <a:rPr sz="800" dirty="0">
                          <a:solidFill>
                            <a:srgbClr val="282828"/>
                          </a:solidFill>
                        </a:rPr>
                        <a:t>5</a:t>
                      </a:r>
                    </a:p>
                  </a:txBody>
                  <a:tcPr>
                    <a:solidFill>
                      <a:srgbClr val="FFFFFF"/>
                    </a:solidFill>
                  </a:tcPr>
                </a:tc>
                <a:tc>
                  <a:txBody>
                    <a:bodyPr/>
                    <a:lstStyle/>
                    <a:p>
                      <a:pPr algn="ctr"/>
                      <a:r>
                        <a:rPr sz="800">
                          <a:solidFill>
                            <a:srgbClr val="282828"/>
                          </a:solidFill>
                        </a:rPr>
                        <a:t>20</a:t>
                      </a:r>
                    </a:p>
                  </a:txBody>
                  <a:tcPr>
                    <a:solidFill>
                      <a:srgbClr val="FFFFFF"/>
                    </a:solidFill>
                  </a:tcPr>
                </a:tc>
                <a:tc>
                  <a:txBody>
                    <a:bodyPr/>
                    <a:lstStyle/>
                    <a:p>
                      <a:pPr algn="ctr"/>
                      <a:r>
                        <a:rPr sz="800" dirty="0">
                          <a:solidFill>
                            <a:srgbClr val="282828"/>
                          </a:solidFill>
                        </a:rPr>
                        <a:t>35</a:t>
                      </a:r>
                    </a:p>
                  </a:txBody>
                  <a:tcPr>
                    <a:solidFill>
                      <a:srgbClr val="FFFFFF"/>
                    </a:solidFill>
                  </a:tcPr>
                </a:tc>
                <a:tc>
                  <a:txBody>
                    <a:bodyPr/>
                    <a:lstStyle/>
                    <a:p>
                      <a:pPr algn="ctr"/>
                      <a:r>
                        <a:rPr sz="800" dirty="0">
                          <a:solidFill>
                            <a:srgbClr val="282828"/>
                          </a:solidFill>
                        </a:rPr>
                        <a:t>30</a:t>
                      </a:r>
                    </a:p>
                  </a:txBody>
                  <a:tcPr>
                    <a:solidFill>
                      <a:srgbClr val="FFFFFF"/>
                    </a:solidFill>
                  </a:tcPr>
                </a:tc>
                <a:tc>
                  <a:txBody>
                    <a:bodyPr/>
                    <a:lstStyle/>
                    <a:p>
                      <a:pPr algn="ctr"/>
                      <a:r>
                        <a:rPr sz="800">
                          <a:solidFill>
                            <a:srgbClr val="282828"/>
                          </a:solidFill>
                        </a:rPr>
                        <a:t>20</a:t>
                      </a:r>
                    </a:p>
                  </a:txBody>
                  <a:tcPr>
                    <a:solidFill>
                      <a:srgbClr val="FFFFFF"/>
                    </a:solidFill>
                  </a:tcPr>
                </a:tc>
                <a:tc>
                  <a:txBody>
                    <a:bodyPr/>
                    <a:lstStyle/>
                    <a:p>
                      <a:pPr algn="ctr"/>
                      <a:r>
                        <a:rPr sz="800">
                          <a:solidFill>
                            <a:srgbClr val="282828"/>
                          </a:solidFill>
                        </a:rPr>
                        <a:t>15</a:t>
                      </a:r>
                    </a:p>
                  </a:txBody>
                  <a:tcPr>
                    <a:solidFill>
                      <a:srgbClr val="FFFFFF"/>
                    </a:solidFill>
                  </a:tcPr>
                </a:tc>
                <a:tc>
                  <a:txBody>
                    <a:bodyPr/>
                    <a:lstStyle/>
                    <a:p>
                      <a:pPr algn="ctr"/>
                      <a:r>
                        <a:rPr sz="800" dirty="0">
                          <a:solidFill>
                            <a:srgbClr val="282828"/>
                          </a:solidFill>
                        </a:rPr>
                        <a:t>–</a:t>
                      </a:r>
                    </a:p>
                  </a:txBody>
                  <a:tcPr>
                    <a:solidFill>
                      <a:srgbClr val="FFFFFF"/>
                    </a:solidFill>
                  </a:tcPr>
                </a:tc>
                <a:extLst>
                  <a:ext uri="{0D108BD9-81ED-4DB2-BD59-A6C34878D82A}">
                    <a16:rowId xmlns:a16="http://schemas.microsoft.com/office/drawing/2014/main" val="10006"/>
                  </a:ext>
                </a:extLst>
              </a:tr>
            </a:tbl>
          </a:graphicData>
        </a:graphic>
      </p:graphicFrame>
      <p:sp>
        <p:nvSpPr>
          <p:cNvPr id="14" name="TextBox 13"/>
          <p:cNvSpPr txBox="1"/>
          <p:nvPr/>
        </p:nvSpPr>
        <p:spPr>
          <a:xfrm>
            <a:off x="6720840" y="5074920"/>
            <a:ext cx="4572000" cy="1246495"/>
          </a:xfrm>
          <a:prstGeom prst="rect">
            <a:avLst/>
          </a:prstGeom>
          <a:noFill/>
        </p:spPr>
        <p:txBody>
          <a:bodyPr wrap="square">
            <a:spAutoFit/>
          </a:bodyPr>
          <a:lstStyle/>
          <a:p>
            <a:r>
              <a:rPr sz="1500" b="1" dirty="0">
                <a:solidFill>
                  <a:srgbClr val="282828"/>
                </a:solidFill>
              </a:rPr>
              <a:t>Tardiness</a:t>
            </a:r>
            <a:r>
              <a:rPr sz="1500" b="0" dirty="0">
                <a:solidFill>
                  <a:srgbClr val="282828"/>
                </a:solidFill>
              </a:rPr>
              <a:t>:  z</a:t>
            </a:r>
            <a:r>
              <a:rPr sz="1500" b="0" baseline="-25000" dirty="0">
                <a:solidFill>
                  <a:srgbClr val="282828"/>
                </a:solidFill>
              </a:rPr>
              <a:t>ᵢ</a:t>
            </a:r>
            <a:r>
              <a:rPr lang="it-IT" sz="1500" b="0" baseline="-25000" dirty="0">
                <a:solidFill>
                  <a:srgbClr val="282828"/>
                </a:solidFill>
              </a:rPr>
              <a:t>,</a:t>
            </a:r>
            <a:r>
              <a:rPr sz="1500" b="0" baseline="-25000" dirty="0">
                <a:solidFill>
                  <a:srgbClr val="282828"/>
                </a:solidFill>
              </a:rPr>
              <a:t>s</a:t>
            </a:r>
            <a:r>
              <a:rPr sz="1500" b="0" dirty="0">
                <a:solidFill>
                  <a:srgbClr val="282828"/>
                </a:solidFill>
              </a:rPr>
              <a:t> = max(0, t</a:t>
            </a:r>
            <a:r>
              <a:rPr sz="1500" b="0" baseline="-25000" dirty="0">
                <a:solidFill>
                  <a:srgbClr val="282828"/>
                </a:solidFill>
              </a:rPr>
              <a:t>ᵢ</a:t>
            </a:r>
            <a:r>
              <a:rPr lang="it-IT" sz="1500" b="0" baseline="-25000" dirty="0">
                <a:solidFill>
                  <a:srgbClr val="282828"/>
                </a:solidFill>
              </a:rPr>
              <a:t>,</a:t>
            </a:r>
            <a:r>
              <a:rPr sz="1500" b="0" baseline="-25000" dirty="0">
                <a:solidFill>
                  <a:srgbClr val="282828"/>
                </a:solidFill>
              </a:rPr>
              <a:t>s</a:t>
            </a:r>
            <a:r>
              <a:rPr sz="1500" b="0" dirty="0">
                <a:solidFill>
                  <a:srgbClr val="282828"/>
                </a:solidFill>
              </a:rPr>
              <a:t> − lᵢ)</a:t>
            </a:r>
            <a:r>
              <a:rPr lang="it-IT" sz="1500" dirty="0">
                <a:solidFill>
                  <a:srgbClr val="282828"/>
                </a:solidFill>
              </a:rPr>
              <a:t> (max of </a:t>
            </a:r>
            <a:r>
              <a:rPr lang="it-IT" sz="1500" dirty="0" err="1">
                <a:solidFill>
                  <a:srgbClr val="282828"/>
                </a:solidFill>
              </a:rPr>
              <a:t>tardiness</a:t>
            </a:r>
            <a:r>
              <a:rPr lang="it-IT" sz="1500" dirty="0">
                <a:solidFill>
                  <a:srgbClr val="282828"/>
                </a:solidFill>
              </a:rPr>
              <a:t> of </a:t>
            </a:r>
            <a:r>
              <a:rPr lang="it-IT" sz="1500" dirty="0" err="1">
                <a:solidFill>
                  <a:srgbClr val="282828"/>
                </a:solidFill>
              </a:rPr>
              <a:t>that</a:t>
            </a:r>
            <a:r>
              <a:rPr lang="it-IT" sz="1500" dirty="0">
                <a:solidFill>
                  <a:srgbClr val="282828"/>
                </a:solidFill>
              </a:rPr>
              <a:t> service </a:t>
            </a:r>
            <a:r>
              <a:rPr lang="it-IT" sz="1500" dirty="0" err="1">
                <a:solidFill>
                  <a:srgbClr val="282828"/>
                </a:solidFill>
              </a:rPr>
              <a:t>minus</a:t>
            </a:r>
            <a:r>
              <a:rPr lang="it-IT" sz="1500" dirty="0">
                <a:solidFill>
                  <a:srgbClr val="282828"/>
                </a:solidFill>
              </a:rPr>
              <a:t> the </a:t>
            </a:r>
            <a:r>
              <a:rPr lang="it-IT" sz="1500" dirty="0" err="1">
                <a:solidFill>
                  <a:srgbClr val="282828"/>
                </a:solidFill>
              </a:rPr>
              <a:t>latest</a:t>
            </a:r>
            <a:r>
              <a:rPr lang="it-IT" sz="1500" dirty="0">
                <a:solidFill>
                  <a:srgbClr val="282828"/>
                </a:solidFill>
              </a:rPr>
              <a:t> </a:t>
            </a:r>
            <a:r>
              <a:rPr lang="it-IT" sz="1500" dirty="0" err="1">
                <a:solidFill>
                  <a:srgbClr val="282828"/>
                </a:solidFill>
              </a:rPr>
              <a:t>preferred</a:t>
            </a:r>
            <a:r>
              <a:rPr lang="it-IT" sz="1500" dirty="0">
                <a:solidFill>
                  <a:srgbClr val="282828"/>
                </a:solidFill>
              </a:rPr>
              <a:t> service start time)</a:t>
            </a:r>
            <a:r>
              <a:rPr sz="1500" b="0" dirty="0">
                <a:solidFill>
                  <a:srgbClr val="282828"/>
                </a:solidFill>
              </a:rPr>
              <a:t>
</a:t>
            </a:r>
            <a:r>
              <a:rPr sz="1500" b="1" dirty="0">
                <a:solidFill>
                  <a:srgbClr val="282828"/>
                </a:solidFill>
              </a:rPr>
              <a:t>Objective</a:t>
            </a:r>
            <a:r>
              <a:rPr sz="1500" b="0" dirty="0">
                <a:solidFill>
                  <a:srgbClr val="282828"/>
                </a:solidFill>
              </a:rPr>
              <a:t>:  min Z = </a:t>
            </a:r>
            <a:r>
              <a:rPr sz="1500" b="0" dirty="0" err="1">
                <a:solidFill>
                  <a:srgbClr val="282828"/>
                </a:solidFill>
              </a:rPr>
              <a:t>λ₁D</a:t>
            </a:r>
            <a:r>
              <a:rPr sz="1500" b="0" dirty="0">
                <a:solidFill>
                  <a:srgbClr val="282828"/>
                </a:solidFill>
              </a:rPr>
              <a:t> + </a:t>
            </a:r>
            <a:r>
              <a:rPr sz="1500" b="0" dirty="0" err="1">
                <a:solidFill>
                  <a:srgbClr val="282828"/>
                </a:solidFill>
              </a:rPr>
              <a:t>λ₂T</a:t>
            </a:r>
            <a:r>
              <a:rPr sz="1500" b="0" dirty="0">
                <a:solidFill>
                  <a:srgbClr val="282828"/>
                </a:solidFill>
              </a:rPr>
              <a:t> + </a:t>
            </a:r>
            <a:r>
              <a:rPr sz="1500" b="0" dirty="0" err="1">
                <a:solidFill>
                  <a:srgbClr val="282828"/>
                </a:solidFill>
              </a:rPr>
              <a:t>λ₃Tmax</a:t>
            </a:r>
            <a:r>
              <a:rPr sz="1500" b="0" dirty="0">
                <a:solidFill>
                  <a:srgbClr val="282828"/>
                </a:solidFill>
              </a:rPr>
              <a:t>
</a:t>
            </a:r>
            <a:r>
              <a:rPr sz="1500" b="1" dirty="0">
                <a:solidFill>
                  <a:srgbClr val="282828"/>
                </a:solidFill>
              </a:rPr>
              <a:t>Example weights</a:t>
            </a:r>
            <a:r>
              <a:rPr sz="1500" b="0" dirty="0">
                <a:solidFill>
                  <a:srgbClr val="282828"/>
                </a:solidFill>
              </a:rPr>
              <a:t>: </a:t>
            </a:r>
            <a:r>
              <a:rPr sz="1500" b="0" dirty="0" err="1">
                <a:solidFill>
                  <a:srgbClr val="282828"/>
                </a:solidFill>
              </a:rPr>
              <a:t>λ</a:t>
            </a:r>
            <a:r>
              <a:rPr sz="1500" b="0" dirty="0">
                <a:solidFill>
                  <a:srgbClr val="282828"/>
                </a:solidFill>
              </a:rPr>
              <a:t>₁=1, </a:t>
            </a:r>
            <a:r>
              <a:rPr sz="1500" b="0" dirty="0" err="1">
                <a:solidFill>
                  <a:srgbClr val="282828"/>
                </a:solidFill>
              </a:rPr>
              <a:t>λ</a:t>
            </a:r>
            <a:r>
              <a:rPr sz="1500" b="0" dirty="0">
                <a:solidFill>
                  <a:srgbClr val="282828"/>
                </a:solidFill>
              </a:rPr>
              <a:t>₂=10, </a:t>
            </a:r>
            <a:r>
              <a:rPr sz="1500" b="0" dirty="0" err="1">
                <a:solidFill>
                  <a:srgbClr val="282828"/>
                </a:solidFill>
              </a:rPr>
              <a:t>λ</a:t>
            </a:r>
            <a:r>
              <a:rPr sz="1500" b="0" dirty="0">
                <a:solidFill>
                  <a:srgbClr val="282828"/>
                </a:solidFill>
              </a:rPr>
              <a:t>₃=20</a:t>
            </a:r>
          </a:p>
        </p:txBody>
      </p:sp>
      <p:sp>
        <p:nvSpPr>
          <p:cNvPr id="15" name="TextBox 14">
            <a:extLst>
              <a:ext uri="{FF2B5EF4-FFF2-40B4-BE49-F238E27FC236}">
                <a16:creationId xmlns:a16="http://schemas.microsoft.com/office/drawing/2014/main" id="{2BF42475-E98F-99FC-AC7B-24123B583F37}"/>
              </a:ext>
            </a:extLst>
          </p:cNvPr>
          <p:cNvSpPr txBox="1"/>
          <p:nvPr/>
        </p:nvSpPr>
        <p:spPr>
          <a:xfrm>
            <a:off x="8894477" y="1005840"/>
            <a:ext cx="1892343" cy="276999"/>
          </a:xfrm>
          <a:prstGeom prst="rect">
            <a:avLst/>
          </a:prstGeom>
          <a:noFill/>
        </p:spPr>
        <p:txBody>
          <a:bodyPr wrap="square">
            <a:spAutoFit/>
          </a:bodyPr>
          <a:lstStyle/>
          <a:p>
            <a:r>
              <a:rPr lang="it-IT" sz="1200" dirty="0"/>
              <a:t>Patient </a:t>
            </a:r>
            <a:r>
              <a:rPr lang="it-IT" sz="1200" dirty="0" err="1"/>
              <a:t>requirements</a:t>
            </a:r>
            <a:endParaRPr sz="1200" dirty="0"/>
          </a:p>
        </p:txBody>
      </p:sp>
      <p:sp>
        <p:nvSpPr>
          <p:cNvPr id="16" name="TextBox 15">
            <a:extLst>
              <a:ext uri="{FF2B5EF4-FFF2-40B4-BE49-F238E27FC236}">
                <a16:creationId xmlns:a16="http://schemas.microsoft.com/office/drawing/2014/main" id="{B52DF282-F0D9-6CA9-3D55-DB9B4ECE8DE6}"/>
              </a:ext>
            </a:extLst>
          </p:cNvPr>
          <p:cNvSpPr txBox="1"/>
          <p:nvPr/>
        </p:nvSpPr>
        <p:spPr>
          <a:xfrm>
            <a:off x="502920" y="4632133"/>
            <a:ext cx="5593080" cy="276999"/>
          </a:xfrm>
          <a:prstGeom prst="rect">
            <a:avLst/>
          </a:prstGeom>
          <a:noFill/>
        </p:spPr>
        <p:txBody>
          <a:bodyPr wrap="square">
            <a:spAutoFit/>
          </a:bodyPr>
          <a:lstStyle/>
          <a:p>
            <a:r>
              <a:rPr lang="it-IT" sz="1200" dirty="0" err="1"/>
              <a:t>Let’s</a:t>
            </a:r>
            <a:r>
              <a:rPr lang="it-IT" sz="1200" dirty="0"/>
              <a:t> assume one travel-cost </a:t>
            </a:r>
            <a:r>
              <a:rPr lang="it-IT" sz="1200" dirty="0" err="1"/>
              <a:t>unit</a:t>
            </a:r>
            <a:r>
              <a:rPr lang="it-IT" sz="1200" dirty="0"/>
              <a:t> </a:t>
            </a:r>
            <a:r>
              <a:rPr lang="it-IT" sz="1200" dirty="0" err="1"/>
              <a:t>corresponds</a:t>
            </a:r>
            <a:r>
              <a:rPr lang="it-IT" sz="1200" dirty="0"/>
              <a:t> to </a:t>
            </a:r>
            <a:r>
              <a:rPr lang="it-IT" sz="1200" dirty="0" err="1"/>
              <a:t>approximately</a:t>
            </a:r>
            <a:r>
              <a:rPr lang="it-IT" sz="1200" dirty="0"/>
              <a:t> one minute travel </a:t>
            </a:r>
            <a:endParaRP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96512" y="-4911"/>
            <a:ext cx="3840480" cy="507831"/>
          </a:xfrm>
          <a:prstGeom prst="rect">
            <a:avLst/>
          </a:prstGeom>
          <a:noFill/>
        </p:spPr>
        <p:txBody>
          <a:bodyPr wrap="square">
            <a:spAutoFit/>
          </a:bodyPr>
          <a:lstStyle/>
          <a:p>
            <a:r>
              <a:rPr sz="2700" b="1" dirty="0">
                <a:solidFill>
                  <a:srgbClr val="1A2B43"/>
                </a:solidFill>
              </a:rPr>
              <a:t>One Feasible Solution</a:t>
            </a:r>
          </a:p>
        </p:txBody>
      </p:sp>
      <p:sp>
        <p:nvSpPr>
          <p:cNvPr id="3" name="TextBox 2"/>
          <p:cNvSpPr txBox="1"/>
          <p:nvPr/>
        </p:nvSpPr>
        <p:spPr>
          <a:xfrm>
            <a:off x="530352" y="841248"/>
            <a:ext cx="10972800" cy="365760"/>
          </a:xfrm>
          <a:prstGeom prst="rect">
            <a:avLst/>
          </a:prstGeom>
          <a:noFill/>
        </p:spPr>
        <p:txBody>
          <a:bodyPr wrap="none">
            <a:spAutoFit/>
          </a:bodyPr>
          <a:lstStyle/>
          <a:p>
            <a:r>
              <a:rPr sz="1200">
                <a:solidFill>
                  <a:srgbClr val="305D8E"/>
                </a:solidFill>
              </a:rPr>
              <a:t>Routes, synchronized starts, precedence lag, tardiness and objective value</a:t>
            </a:r>
          </a:p>
        </p:txBody>
      </p:sp>
      <p:sp>
        <p:nvSpPr>
          <p:cNvPr id="4" name="Rounded Rectangle 3"/>
          <p:cNvSpPr/>
          <p:nvPr/>
        </p:nvSpPr>
        <p:spPr>
          <a:xfrm>
            <a:off x="594360" y="1234440"/>
            <a:ext cx="7452360" cy="841248"/>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44168"/>
            <a:ext cx="1965960" cy="228600"/>
          </a:xfrm>
          <a:prstGeom prst="rect">
            <a:avLst/>
          </a:prstGeom>
          <a:noFill/>
        </p:spPr>
        <p:txBody>
          <a:bodyPr wrap="square">
            <a:spAutoFit/>
          </a:bodyPr>
          <a:lstStyle/>
          <a:p>
            <a:r>
              <a:rPr sz="1500" b="1">
                <a:solidFill>
                  <a:srgbClr val="1A2B43"/>
                </a:solidFill>
              </a:rPr>
              <a:t>v₁ — Nursing</a:t>
            </a:r>
          </a:p>
        </p:txBody>
      </p:sp>
      <p:sp>
        <p:nvSpPr>
          <p:cNvPr id="6" name="TextBox 5"/>
          <p:cNvSpPr txBox="1"/>
          <p:nvPr/>
        </p:nvSpPr>
        <p:spPr>
          <a:xfrm>
            <a:off x="2788920" y="1325880"/>
            <a:ext cx="2423160" cy="256032"/>
          </a:xfrm>
          <a:prstGeom prst="rect">
            <a:avLst/>
          </a:prstGeom>
          <a:noFill/>
        </p:spPr>
        <p:txBody>
          <a:bodyPr wrap="square">
            <a:spAutoFit/>
          </a:bodyPr>
          <a:lstStyle/>
          <a:p>
            <a:r>
              <a:rPr sz="1700" b="1">
                <a:solidFill>
                  <a:srgbClr val="305D8E"/>
                </a:solidFill>
              </a:rPr>
              <a:t>0 → 1 → 2 → 4 → 0</a:t>
            </a:r>
          </a:p>
        </p:txBody>
      </p:sp>
      <p:sp>
        <p:nvSpPr>
          <p:cNvPr id="7" name="TextBox 6"/>
          <p:cNvSpPr txBox="1"/>
          <p:nvPr/>
        </p:nvSpPr>
        <p:spPr>
          <a:xfrm>
            <a:off x="2788920" y="1673352"/>
            <a:ext cx="4846320" cy="219456"/>
          </a:xfrm>
          <a:prstGeom prst="rect">
            <a:avLst/>
          </a:prstGeom>
          <a:noFill/>
        </p:spPr>
        <p:txBody>
          <a:bodyPr wrap="square">
            <a:spAutoFit/>
          </a:bodyPr>
          <a:lstStyle/>
          <a:p>
            <a:r>
              <a:rPr sz="1100" b="0">
                <a:solidFill>
                  <a:srgbClr val="282828"/>
                </a:solidFill>
              </a:rPr>
              <a:t>P1 08:30–09:00   |   P2 09:15–09:45   |   P4 10:20–10:50</a:t>
            </a:r>
          </a:p>
        </p:txBody>
      </p:sp>
      <p:sp>
        <p:nvSpPr>
          <p:cNvPr id="8" name="TextBox 7"/>
          <p:cNvSpPr txBox="1"/>
          <p:nvPr/>
        </p:nvSpPr>
        <p:spPr>
          <a:xfrm>
            <a:off x="7452360" y="1453896"/>
            <a:ext cx="411480" cy="228600"/>
          </a:xfrm>
          <a:prstGeom prst="rect">
            <a:avLst/>
          </a:prstGeom>
          <a:noFill/>
        </p:spPr>
        <p:txBody>
          <a:bodyPr wrap="square">
            <a:spAutoFit/>
          </a:bodyPr>
          <a:lstStyle/>
          <a:p>
            <a:r>
              <a:rPr sz="1200" b="1">
                <a:solidFill>
                  <a:srgbClr val="377D52"/>
                </a:solidFill>
              </a:rPr>
              <a:t>D=75</a:t>
            </a:r>
          </a:p>
        </p:txBody>
      </p:sp>
      <p:sp>
        <p:nvSpPr>
          <p:cNvPr id="9" name="Rounded Rectangle 8"/>
          <p:cNvSpPr/>
          <p:nvPr/>
        </p:nvSpPr>
        <p:spPr>
          <a:xfrm>
            <a:off x="594360" y="2331720"/>
            <a:ext cx="7452360" cy="841248"/>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441448"/>
            <a:ext cx="1965960" cy="228600"/>
          </a:xfrm>
          <a:prstGeom prst="rect">
            <a:avLst/>
          </a:prstGeom>
          <a:noFill/>
        </p:spPr>
        <p:txBody>
          <a:bodyPr wrap="square">
            <a:spAutoFit/>
          </a:bodyPr>
          <a:lstStyle/>
          <a:p>
            <a:r>
              <a:rPr sz="1500" b="1">
                <a:solidFill>
                  <a:srgbClr val="1A2B43"/>
                </a:solidFill>
              </a:rPr>
              <a:t>v₂ — Personal care</a:t>
            </a:r>
          </a:p>
        </p:txBody>
      </p:sp>
      <p:sp>
        <p:nvSpPr>
          <p:cNvPr id="11" name="TextBox 10"/>
          <p:cNvSpPr txBox="1"/>
          <p:nvPr/>
        </p:nvSpPr>
        <p:spPr>
          <a:xfrm>
            <a:off x="2788920" y="2423160"/>
            <a:ext cx="2423160" cy="256032"/>
          </a:xfrm>
          <a:prstGeom prst="rect">
            <a:avLst/>
          </a:prstGeom>
          <a:noFill/>
        </p:spPr>
        <p:txBody>
          <a:bodyPr wrap="square">
            <a:spAutoFit/>
          </a:bodyPr>
          <a:lstStyle/>
          <a:p>
            <a:r>
              <a:rPr sz="1700" b="1">
                <a:solidFill>
                  <a:srgbClr val="305D8E"/>
                </a:solidFill>
              </a:rPr>
              <a:t>0 → 2 → 3 → 0</a:t>
            </a:r>
          </a:p>
        </p:txBody>
      </p:sp>
      <p:sp>
        <p:nvSpPr>
          <p:cNvPr id="12" name="TextBox 11"/>
          <p:cNvSpPr txBox="1"/>
          <p:nvPr/>
        </p:nvSpPr>
        <p:spPr>
          <a:xfrm>
            <a:off x="2788920" y="2770632"/>
            <a:ext cx="4846320" cy="219456"/>
          </a:xfrm>
          <a:prstGeom prst="rect">
            <a:avLst/>
          </a:prstGeom>
          <a:noFill/>
        </p:spPr>
        <p:txBody>
          <a:bodyPr wrap="square">
            <a:spAutoFit/>
          </a:bodyPr>
          <a:lstStyle/>
          <a:p>
            <a:r>
              <a:rPr sz="1100" b="0">
                <a:solidFill>
                  <a:srgbClr val="282828"/>
                </a:solidFill>
              </a:rPr>
              <a:t>P2 09:15–09:40   |   P3 10:00–10:25  (5 min late)</a:t>
            </a:r>
          </a:p>
        </p:txBody>
      </p:sp>
      <p:sp>
        <p:nvSpPr>
          <p:cNvPr id="13" name="TextBox 12"/>
          <p:cNvSpPr txBox="1"/>
          <p:nvPr/>
        </p:nvSpPr>
        <p:spPr>
          <a:xfrm>
            <a:off x="7452360" y="2551176"/>
            <a:ext cx="411480" cy="228600"/>
          </a:xfrm>
          <a:prstGeom prst="rect">
            <a:avLst/>
          </a:prstGeom>
          <a:noFill/>
        </p:spPr>
        <p:txBody>
          <a:bodyPr wrap="square">
            <a:spAutoFit/>
          </a:bodyPr>
          <a:lstStyle/>
          <a:p>
            <a:r>
              <a:rPr sz="1200" b="1">
                <a:solidFill>
                  <a:srgbClr val="377D52"/>
                </a:solidFill>
              </a:rPr>
              <a:t>D=70</a:t>
            </a:r>
          </a:p>
        </p:txBody>
      </p:sp>
      <p:sp>
        <p:nvSpPr>
          <p:cNvPr id="14" name="Rounded Rectangle 13"/>
          <p:cNvSpPr/>
          <p:nvPr/>
        </p:nvSpPr>
        <p:spPr>
          <a:xfrm>
            <a:off x="594360" y="3429000"/>
            <a:ext cx="7452360" cy="841248"/>
          </a:xfrm>
          <a:prstGeom prst="roundRect">
            <a:avLst/>
          </a:prstGeom>
          <a:solidFill>
            <a:srgbClr val="EFF4F9"/>
          </a:solidFill>
          <a:ln>
            <a:solidFill>
              <a:srgbClr val="D5E1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538728"/>
            <a:ext cx="1965960" cy="228600"/>
          </a:xfrm>
          <a:prstGeom prst="rect">
            <a:avLst/>
          </a:prstGeom>
          <a:noFill/>
        </p:spPr>
        <p:txBody>
          <a:bodyPr wrap="square">
            <a:spAutoFit/>
          </a:bodyPr>
          <a:lstStyle/>
          <a:p>
            <a:r>
              <a:rPr sz="1500" b="1">
                <a:solidFill>
                  <a:srgbClr val="1A2B43"/>
                </a:solidFill>
              </a:rPr>
              <a:t>v₃ — Physiotherapy</a:t>
            </a:r>
          </a:p>
        </p:txBody>
      </p:sp>
      <p:sp>
        <p:nvSpPr>
          <p:cNvPr id="16" name="TextBox 15"/>
          <p:cNvSpPr txBox="1"/>
          <p:nvPr/>
        </p:nvSpPr>
        <p:spPr>
          <a:xfrm>
            <a:off x="2788920" y="3520440"/>
            <a:ext cx="2423160" cy="256032"/>
          </a:xfrm>
          <a:prstGeom prst="rect">
            <a:avLst/>
          </a:prstGeom>
          <a:noFill/>
        </p:spPr>
        <p:txBody>
          <a:bodyPr wrap="square">
            <a:spAutoFit/>
          </a:bodyPr>
          <a:lstStyle/>
          <a:p>
            <a:r>
              <a:rPr sz="1700" b="1">
                <a:solidFill>
                  <a:srgbClr val="305D8E"/>
                </a:solidFill>
              </a:rPr>
              <a:t>0 → 4 → 5 → 0</a:t>
            </a:r>
          </a:p>
        </p:txBody>
      </p:sp>
      <p:sp>
        <p:nvSpPr>
          <p:cNvPr id="17" name="TextBox 16"/>
          <p:cNvSpPr txBox="1"/>
          <p:nvPr/>
        </p:nvSpPr>
        <p:spPr>
          <a:xfrm>
            <a:off x="2788920" y="3867912"/>
            <a:ext cx="4846320" cy="219456"/>
          </a:xfrm>
          <a:prstGeom prst="rect">
            <a:avLst/>
          </a:prstGeom>
          <a:noFill/>
        </p:spPr>
        <p:txBody>
          <a:bodyPr wrap="square">
            <a:spAutoFit/>
          </a:bodyPr>
          <a:lstStyle/>
          <a:p>
            <a:r>
              <a:rPr sz="1100" b="0">
                <a:solidFill>
                  <a:srgbClr val="282828"/>
                </a:solidFill>
              </a:rPr>
              <a:t>P4 10:50–11:30   |   P5 11:45–12:25  (5 min late)</a:t>
            </a:r>
          </a:p>
        </p:txBody>
      </p:sp>
      <p:sp>
        <p:nvSpPr>
          <p:cNvPr id="18" name="TextBox 17"/>
          <p:cNvSpPr txBox="1"/>
          <p:nvPr/>
        </p:nvSpPr>
        <p:spPr>
          <a:xfrm>
            <a:off x="7452360" y="3648456"/>
            <a:ext cx="411480" cy="228600"/>
          </a:xfrm>
          <a:prstGeom prst="rect">
            <a:avLst/>
          </a:prstGeom>
          <a:noFill/>
        </p:spPr>
        <p:txBody>
          <a:bodyPr wrap="square">
            <a:spAutoFit/>
          </a:bodyPr>
          <a:lstStyle/>
          <a:p>
            <a:r>
              <a:rPr sz="1200" b="1">
                <a:solidFill>
                  <a:srgbClr val="377D52"/>
                </a:solidFill>
              </a:rPr>
              <a:t>D=60</a:t>
            </a:r>
          </a:p>
        </p:txBody>
      </p:sp>
      <p:sp>
        <p:nvSpPr>
          <p:cNvPr id="19" name="Rounded Rectangle 18"/>
          <p:cNvSpPr/>
          <p:nvPr/>
        </p:nvSpPr>
        <p:spPr>
          <a:xfrm>
            <a:off x="8366760" y="1234440"/>
            <a:ext cx="3246120" cy="141732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95360" y="1417320"/>
            <a:ext cx="2743200" cy="274320"/>
          </a:xfrm>
          <a:prstGeom prst="rect">
            <a:avLst/>
          </a:prstGeom>
          <a:noFill/>
        </p:spPr>
        <p:txBody>
          <a:bodyPr wrap="square">
            <a:spAutoFit/>
          </a:bodyPr>
          <a:lstStyle/>
          <a:p>
            <a:pPr algn="ctr"/>
            <a:r>
              <a:rPr sz="1600" b="1">
                <a:solidFill>
                  <a:srgbClr val="377D52"/>
                </a:solidFill>
              </a:rPr>
              <a:t>Synchronization at P2</a:t>
            </a:r>
          </a:p>
        </p:txBody>
      </p:sp>
      <p:sp>
        <p:nvSpPr>
          <p:cNvPr id="21" name="TextBox 20"/>
          <p:cNvSpPr txBox="1"/>
          <p:nvPr/>
        </p:nvSpPr>
        <p:spPr>
          <a:xfrm>
            <a:off x="8641080" y="1874519"/>
            <a:ext cx="2651760" cy="457200"/>
          </a:xfrm>
          <a:prstGeom prst="rect">
            <a:avLst/>
          </a:prstGeom>
          <a:noFill/>
        </p:spPr>
        <p:txBody>
          <a:bodyPr wrap="square">
            <a:spAutoFit/>
          </a:bodyPr>
          <a:lstStyle/>
          <a:p>
            <a:pPr algn="ctr"/>
            <a:r>
              <a:rPr sz="1300" b="0">
                <a:solidFill>
                  <a:srgbClr val="282828"/>
                </a:solidFill>
              </a:rPr>
              <a:t>v₁ starts N at 09:15
v₂ starts P at 09:15
⇒ exact simultaneous start</a:t>
            </a:r>
          </a:p>
        </p:txBody>
      </p:sp>
      <p:sp>
        <p:nvSpPr>
          <p:cNvPr id="22" name="Rounded Rectangle 21"/>
          <p:cNvSpPr/>
          <p:nvPr/>
        </p:nvSpPr>
        <p:spPr>
          <a:xfrm>
            <a:off x="8366760" y="2880360"/>
            <a:ext cx="3246120" cy="1417320"/>
          </a:xfrm>
          <a:prstGeom prst="roundRect">
            <a:avLst/>
          </a:prstGeom>
          <a:solidFill>
            <a:srgbClr val="FAF7EB"/>
          </a:solidFill>
          <a:ln>
            <a:solidFill>
              <a:srgbClr val="C571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0" y="3063240"/>
            <a:ext cx="2743200" cy="274320"/>
          </a:xfrm>
          <a:prstGeom prst="rect">
            <a:avLst/>
          </a:prstGeom>
          <a:noFill/>
        </p:spPr>
        <p:txBody>
          <a:bodyPr wrap="square">
            <a:spAutoFit/>
          </a:bodyPr>
          <a:lstStyle/>
          <a:p>
            <a:pPr algn="ctr"/>
            <a:r>
              <a:rPr sz="1600" b="1">
                <a:solidFill>
                  <a:srgbClr val="C57124"/>
                </a:solidFill>
              </a:rPr>
              <a:t>Precedence at P4</a:t>
            </a:r>
          </a:p>
        </p:txBody>
      </p:sp>
      <p:sp>
        <p:nvSpPr>
          <p:cNvPr id="24" name="TextBox 23"/>
          <p:cNvSpPr txBox="1"/>
          <p:nvPr/>
        </p:nvSpPr>
        <p:spPr>
          <a:xfrm>
            <a:off x="8641080" y="3502152"/>
            <a:ext cx="2651760" cy="502920"/>
          </a:xfrm>
          <a:prstGeom prst="rect">
            <a:avLst/>
          </a:prstGeom>
          <a:noFill/>
        </p:spPr>
        <p:txBody>
          <a:bodyPr wrap="square">
            <a:spAutoFit/>
          </a:bodyPr>
          <a:lstStyle/>
          <a:p>
            <a:pPr algn="ctr"/>
            <a:r>
              <a:rPr sz="1300" b="0">
                <a:solidFill>
                  <a:srgbClr val="282828"/>
                </a:solidFill>
              </a:rPr>
              <a:t>N starts 10:20
H starts 10:50
Lag = 30 min ∈ [20,40]</a:t>
            </a:r>
          </a:p>
        </p:txBody>
      </p:sp>
      <p:sp>
        <p:nvSpPr>
          <p:cNvPr id="25" name="TextBox 24"/>
          <p:cNvSpPr txBox="1"/>
          <p:nvPr/>
        </p:nvSpPr>
        <p:spPr>
          <a:xfrm>
            <a:off x="685800" y="4754880"/>
            <a:ext cx="2743200" cy="274320"/>
          </a:xfrm>
          <a:prstGeom prst="rect">
            <a:avLst/>
          </a:prstGeom>
          <a:noFill/>
        </p:spPr>
        <p:txBody>
          <a:bodyPr wrap="square">
            <a:spAutoFit/>
          </a:bodyPr>
          <a:lstStyle/>
          <a:p>
            <a:r>
              <a:rPr sz="1600" b="1">
                <a:solidFill>
                  <a:srgbClr val="1A2B43"/>
                </a:solidFill>
              </a:rPr>
              <a:t>Performance of this solution</a:t>
            </a:r>
          </a:p>
        </p:txBody>
      </p:sp>
      <p:graphicFrame>
        <p:nvGraphicFramePr>
          <p:cNvPr id="26" name="Table 25"/>
          <p:cNvGraphicFramePr>
            <a:graphicFrameLocks noGrp="1"/>
          </p:cNvGraphicFramePr>
          <p:nvPr/>
        </p:nvGraphicFramePr>
        <p:xfrm>
          <a:off x="685800" y="5074920"/>
          <a:ext cx="3657600" cy="12344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08610">
                <a:tc>
                  <a:txBody>
                    <a:bodyPr/>
                    <a:lstStyle/>
                    <a:p>
                      <a:pPr algn="ctr"/>
                      <a:r>
                        <a:rPr sz="1100" b="1">
                          <a:solidFill>
                            <a:srgbClr val="FFFFFF"/>
                          </a:solidFill>
                        </a:rPr>
                        <a:t>Metric</a:t>
                      </a:r>
                    </a:p>
                  </a:txBody>
                  <a:tcPr>
                    <a:solidFill>
                      <a:srgbClr val="1A2B43"/>
                    </a:solidFill>
                  </a:tcPr>
                </a:tc>
                <a:tc>
                  <a:txBody>
                    <a:bodyPr/>
                    <a:lstStyle/>
                    <a:p>
                      <a:pPr algn="ctr"/>
                      <a:r>
                        <a:rPr sz="1100" b="1">
                          <a:solidFill>
                            <a:srgbClr val="FFFFFF"/>
                          </a:solidFill>
                        </a:rPr>
                        <a:t>Value</a:t>
                      </a:r>
                    </a:p>
                  </a:txBody>
                  <a:tcPr>
                    <a:solidFill>
                      <a:srgbClr val="1A2B43"/>
                    </a:solidFill>
                  </a:tcPr>
                </a:tc>
                <a:extLst>
                  <a:ext uri="{0D108BD9-81ED-4DB2-BD59-A6C34878D82A}">
                    <a16:rowId xmlns:a16="http://schemas.microsoft.com/office/drawing/2014/main" val="10000"/>
                  </a:ext>
                </a:extLst>
              </a:tr>
              <a:tr h="308610">
                <a:tc>
                  <a:txBody>
                    <a:bodyPr/>
                    <a:lstStyle/>
                    <a:p>
                      <a:pPr algn="ctr"/>
                      <a:r>
                        <a:rPr sz="1100">
                          <a:solidFill>
                            <a:srgbClr val="282828"/>
                          </a:solidFill>
                        </a:rPr>
                        <a:t>Total distance D</a:t>
                      </a:r>
                    </a:p>
                  </a:txBody>
                  <a:tcPr>
                    <a:solidFill>
                      <a:srgbClr val="EFF4F9"/>
                    </a:solidFill>
                  </a:tcPr>
                </a:tc>
                <a:tc>
                  <a:txBody>
                    <a:bodyPr/>
                    <a:lstStyle/>
                    <a:p>
                      <a:pPr algn="ctr"/>
                      <a:r>
                        <a:rPr sz="1100">
                          <a:solidFill>
                            <a:srgbClr val="282828"/>
                          </a:solidFill>
                        </a:rPr>
                        <a:t>205</a:t>
                      </a:r>
                    </a:p>
                  </a:txBody>
                  <a:tcPr>
                    <a:solidFill>
                      <a:srgbClr val="EFF4F9"/>
                    </a:solidFill>
                  </a:tcPr>
                </a:tc>
                <a:extLst>
                  <a:ext uri="{0D108BD9-81ED-4DB2-BD59-A6C34878D82A}">
                    <a16:rowId xmlns:a16="http://schemas.microsoft.com/office/drawing/2014/main" val="10001"/>
                  </a:ext>
                </a:extLst>
              </a:tr>
              <a:tr h="308610">
                <a:tc>
                  <a:txBody>
                    <a:bodyPr/>
                    <a:lstStyle/>
                    <a:p>
                      <a:pPr algn="ctr"/>
                      <a:r>
                        <a:rPr sz="1100">
                          <a:solidFill>
                            <a:srgbClr val="282828"/>
                          </a:solidFill>
                        </a:rPr>
                        <a:t>Total tardiness T</a:t>
                      </a:r>
                    </a:p>
                  </a:txBody>
                  <a:tcPr>
                    <a:solidFill>
                      <a:srgbClr val="FFFFFF"/>
                    </a:solidFill>
                  </a:tcPr>
                </a:tc>
                <a:tc>
                  <a:txBody>
                    <a:bodyPr/>
                    <a:lstStyle/>
                    <a:p>
                      <a:pPr algn="ctr"/>
                      <a:r>
                        <a:rPr sz="1100" dirty="0">
                          <a:solidFill>
                            <a:srgbClr val="282828"/>
                          </a:solidFill>
                        </a:rPr>
                        <a:t>10 min</a:t>
                      </a:r>
                    </a:p>
                  </a:txBody>
                  <a:tcPr>
                    <a:solidFill>
                      <a:srgbClr val="FFFFFF"/>
                    </a:solidFill>
                  </a:tcPr>
                </a:tc>
                <a:extLst>
                  <a:ext uri="{0D108BD9-81ED-4DB2-BD59-A6C34878D82A}">
                    <a16:rowId xmlns:a16="http://schemas.microsoft.com/office/drawing/2014/main" val="10002"/>
                  </a:ext>
                </a:extLst>
              </a:tr>
              <a:tr h="308610">
                <a:tc>
                  <a:txBody>
                    <a:bodyPr/>
                    <a:lstStyle/>
                    <a:p>
                      <a:pPr algn="ctr"/>
                      <a:r>
                        <a:rPr sz="1100">
                          <a:solidFill>
                            <a:srgbClr val="282828"/>
                          </a:solidFill>
                        </a:rPr>
                        <a:t>Maximum tardiness Tmax</a:t>
                      </a:r>
                    </a:p>
                  </a:txBody>
                  <a:tcPr>
                    <a:solidFill>
                      <a:srgbClr val="EFF4F9"/>
                    </a:solidFill>
                  </a:tcPr>
                </a:tc>
                <a:tc>
                  <a:txBody>
                    <a:bodyPr/>
                    <a:lstStyle/>
                    <a:p>
                      <a:pPr algn="ctr"/>
                      <a:r>
                        <a:rPr sz="1100" dirty="0">
                          <a:solidFill>
                            <a:srgbClr val="282828"/>
                          </a:solidFill>
                        </a:rPr>
                        <a:t>5 min</a:t>
                      </a:r>
                    </a:p>
                  </a:txBody>
                  <a:tcPr>
                    <a:solidFill>
                      <a:srgbClr val="EFF4F9"/>
                    </a:solidFill>
                  </a:tcPr>
                </a:tc>
                <a:extLst>
                  <a:ext uri="{0D108BD9-81ED-4DB2-BD59-A6C34878D82A}">
                    <a16:rowId xmlns:a16="http://schemas.microsoft.com/office/drawing/2014/main" val="10003"/>
                  </a:ext>
                </a:extLst>
              </a:tr>
            </a:tbl>
          </a:graphicData>
        </a:graphic>
      </p:graphicFrame>
      <p:sp>
        <p:nvSpPr>
          <p:cNvPr id="27" name="Rounded Rectangle 26"/>
          <p:cNvSpPr/>
          <p:nvPr/>
        </p:nvSpPr>
        <p:spPr>
          <a:xfrm>
            <a:off x="4709160" y="5029200"/>
            <a:ext cx="6903720" cy="1325880"/>
          </a:xfrm>
          <a:prstGeom prst="roundRect">
            <a:avLst/>
          </a:prstGeom>
          <a:solidFill>
            <a:srgbClr val="1A2B43"/>
          </a:solidFill>
          <a:ln>
            <a:solidFill>
              <a:srgbClr val="1A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83480" y="5393718"/>
            <a:ext cx="6355080" cy="320040"/>
          </a:xfrm>
          <a:prstGeom prst="rect">
            <a:avLst/>
          </a:prstGeom>
          <a:noFill/>
        </p:spPr>
        <p:txBody>
          <a:bodyPr wrap="square">
            <a:spAutoFit/>
          </a:bodyPr>
          <a:lstStyle/>
          <a:p>
            <a:pPr algn="ctr"/>
            <a:r>
              <a:rPr sz="2300" b="1" dirty="0">
                <a:solidFill>
                  <a:srgbClr val="FFFFFF"/>
                </a:solidFill>
              </a:rPr>
              <a:t>Z = 1(205) + 10(10) + 20(5) = 405</a:t>
            </a:r>
          </a:p>
        </p:txBody>
      </p:sp>
      <p:sp>
        <p:nvSpPr>
          <p:cNvPr id="30" name="TextBox 29">
            <a:extLst>
              <a:ext uri="{FF2B5EF4-FFF2-40B4-BE49-F238E27FC236}">
                <a16:creationId xmlns:a16="http://schemas.microsoft.com/office/drawing/2014/main" id="{7881462E-D128-BB3F-AF38-A2C45187019B}"/>
              </a:ext>
            </a:extLst>
          </p:cNvPr>
          <p:cNvSpPr txBox="1"/>
          <p:nvPr/>
        </p:nvSpPr>
        <p:spPr>
          <a:xfrm>
            <a:off x="4045833" y="4497508"/>
            <a:ext cx="4507992" cy="276999"/>
          </a:xfrm>
          <a:prstGeom prst="rect">
            <a:avLst/>
          </a:prstGeom>
          <a:noFill/>
        </p:spPr>
        <p:txBody>
          <a:bodyPr wrap="square">
            <a:spAutoFit/>
          </a:bodyPr>
          <a:lstStyle/>
          <a:p>
            <a:r>
              <a:rPr lang="it-IT" sz="1200" dirty="0">
                <a:solidFill>
                  <a:srgbClr val="00B050"/>
                </a:solidFill>
              </a:rPr>
              <a:t>5 min for </a:t>
            </a:r>
            <a:r>
              <a:rPr lang="it-IT" sz="1200" dirty="0" err="1">
                <a:solidFill>
                  <a:srgbClr val="00B050"/>
                </a:solidFill>
              </a:rPr>
              <a:t>patient</a:t>
            </a:r>
            <a:r>
              <a:rPr lang="it-IT" sz="1200" dirty="0">
                <a:solidFill>
                  <a:srgbClr val="00B050"/>
                </a:solidFill>
              </a:rPr>
              <a:t> 3 service </a:t>
            </a:r>
            <a:r>
              <a:rPr lang="it-IT" sz="1200" dirty="0" err="1">
                <a:solidFill>
                  <a:srgbClr val="00B050"/>
                </a:solidFill>
              </a:rPr>
              <a:t>P</a:t>
            </a:r>
            <a:r>
              <a:rPr lang="it-IT" sz="1200" dirty="0">
                <a:solidFill>
                  <a:srgbClr val="00B050"/>
                </a:solidFill>
              </a:rPr>
              <a:t> and 5 min for </a:t>
            </a:r>
            <a:r>
              <a:rPr lang="it-IT" sz="1200" dirty="0" err="1">
                <a:solidFill>
                  <a:srgbClr val="00B050"/>
                </a:solidFill>
              </a:rPr>
              <a:t>patient</a:t>
            </a:r>
            <a:r>
              <a:rPr lang="it-IT" sz="1200" dirty="0">
                <a:solidFill>
                  <a:srgbClr val="00B050"/>
                </a:solidFill>
              </a:rPr>
              <a:t> 5 service H</a:t>
            </a:r>
            <a:endParaRPr sz="1200" dirty="0">
              <a:solidFill>
                <a:srgbClr val="00B050"/>
              </a:solidFill>
            </a:endParaRPr>
          </a:p>
        </p:txBody>
      </p:sp>
      <p:cxnSp>
        <p:nvCxnSpPr>
          <p:cNvPr id="32" name="Straight Arrow Connector 31">
            <a:extLst>
              <a:ext uri="{FF2B5EF4-FFF2-40B4-BE49-F238E27FC236}">
                <a16:creationId xmlns:a16="http://schemas.microsoft.com/office/drawing/2014/main" id="{89D7F860-53AC-B433-C6C5-055FF6D865A9}"/>
              </a:ext>
            </a:extLst>
          </p:cNvPr>
          <p:cNvCxnSpPr>
            <a:cxnSpLocks/>
            <a:stCxn id="30" idx="1"/>
          </p:cNvCxnSpPr>
          <p:nvPr/>
        </p:nvCxnSpPr>
        <p:spPr>
          <a:xfrm flipH="1">
            <a:off x="3703320" y="4636008"/>
            <a:ext cx="342513" cy="1078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
            <a:ext cx="11155680" cy="502920"/>
          </a:xfrm>
          <a:prstGeom prst="rect">
            <a:avLst/>
          </a:prstGeom>
          <a:noFill/>
        </p:spPr>
        <p:txBody>
          <a:bodyPr wrap="none">
            <a:spAutoFit/>
          </a:bodyPr>
          <a:lstStyle/>
          <a:p>
            <a:r>
              <a:rPr sz="2600" b="1" dirty="0">
                <a:solidFill>
                  <a:srgbClr val="1C2D46"/>
                </a:solidFill>
              </a:rPr>
              <a:t>BRKGA: the Genetic Baseline</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The algorithm searches in a random-key chromosome space; a decoder builds feasible HHCRSP schedules.</a:t>
            </a:r>
          </a:p>
        </p:txBody>
      </p:sp>
      <p:sp>
        <p:nvSpPr>
          <p:cNvPr id="4" name="Rounded Rectangle 3"/>
          <p:cNvSpPr/>
          <p:nvPr/>
        </p:nvSpPr>
        <p:spPr>
          <a:xfrm>
            <a:off x="685800" y="1234440"/>
            <a:ext cx="2240280" cy="530352"/>
          </a:xfrm>
          <a:prstGeom prst="roundRect">
            <a:avLst/>
          </a:prstGeom>
          <a:solidFill>
            <a:srgbClr val="FFFFFF"/>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280160"/>
            <a:ext cx="2020824" cy="438912"/>
          </a:xfrm>
          <a:prstGeom prst="rect">
            <a:avLst/>
          </a:prstGeom>
          <a:noFill/>
        </p:spPr>
        <p:txBody>
          <a:bodyPr wrap="square" anchor="ctr">
            <a:spAutoFit/>
          </a:bodyPr>
          <a:lstStyle/>
          <a:p>
            <a:pPr algn="ctr"/>
            <a:r>
              <a:rPr sz="1300" b="0">
                <a:solidFill>
                  <a:srgbClr val="39649B"/>
                </a:solidFill>
              </a:rPr>
              <a:t>1  Random population</a:t>
            </a:r>
          </a:p>
        </p:txBody>
      </p:sp>
      <p:sp>
        <p:nvSpPr>
          <p:cNvPr id="6" name="TextBox 5"/>
          <p:cNvSpPr txBox="1"/>
          <p:nvPr/>
        </p:nvSpPr>
        <p:spPr>
          <a:xfrm>
            <a:off x="3154680" y="1234440"/>
            <a:ext cx="7955279" cy="530352"/>
          </a:xfrm>
          <a:prstGeom prst="rect">
            <a:avLst/>
          </a:prstGeom>
          <a:noFill/>
        </p:spPr>
        <p:txBody>
          <a:bodyPr wrap="square" anchor="ctr">
            <a:spAutoFit/>
          </a:bodyPr>
          <a:lstStyle/>
          <a:p>
            <a:pPr algn="l"/>
            <a:r>
              <a:rPr sz="1300" b="0">
                <a:solidFill>
                  <a:srgbClr val="282D34"/>
                </a:solidFill>
              </a:rPr>
              <a:t>Chromosomes are vectors of random keys in [0,1).</a:t>
            </a:r>
          </a:p>
        </p:txBody>
      </p:sp>
      <p:cxnSp>
        <p:nvCxnSpPr>
          <p:cNvPr id="7" name="Connector 6"/>
          <p:cNvCxnSpPr/>
          <p:nvPr/>
        </p:nvCxnSpPr>
        <p:spPr>
          <a:xfrm>
            <a:off x="1810512" y="1783080"/>
            <a:ext cx="0" cy="219456"/>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 y="2020824"/>
            <a:ext cx="2240280" cy="530352"/>
          </a:xfrm>
          <a:prstGeom prst="roundRect">
            <a:avLst/>
          </a:prstGeom>
          <a:solidFill>
            <a:srgbClr val="FFFFFF"/>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066543"/>
            <a:ext cx="2020824" cy="438912"/>
          </a:xfrm>
          <a:prstGeom prst="rect">
            <a:avLst/>
          </a:prstGeom>
          <a:noFill/>
        </p:spPr>
        <p:txBody>
          <a:bodyPr wrap="square" anchor="ctr">
            <a:spAutoFit/>
          </a:bodyPr>
          <a:lstStyle/>
          <a:p>
            <a:pPr algn="ctr"/>
            <a:r>
              <a:rPr sz="1300" b="0">
                <a:solidFill>
                  <a:srgbClr val="387D54"/>
                </a:solidFill>
              </a:rPr>
              <a:t>2  Decode</a:t>
            </a:r>
          </a:p>
        </p:txBody>
      </p:sp>
      <p:sp>
        <p:nvSpPr>
          <p:cNvPr id="10" name="TextBox 9"/>
          <p:cNvSpPr txBox="1"/>
          <p:nvPr/>
        </p:nvSpPr>
        <p:spPr>
          <a:xfrm>
            <a:off x="3154680" y="2020824"/>
            <a:ext cx="7955279" cy="530352"/>
          </a:xfrm>
          <a:prstGeom prst="rect">
            <a:avLst/>
          </a:prstGeom>
          <a:noFill/>
        </p:spPr>
        <p:txBody>
          <a:bodyPr wrap="square" anchor="ctr">
            <a:spAutoFit/>
          </a:bodyPr>
          <a:lstStyle/>
          <a:p>
            <a:pPr algn="l"/>
            <a:r>
              <a:rPr sz="1300" b="0">
                <a:solidFill>
                  <a:srgbClr val="282D34"/>
                </a:solidFill>
              </a:rPr>
              <a:t>Greedy cheapest-insertion builds a feasible schedule.</a:t>
            </a:r>
          </a:p>
        </p:txBody>
      </p:sp>
      <p:cxnSp>
        <p:nvCxnSpPr>
          <p:cNvPr id="11" name="Connector 10"/>
          <p:cNvCxnSpPr/>
          <p:nvPr/>
        </p:nvCxnSpPr>
        <p:spPr>
          <a:xfrm>
            <a:off x="1810512" y="2569464"/>
            <a:ext cx="0" cy="219456"/>
          </a:xfrm>
          <a:prstGeom prst="line">
            <a:avLst/>
          </a:prstGeom>
          <a:ln w="25400">
            <a:solidFill>
              <a:srgbClr val="387D5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5800" y="2807208"/>
            <a:ext cx="2240280" cy="530352"/>
          </a:xfrm>
          <a:prstGeom prst="roundRect">
            <a:avLst/>
          </a:prstGeom>
          <a:solidFill>
            <a:srgbClr val="FFFFFF"/>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5528" y="2852928"/>
            <a:ext cx="2020824" cy="438912"/>
          </a:xfrm>
          <a:prstGeom prst="rect">
            <a:avLst/>
          </a:prstGeom>
          <a:noFill/>
        </p:spPr>
        <p:txBody>
          <a:bodyPr wrap="square" anchor="ctr">
            <a:spAutoFit/>
          </a:bodyPr>
          <a:lstStyle/>
          <a:p>
            <a:pPr algn="ctr"/>
            <a:r>
              <a:rPr sz="1300" b="0">
                <a:solidFill>
                  <a:srgbClr val="C6742A"/>
                </a:solidFill>
              </a:rPr>
              <a:t>3  Evaluate</a:t>
            </a:r>
          </a:p>
        </p:txBody>
      </p:sp>
      <p:sp>
        <p:nvSpPr>
          <p:cNvPr id="14" name="TextBox 13"/>
          <p:cNvSpPr txBox="1"/>
          <p:nvPr/>
        </p:nvSpPr>
        <p:spPr>
          <a:xfrm>
            <a:off x="3154680" y="2807208"/>
            <a:ext cx="7955279" cy="530352"/>
          </a:xfrm>
          <a:prstGeom prst="rect">
            <a:avLst/>
          </a:prstGeom>
          <a:noFill/>
        </p:spPr>
        <p:txBody>
          <a:bodyPr wrap="square" anchor="ctr">
            <a:spAutoFit/>
          </a:bodyPr>
          <a:lstStyle/>
          <a:p>
            <a:pPr algn="l"/>
            <a:r>
              <a:rPr sz="1300" b="0">
                <a:solidFill>
                  <a:srgbClr val="282D34"/>
                </a:solidFill>
              </a:rPr>
              <a:t>Fitness = weighted distance + total tardiness + max tardiness.</a:t>
            </a:r>
          </a:p>
        </p:txBody>
      </p:sp>
      <p:cxnSp>
        <p:nvCxnSpPr>
          <p:cNvPr id="15" name="Connector 14"/>
          <p:cNvCxnSpPr/>
          <p:nvPr/>
        </p:nvCxnSpPr>
        <p:spPr>
          <a:xfrm>
            <a:off x="1810512" y="3355848"/>
            <a:ext cx="0" cy="219456"/>
          </a:xfrm>
          <a:prstGeom prst="line">
            <a:avLst/>
          </a:prstGeom>
          <a:ln w="25400">
            <a:solidFill>
              <a:srgbClr val="C6742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3593592"/>
            <a:ext cx="2240280" cy="530352"/>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5528" y="3639312"/>
            <a:ext cx="2020824" cy="438912"/>
          </a:xfrm>
          <a:prstGeom prst="rect">
            <a:avLst/>
          </a:prstGeom>
          <a:noFill/>
        </p:spPr>
        <p:txBody>
          <a:bodyPr wrap="square" anchor="ctr">
            <a:spAutoFit/>
          </a:bodyPr>
          <a:lstStyle/>
          <a:p>
            <a:pPr algn="ctr"/>
            <a:r>
              <a:rPr sz="1300" b="0">
                <a:solidFill>
                  <a:srgbClr val="704A96"/>
                </a:solidFill>
              </a:rPr>
              <a:t>4  Evolve</a:t>
            </a:r>
          </a:p>
        </p:txBody>
      </p:sp>
      <p:sp>
        <p:nvSpPr>
          <p:cNvPr id="18" name="TextBox 17"/>
          <p:cNvSpPr txBox="1"/>
          <p:nvPr/>
        </p:nvSpPr>
        <p:spPr>
          <a:xfrm>
            <a:off x="3154680" y="3593592"/>
            <a:ext cx="7955279" cy="530352"/>
          </a:xfrm>
          <a:prstGeom prst="rect">
            <a:avLst/>
          </a:prstGeom>
          <a:noFill/>
        </p:spPr>
        <p:txBody>
          <a:bodyPr wrap="square" anchor="ctr">
            <a:spAutoFit/>
          </a:bodyPr>
          <a:lstStyle/>
          <a:p>
            <a:pPr algn="l"/>
            <a:r>
              <a:rPr sz="1300" b="0">
                <a:solidFill>
                  <a:srgbClr val="282D34"/>
                </a:solidFill>
              </a:rPr>
              <a:t>Elite preservation + biased multi-parent crossover + mutants.</a:t>
            </a:r>
          </a:p>
        </p:txBody>
      </p:sp>
      <p:cxnSp>
        <p:nvCxnSpPr>
          <p:cNvPr id="19" name="Connector 18"/>
          <p:cNvCxnSpPr/>
          <p:nvPr/>
        </p:nvCxnSpPr>
        <p:spPr>
          <a:xfrm>
            <a:off x="1810512" y="4142232"/>
            <a:ext cx="0" cy="219456"/>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85800" y="4379976"/>
            <a:ext cx="2240280" cy="530352"/>
          </a:xfrm>
          <a:prstGeom prst="roundRect">
            <a:avLst/>
          </a:prstGeom>
          <a:solidFill>
            <a:srgbClr val="FFFFFF"/>
          </a:solidFill>
          <a:ln>
            <a:solidFill>
              <a:srgbClr val="AE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8" y="4425696"/>
            <a:ext cx="2020824" cy="438912"/>
          </a:xfrm>
          <a:prstGeom prst="rect">
            <a:avLst/>
          </a:prstGeom>
          <a:noFill/>
        </p:spPr>
        <p:txBody>
          <a:bodyPr wrap="square" anchor="ctr">
            <a:spAutoFit/>
          </a:bodyPr>
          <a:lstStyle/>
          <a:p>
            <a:pPr algn="ctr"/>
            <a:r>
              <a:rPr sz="1300" b="0">
                <a:solidFill>
                  <a:srgbClr val="AE4343"/>
                </a:solidFill>
              </a:rPr>
              <a:t>5  Diversify</a:t>
            </a:r>
          </a:p>
        </p:txBody>
      </p:sp>
      <p:sp>
        <p:nvSpPr>
          <p:cNvPr id="22" name="TextBox 21"/>
          <p:cNvSpPr txBox="1"/>
          <p:nvPr/>
        </p:nvSpPr>
        <p:spPr>
          <a:xfrm>
            <a:off x="3154680" y="4379976"/>
            <a:ext cx="7955279" cy="530352"/>
          </a:xfrm>
          <a:prstGeom prst="rect">
            <a:avLst/>
          </a:prstGeom>
          <a:noFill/>
        </p:spPr>
        <p:txBody>
          <a:bodyPr wrap="square" anchor="ctr">
            <a:spAutoFit/>
          </a:bodyPr>
          <a:lstStyle/>
          <a:p>
            <a:pPr algn="l"/>
            <a:r>
              <a:rPr sz="1300" b="0">
                <a:solidFill>
                  <a:srgbClr val="282D34"/>
                </a:solidFill>
              </a:rPr>
              <a:t>Islands/migration + Implicit Path Relinking (IPR).</a:t>
            </a:r>
          </a:p>
        </p:txBody>
      </p:sp>
      <p:cxnSp>
        <p:nvCxnSpPr>
          <p:cNvPr id="23" name="Connector 22"/>
          <p:cNvCxnSpPr/>
          <p:nvPr/>
        </p:nvCxnSpPr>
        <p:spPr>
          <a:xfrm>
            <a:off x="1810512" y="4928616"/>
            <a:ext cx="0" cy="219456"/>
          </a:xfrm>
          <a:prstGeom prst="line">
            <a:avLst/>
          </a:prstGeom>
          <a:ln w="25400">
            <a:solidFill>
              <a:srgbClr val="AE4343"/>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5800" y="5166360"/>
            <a:ext cx="2240280" cy="530352"/>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8" y="5212080"/>
            <a:ext cx="2020824" cy="438912"/>
          </a:xfrm>
          <a:prstGeom prst="rect">
            <a:avLst/>
          </a:prstGeom>
          <a:noFill/>
        </p:spPr>
        <p:txBody>
          <a:bodyPr wrap="square" anchor="ctr">
            <a:spAutoFit/>
          </a:bodyPr>
          <a:lstStyle/>
          <a:p>
            <a:pPr algn="ctr"/>
            <a:r>
              <a:rPr sz="1300" b="0">
                <a:solidFill>
                  <a:srgbClr val="1C2D46"/>
                </a:solidFill>
              </a:rPr>
              <a:t>6  Stop</a:t>
            </a:r>
          </a:p>
        </p:txBody>
      </p:sp>
      <p:sp>
        <p:nvSpPr>
          <p:cNvPr id="26" name="TextBox 25"/>
          <p:cNvSpPr txBox="1"/>
          <p:nvPr/>
        </p:nvSpPr>
        <p:spPr>
          <a:xfrm>
            <a:off x="3154680" y="5166360"/>
            <a:ext cx="7955279" cy="530352"/>
          </a:xfrm>
          <a:prstGeom prst="rect">
            <a:avLst/>
          </a:prstGeom>
          <a:noFill/>
        </p:spPr>
        <p:txBody>
          <a:bodyPr wrap="square" anchor="ctr">
            <a:spAutoFit/>
          </a:bodyPr>
          <a:lstStyle/>
          <a:p>
            <a:pPr algn="l"/>
            <a:r>
              <a:rPr sz="1300" b="0">
                <a:solidFill>
                  <a:srgbClr val="282D34"/>
                </a:solidFill>
              </a:rPr>
              <a:t>After 2 × |C| generations without improvement.</a:t>
            </a:r>
          </a:p>
        </p:txBody>
      </p:sp>
      <p:sp>
        <p:nvSpPr>
          <p:cNvPr id="27" name="TextBox 26"/>
          <p:cNvSpPr txBox="1"/>
          <p:nvPr/>
        </p:nvSpPr>
        <p:spPr>
          <a:xfrm>
            <a:off x="8823960" y="5806440"/>
            <a:ext cx="2286000" cy="411480"/>
          </a:xfrm>
          <a:prstGeom prst="rect">
            <a:avLst/>
          </a:prstGeom>
          <a:noFill/>
        </p:spPr>
        <p:txBody>
          <a:bodyPr wrap="square" anchor="ctr">
            <a:spAutoFit/>
          </a:bodyPr>
          <a:lstStyle/>
          <a:p>
            <a:pPr algn="ctr"/>
            <a:r>
              <a:rPr sz="1300" b="1">
                <a:solidFill>
                  <a:srgbClr val="1C2D46"/>
                </a:solidFill>
              </a:rPr>
              <a:t>Core idea: evolve priorities,
not routes directly.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6893"/>
            <a:ext cx="10221901" cy="492443"/>
          </a:xfrm>
          <a:prstGeom prst="rect">
            <a:avLst/>
          </a:prstGeom>
          <a:noFill/>
        </p:spPr>
        <p:txBody>
          <a:bodyPr wrap="none">
            <a:spAutoFit/>
          </a:bodyPr>
          <a:lstStyle/>
          <a:p>
            <a:r>
              <a:rPr sz="2600" b="1" dirty="0">
                <a:solidFill>
                  <a:srgbClr val="1C2D46"/>
                </a:solidFill>
              </a:rPr>
              <a:t>How a BRKGA chromosome becomes a schedule</a:t>
            </a:r>
            <a:r>
              <a:rPr lang="it-IT" sz="2600" b="1" dirty="0">
                <a:solidFill>
                  <a:srgbClr val="1C2D46"/>
                </a:solidFill>
              </a:rPr>
              <a:t> (first 3 </a:t>
            </a:r>
            <a:r>
              <a:rPr lang="it-IT" sz="2600" b="1" dirty="0" err="1">
                <a:solidFill>
                  <a:srgbClr val="1C2D46"/>
                </a:solidFill>
              </a:rPr>
              <a:t>phases</a:t>
            </a:r>
            <a:r>
              <a:rPr lang="it-IT" sz="2600" b="1" dirty="0">
                <a:solidFill>
                  <a:srgbClr val="1C2D46"/>
                </a:solidFill>
              </a:rPr>
              <a:t>)</a:t>
            </a:r>
            <a:endParaRPr sz="2600" b="1" dirty="0">
              <a:solidFill>
                <a:srgbClr val="1C2D46"/>
              </a:solidFill>
            </a:endParaRPr>
          </a:p>
        </p:txBody>
      </p:sp>
      <p:sp>
        <p:nvSpPr>
          <p:cNvPr id="3" name="TextBox 2"/>
          <p:cNvSpPr txBox="1"/>
          <p:nvPr/>
        </p:nvSpPr>
        <p:spPr>
          <a:xfrm>
            <a:off x="530352" y="749808"/>
            <a:ext cx="10972800" cy="329184"/>
          </a:xfrm>
          <a:prstGeom prst="rect">
            <a:avLst/>
          </a:prstGeom>
          <a:noFill/>
        </p:spPr>
        <p:txBody>
          <a:bodyPr wrap="none">
            <a:spAutoFit/>
          </a:bodyPr>
          <a:lstStyle/>
          <a:p>
            <a:r>
              <a:rPr sz="1100" dirty="0">
                <a:solidFill>
                  <a:srgbClr val="39649B"/>
                </a:solidFill>
              </a:rPr>
              <a:t>For |C| patients, chromosome length = |C| + 2.</a:t>
            </a:r>
          </a:p>
        </p:txBody>
      </p:sp>
      <p:sp>
        <p:nvSpPr>
          <p:cNvPr id="4" name="TextBox 3"/>
          <p:cNvSpPr txBox="1"/>
          <p:nvPr/>
        </p:nvSpPr>
        <p:spPr>
          <a:xfrm>
            <a:off x="640080" y="1234440"/>
            <a:ext cx="1828800" cy="320040"/>
          </a:xfrm>
          <a:prstGeom prst="rect">
            <a:avLst/>
          </a:prstGeom>
          <a:noFill/>
        </p:spPr>
        <p:txBody>
          <a:bodyPr wrap="square" anchor="ctr">
            <a:spAutoFit/>
          </a:bodyPr>
          <a:lstStyle/>
          <a:p>
            <a:pPr algn="l"/>
            <a:r>
              <a:rPr sz="1500" b="1">
                <a:solidFill>
                  <a:srgbClr val="1C2D46"/>
                </a:solidFill>
              </a:rPr>
              <a:t>Example chromosome</a:t>
            </a:r>
          </a:p>
        </p:txBody>
      </p:sp>
      <p:sp>
        <p:nvSpPr>
          <p:cNvPr id="5" name="Rounded Rectangle 4"/>
          <p:cNvSpPr/>
          <p:nvPr/>
        </p:nvSpPr>
        <p:spPr>
          <a:xfrm>
            <a:off x="685800"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737360"/>
            <a:ext cx="694944" cy="566928"/>
          </a:xfrm>
          <a:prstGeom prst="rect">
            <a:avLst/>
          </a:prstGeom>
          <a:noFill/>
        </p:spPr>
        <p:txBody>
          <a:bodyPr wrap="square" anchor="ctr">
            <a:spAutoFit/>
          </a:bodyPr>
          <a:lstStyle/>
          <a:p>
            <a:pPr algn="ctr"/>
            <a:r>
              <a:rPr sz="1200" b="0">
                <a:solidFill>
                  <a:srgbClr val="282D34"/>
                </a:solidFill>
              </a:rPr>
              <a:t>P1
0.72</a:t>
            </a:r>
          </a:p>
        </p:txBody>
      </p:sp>
      <p:sp>
        <p:nvSpPr>
          <p:cNvPr id="7" name="Rounded Rectangle 6"/>
          <p:cNvSpPr/>
          <p:nvPr/>
        </p:nvSpPr>
        <p:spPr>
          <a:xfrm>
            <a:off x="1719072"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0" y="1737360"/>
            <a:ext cx="694944" cy="566928"/>
          </a:xfrm>
          <a:prstGeom prst="rect">
            <a:avLst/>
          </a:prstGeom>
          <a:noFill/>
        </p:spPr>
        <p:txBody>
          <a:bodyPr wrap="square" anchor="ctr">
            <a:spAutoFit/>
          </a:bodyPr>
          <a:lstStyle/>
          <a:p>
            <a:pPr algn="ctr"/>
            <a:r>
              <a:rPr sz="1200" b="0">
                <a:solidFill>
                  <a:srgbClr val="282D34"/>
                </a:solidFill>
              </a:rPr>
              <a:t>P2
0.15</a:t>
            </a:r>
          </a:p>
        </p:txBody>
      </p:sp>
      <p:sp>
        <p:nvSpPr>
          <p:cNvPr id="9" name="Rounded Rectangle 8"/>
          <p:cNvSpPr/>
          <p:nvPr/>
        </p:nvSpPr>
        <p:spPr>
          <a:xfrm>
            <a:off x="2752344"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62072" y="1737360"/>
            <a:ext cx="694944" cy="566928"/>
          </a:xfrm>
          <a:prstGeom prst="rect">
            <a:avLst/>
          </a:prstGeom>
          <a:noFill/>
        </p:spPr>
        <p:txBody>
          <a:bodyPr wrap="square" anchor="ctr">
            <a:spAutoFit/>
          </a:bodyPr>
          <a:lstStyle/>
          <a:p>
            <a:pPr algn="ctr"/>
            <a:r>
              <a:rPr sz="1200" b="0">
                <a:solidFill>
                  <a:srgbClr val="282D34"/>
                </a:solidFill>
              </a:rPr>
              <a:t>P3
0.91</a:t>
            </a:r>
          </a:p>
        </p:txBody>
      </p:sp>
      <p:sp>
        <p:nvSpPr>
          <p:cNvPr id="11" name="Rounded Rectangle 10"/>
          <p:cNvSpPr/>
          <p:nvPr/>
        </p:nvSpPr>
        <p:spPr>
          <a:xfrm>
            <a:off x="3785615"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95344" y="1737360"/>
            <a:ext cx="694944" cy="566928"/>
          </a:xfrm>
          <a:prstGeom prst="rect">
            <a:avLst/>
          </a:prstGeom>
          <a:noFill/>
        </p:spPr>
        <p:txBody>
          <a:bodyPr wrap="square" anchor="ctr">
            <a:spAutoFit/>
          </a:bodyPr>
          <a:lstStyle/>
          <a:p>
            <a:pPr algn="ctr"/>
            <a:r>
              <a:rPr sz="1200" b="0">
                <a:solidFill>
                  <a:srgbClr val="282D34"/>
                </a:solidFill>
              </a:rPr>
              <a:t>P4
0.44</a:t>
            </a:r>
          </a:p>
        </p:txBody>
      </p:sp>
      <p:sp>
        <p:nvSpPr>
          <p:cNvPr id="13" name="Rounded Rectangle 12"/>
          <p:cNvSpPr/>
          <p:nvPr/>
        </p:nvSpPr>
        <p:spPr>
          <a:xfrm>
            <a:off x="4818888" y="1691640"/>
            <a:ext cx="914400" cy="658368"/>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28616" y="1737360"/>
            <a:ext cx="694944" cy="566928"/>
          </a:xfrm>
          <a:prstGeom prst="rect">
            <a:avLst/>
          </a:prstGeom>
          <a:noFill/>
        </p:spPr>
        <p:txBody>
          <a:bodyPr wrap="square" anchor="ctr">
            <a:spAutoFit/>
          </a:bodyPr>
          <a:lstStyle/>
          <a:p>
            <a:pPr algn="ctr"/>
            <a:r>
              <a:rPr sz="1200" b="0">
                <a:solidFill>
                  <a:srgbClr val="282D34"/>
                </a:solidFill>
              </a:rPr>
              <a:t>P5
0.63</a:t>
            </a:r>
          </a:p>
        </p:txBody>
      </p:sp>
      <p:sp>
        <p:nvSpPr>
          <p:cNvPr id="15" name="Rounded Rectangle 14"/>
          <p:cNvSpPr/>
          <p:nvPr/>
        </p:nvSpPr>
        <p:spPr>
          <a:xfrm>
            <a:off x="5852159" y="1691640"/>
            <a:ext cx="914400" cy="658368"/>
          </a:xfrm>
          <a:prstGeom prst="roundRect">
            <a:avLst/>
          </a:prstGeom>
          <a:solidFill>
            <a:srgbClr val="F8F1E7"/>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61888" y="1789991"/>
            <a:ext cx="694944" cy="461665"/>
          </a:xfrm>
          <a:prstGeom prst="rect">
            <a:avLst/>
          </a:prstGeom>
          <a:noFill/>
        </p:spPr>
        <p:txBody>
          <a:bodyPr wrap="square" anchor="ctr">
            <a:spAutoFit/>
          </a:bodyPr>
          <a:lstStyle/>
          <a:p>
            <a:pPr algn="ctr"/>
            <a:r>
              <a:rPr sz="1200" b="0" dirty="0">
                <a:solidFill>
                  <a:srgbClr val="282D34"/>
                </a:solidFill>
              </a:rPr>
              <a:t>Hull
0</a:t>
            </a:r>
          </a:p>
        </p:txBody>
      </p:sp>
      <p:sp>
        <p:nvSpPr>
          <p:cNvPr id="17" name="Rounded Rectangle 16"/>
          <p:cNvSpPr/>
          <p:nvPr/>
        </p:nvSpPr>
        <p:spPr>
          <a:xfrm>
            <a:off x="6885431" y="1691640"/>
            <a:ext cx="914400" cy="658368"/>
          </a:xfrm>
          <a:prstGeom prst="roundRect">
            <a:avLst/>
          </a:prstGeom>
          <a:solidFill>
            <a:srgbClr val="F8F1E7"/>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95159" y="1789991"/>
            <a:ext cx="694944" cy="461665"/>
          </a:xfrm>
          <a:prstGeom prst="rect">
            <a:avLst/>
          </a:prstGeom>
          <a:noFill/>
        </p:spPr>
        <p:txBody>
          <a:bodyPr wrap="square" anchor="ctr">
            <a:spAutoFit/>
          </a:bodyPr>
          <a:lstStyle/>
          <a:p>
            <a:pPr algn="ctr"/>
            <a:r>
              <a:rPr sz="1200" b="0" dirty="0">
                <a:solidFill>
                  <a:srgbClr val="282D34"/>
                </a:solidFill>
              </a:rPr>
              <a:t>Balance
</a:t>
            </a:r>
            <a:r>
              <a:rPr lang="it-IT" sz="1200" b="0" dirty="0">
                <a:solidFill>
                  <a:srgbClr val="282D34"/>
                </a:solidFill>
              </a:rPr>
              <a:t>1</a:t>
            </a:r>
            <a:endParaRPr sz="1200" b="0" dirty="0">
              <a:solidFill>
                <a:srgbClr val="282D34"/>
              </a:solidFill>
            </a:endParaRPr>
          </a:p>
        </p:txBody>
      </p:sp>
      <p:sp>
        <p:nvSpPr>
          <p:cNvPr id="19" name="TextBox 18"/>
          <p:cNvSpPr txBox="1"/>
          <p:nvPr/>
        </p:nvSpPr>
        <p:spPr>
          <a:xfrm>
            <a:off x="731520" y="2514600"/>
            <a:ext cx="5120640" cy="502920"/>
          </a:xfrm>
          <a:prstGeom prst="rect">
            <a:avLst/>
          </a:prstGeom>
          <a:noFill/>
        </p:spPr>
        <p:txBody>
          <a:bodyPr wrap="square" anchor="ctr">
            <a:spAutoFit/>
          </a:bodyPr>
          <a:lstStyle/>
          <a:p>
            <a:pPr algn="l"/>
            <a:r>
              <a:rPr sz="1300" b="1">
                <a:solidFill>
                  <a:srgbClr val="39649B"/>
                </a:solidFill>
              </a:rPr>
              <a:t>First |C| keys → patient insertion priority / sequence</a:t>
            </a:r>
          </a:p>
        </p:txBody>
      </p:sp>
      <p:sp>
        <p:nvSpPr>
          <p:cNvPr id="20" name="TextBox 19"/>
          <p:cNvSpPr txBox="1"/>
          <p:nvPr/>
        </p:nvSpPr>
        <p:spPr>
          <a:xfrm>
            <a:off x="5897879" y="2350561"/>
            <a:ext cx="5219291" cy="830997"/>
          </a:xfrm>
          <a:prstGeom prst="rect">
            <a:avLst/>
          </a:prstGeom>
          <a:noFill/>
        </p:spPr>
        <p:txBody>
          <a:bodyPr wrap="square" anchor="ctr">
            <a:spAutoFit/>
          </a:bodyPr>
          <a:lstStyle/>
          <a:p>
            <a:pPr algn="l"/>
            <a:r>
              <a:rPr sz="1200" b="1" dirty="0">
                <a:solidFill>
                  <a:srgbClr val="C6742A"/>
                </a:solidFill>
              </a:rPr>
              <a:t>Last 2 keys → convex-hull &amp; workload-balancing heuristics</a:t>
            </a:r>
            <a:r>
              <a:rPr lang="it-IT" sz="1200" b="1" dirty="0">
                <a:solidFill>
                  <a:srgbClr val="C6742A"/>
                </a:solidFill>
              </a:rPr>
              <a:t> (control keys are </a:t>
            </a:r>
            <a:r>
              <a:rPr lang="it-IT" sz="1200" b="1" dirty="0" err="1">
                <a:solidFill>
                  <a:srgbClr val="C6742A"/>
                </a:solidFill>
              </a:rPr>
              <a:t>either</a:t>
            </a:r>
            <a:r>
              <a:rPr lang="it-IT" sz="1200" b="1" dirty="0">
                <a:solidFill>
                  <a:srgbClr val="C6742A"/>
                </a:solidFill>
              </a:rPr>
              <a:t> 0 or 1 </a:t>
            </a:r>
            <a:r>
              <a:rPr lang="it-IT" sz="1200" b="1" dirty="0" err="1">
                <a:solidFill>
                  <a:srgbClr val="C6742A"/>
                </a:solidFill>
              </a:rPr>
              <a:t>meaning</a:t>
            </a:r>
            <a:r>
              <a:rPr lang="it-IT" sz="1200" b="1" dirty="0">
                <a:solidFill>
                  <a:srgbClr val="C6742A"/>
                </a:solidFill>
              </a:rPr>
              <a:t> are </a:t>
            </a:r>
            <a:r>
              <a:rPr lang="it-IT" sz="1200" b="1" dirty="0" err="1">
                <a:solidFill>
                  <a:srgbClr val="C6742A"/>
                </a:solidFill>
              </a:rPr>
              <a:t>active</a:t>
            </a:r>
            <a:r>
              <a:rPr lang="it-IT" sz="1200" b="1" dirty="0">
                <a:solidFill>
                  <a:srgbClr val="C6742A"/>
                </a:solidFill>
              </a:rPr>
              <a:t> or </a:t>
            </a:r>
            <a:r>
              <a:rPr lang="it-IT" sz="1200" b="1" dirty="0" err="1">
                <a:solidFill>
                  <a:srgbClr val="C6742A"/>
                </a:solidFill>
              </a:rPr>
              <a:t>not</a:t>
            </a:r>
            <a:r>
              <a:rPr lang="it-IT" sz="1200" b="1" dirty="0">
                <a:solidFill>
                  <a:srgbClr val="C6742A"/>
                </a:solidFill>
              </a:rPr>
              <a:t>). Hull=1 </a:t>
            </a:r>
            <a:r>
              <a:rPr lang="it-IT" sz="1200" b="1" dirty="0" err="1">
                <a:solidFill>
                  <a:srgbClr val="C6742A"/>
                </a:solidFill>
              </a:rPr>
              <a:t>tries</a:t>
            </a:r>
            <a:r>
              <a:rPr lang="it-IT" sz="1200" b="1" dirty="0">
                <a:solidFill>
                  <a:srgbClr val="C6742A"/>
                </a:solidFill>
              </a:rPr>
              <a:t> to follow a </a:t>
            </a:r>
            <a:r>
              <a:rPr lang="it-IT" sz="1200" b="1" dirty="0" err="1">
                <a:solidFill>
                  <a:srgbClr val="C6742A"/>
                </a:solidFill>
              </a:rPr>
              <a:t>perimeter</a:t>
            </a:r>
            <a:r>
              <a:rPr lang="it-IT" sz="1200" b="1" dirty="0">
                <a:solidFill>
                  <a:srgbClr val="C6742A"/>
                </a:solidFill>
              </a:rPr>
              <a:t> by </a:t>
            </a:r>
            <a:r>
              <a:rPr lang="it-IT" sz="1200" b="1" dirty="0" err="1">
                <a:solidFill>
                  <a:srgbClr val="C6742A"/>
                </a:solidFill>
              </a:rPr>
              <a:t>suggesting</a:t>
            </a:r>
            <a:r>
              <a:rPr lang="it-IT" sz="1200" b="1" dirty="0">
                <a:solidFill>
                  <a:srgbClr val="C6742A"/>
                </a:solidFill>
              </a:rPr>
              <a:t> </a:t>
            </a:r>
            <a:r>
              <a:rPr lang="it-IT" sz="1200" b="1" dirty="0" err="1">
                <a:solidFill>
                  <a:srgbClr val="C6742A"/>
                </a:solidFill>
              </a:rPr>
              <a:t>patients</a:t>
            </a:r>
            <a:r>
              <a:rPr lang="it-IT" sz="1200" b="1" dirty="0">
                <a:solidFill>
                  <a:srgbClr val="C6742A"/>
                </a:solidFill>
              </a:rPr>
              <a:t> </a:t>
            </a:r>
            <a:r>
              <a:rPr lang="it-IT" sz="1200" b="1" dirty="0" err="1">
                <a:solidFill>
                  <a:srgbClr val="C6742A"/>
                </a:solidFill>
              </a:rPr>
              <a:t>closer</a:t>
            </a:r>
            <a:r>
              <a:rPr lang="it-IT" sz="1200" b="1" dirty="0">
                <a:solidFill>
                  <a:srgbClr val="C6742A"/>
                </a:solidFill>
              </a:rPr>
              <a:t> to the </a:t>
            </a:r>
            <a:r>
              <a:rPr lang="it-IT" sz="1200" b="1" dirty="0" err="1">
                <a:solidFill>
                  <a:srgbClr val="C6742A"/>
                </a:solidFill>
              </a:rPr>
              <a:t>given</a:t>
            </a:r>
            <a:r>
              <a:rPr lang="it-IT" sz="1200" b="1" dirty="0">
                <a:solidFill>
                  <a:srgbClr val="C6742A"/>
                </a:solidFill>
              </a:rPr>
              <a:t> </a:t>
            </a:r>
            <a:r>
              <a:rPr lang="it-IT" sz="1200" b="1" dirty="0" err="1">
                <a:solidFill>
                  <a:srgbClr val="C6742A"/>
                </a:solidFill>
              </a:rPr>
              <a:t>patient</a:t>
            </a:r>
            <a:r>
              <a:rPr lang="it-IT" sz="1200" b="1" dirty="0">
                <a:solidFill>
                  <a:srgbClr val="C6742A"/>
                </a:solidFill>
              </a:rPr>
              <a:t> </a:t>
            </a:r>
            <a:r>
              <a:rPr lang="it-IT" sz="1200" b="1" dirty="0" err="1">
                <a:solidFill>
                  <a:srgbClr val="C6742A"/>
                </a:solidFill>
              </a:rPr>
              <a:t>wheras</a:t>
            </a:r>
            <a:r>
              <a:rPr lang="it-IT" sz="1200" b="1" dirty="0">
                <a:solidFill>
                  <a:srgbClr val="C6742A"/>
                </a:solidFill>
              </a:rPr>
              <a:t> balance </a:t>
            </a:r>
            <a:r>
              <a:rPr lang="it-IT" sz="1200" b="1" dirty="0" err="1">
                <a:solidFill>
                  <a:srgbClr val="C6742A"/>
                </a:solidFill>
              </a:rPr>
              <a:t>tries</a:t>
            </a:r>
            <a:r>
              <a:rPr lang="it-IT" sz="1200" b="1" dirty="0">
                <a:solidFill>
                  <a:srgbClr val="C6742A"/>
                </a:solidFill>
              </a:rPr>
              <a:t> to balance caregivers</a:t>
            </a:r>
            <a:endParaRPr sz="1200" b="1" dirty="0">
              <a:solidFill>
                <a:srgbClr val="C6742A"/>
              </a:solidFill>
            </a:endParaRPr>
          </a:p>
        </p:txBody>
      </p:sp>
      <p:cxnSp>
        <p:nvCxnSpPr>
          <p:cNvPr id="21" name="Connector 20"/>
          <p:cNvCxnSpPr/>
          <p:nvPr/>
        </p:nvCxnSpPr>
        <p:spPr>
          <a:xfrm>
            <a:off x="6035040" y="3154680"/>
            <a:ext cx="0" cy="50292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160520" y="3703320"/>
            <a:ext cx="3749039" cy="73152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70248" y="3749039"/>
            <a:ext cx="3529583" cy="640080"/>
          </a:xfrm>
          <a:prstGeom prst="rect">
            <a:avLst/>
          </a:prstGeom>
          <a:noFill/>
        </p:spPr>
        <p:txBody>
          <a:bodyPr wrap="square" anchor="ctr">
            <a:spAutoFit/>
          </a:bodyPr>
          <a:lstStyle/>
          <a:p>
            <a:pPr algn="ctr"/>
            <a:r>
              <a:rPr sz="1800" b="0">
                <a:solidFill>
                  <a:srgbClr val="1C2D46"/>
                </a:solidFill>
              </a:rPr>
              <a:t>DECODER
Greedy cheapest insertion</a:t>
            </a:r>
          </a:p>
        </p:txBody>
      </p:sp>
      <p:sp>
        <p:nvSpPr>
          <p:cNvPr id="24" name="TextBox 23"/>
          <p:cNvSpPr txBox="1"/>
          <p:nvPr/>
        </p:nvSpPr>
        <p:spPr>
          <a:xfrm>
            <a:off x="731520" y="4709160"/>
            <a:ext cx="3337560" cy="1051560"/>
          </a:xfrm>
          <a:prstGeom prst="rect">
            <a:avLst/>
          </a:prstGeom>
          <a:noFill/>
        </p:spPr>
        <p:txBody>
          <a:bodyPr wrap="square" anchor="ctr">
            <a:spAutoFit/>
          </a:bodyPr>
          <a:lstStyle/>
          <a:p>
            <a:pPr algn="l"/>
            <a:r>
              <a:rPr sz="1300" b="0" dirty="0">
                <a:solidFill>
                  <a:srgbClr val="282D34"/>
                </a:solidFill>
              </a:rPr>
              <a:t>For each patient/task:
• test qualified caregiver(s)
• test feasible insertion positions</a:t>
            </a:r>
          </a:p>
        </p:txBody>
      </p:sp>
      <p:sp>
        <p:nvSpPr>
          <p:cNvPr id="25" name="TextBox 24"/>
          <p:cNvSpPr txBox="1"/>
          <p:nvPr/>
        </p:nvSpPr>
        <p:spPr>
          <a:xfrm>
            <a:off x="4434840" y="4709160"/>
            <a:ext cx="3337560" cy="1051560"/>
          </a:xfrm>
          <a:prstGeom prst="rect">
            <a:avLst/>
          </a:prstGeom>
          <a:noFill/>
        </p:spPr>
        <p:txBody>
          <a:bodyPr wrap="square" anchor="ctr">
            <a:spAutoFit/>
          </a:bodyPr>
          <a:lstStyle/>
          <a:p>
            <a:pPr algn="l"/>
            <a:r>
              <a:rPr sz="1300" b="0">
                <a:solidFill>
                  <a:srgbClr val="282D34"/>
                </a:solidFill>
              </a:rPr>
              <a:t>Respect constraints:
• time windows
• synchronization / precedence</a:t>
            </a:r>
          </a:p>
        </p:txBody>
      </p:sp>
      <p:sp>
        <p:nvSpPr>
          <p:cNvPr id="26" name="TextBox 25"/>
          <p:cNvSpPr txBox="1"/>
          <p:nvPr/>
        </p:nvSpPr>
        <p:spPr>
          <a:xfrm>
            <a:off x="8138160" y="4709160"/>
            <a:ext cx="3200400" cy="1051560"/>
          </a:xfrm>
          <a:prstGeom prst="rect">
            <a:avLst/>
          </a:prstGeom>
          <a:noFill/>
        </p:spPr>
        <p:txBody>
          <a:bodyPr wrap="square" anchor="ctr">
            <a:spAutoFit/>
          </a:bodyPr>
          <a:lstStyle/>
          <a:p>
            <a:pPr algn="l"/>
            <a:r>
              <a:rPr sz="1400" b="1" dirty="0">
                <a:solidFill>
                  <a:srgbClr val="387D54"/>
                </a:solidFill>
              </a:rPr>
              <a:t>Choose insertion minimizing:
⅓D + ⅓T + ⅓</a:t>
            </a:r>
            <a:r>
              <a:rPr sz="1400" b="1" dirty="0" err="1">
                <a:solidFill>
                  <a:srgbClr val="387D54"/>
                </a:solidFill>
              </a:rPr>
              <a:t>Tmax</a:t>
            </a:r>
            <a:endParaRPr sz="1400" b="1" dirty="0">
              <a:solidFill>
                <a:srgbClr val="387D54"/>
              </a:solidFill>
            </a:endParaRPr>
          </a:p>
        </p:txBody>
      </p:sp>
      <p:sp>
        <p:nvSpPr>
          <p:cNvPr id="27" name="Rounded Rectangle 26"/>
          <p:cNvSpPr/>
          <p:nvPr/>
        </p:nvSpPr>
        <p:spPr>
          <a:xfrm>
            <a:off x="4251960" y="5897880"/>
            <a:ext cx="3566160" cy="530352"/>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61688" y="5943600"/>
            <a:ext cx="3346704" cy="438912"/>
          </a:xfrm>
          <a:prstGeom prst="rect">
            <a:avLst/>
          </a:prstGeom>
          <a:noFill/>
        </p:spPr>
        <p:txBody>
          <a:bodyPr wrap="square" anchor="ctr">
            <a:spAutoFit/>
          </a:bodyPr>
          <a:lstStyle/>
          <a:p>
            <a:pPr algn="ctr"/>
            <a:r>
              <a:rPr sz="1600" b="0">
                <a:solidFill>
                  <a:srgbClr val="387D54"/>
                </a:solidFill>
              </a:rPr>
              <a:t>Feasible HHC schedule</a:t>
            </a:r>
          </a:p>
        </p:txBody>
      </p:sp>
      <p:sp>
        <p:nvSpPr>
          <p:cNvPr id="29" name="TextBox 28">
            <a:extLst>
              <a:ext uri="{FF2B5EF4-FFF2-40B4-BE49-F238E27FC236}">
                <a16:creationId xmlns:a16="http://schemas.microsoft.com/office/drawing/2014/main" id="{F7FDDB46-1E09-8841-4F90-C4DB95A0D6E6}"/>
              </a:ext>
            </a:extLst>
          </p:cNvPr>
          <p:cNvSpPr txBox="1"/>
          <p:nvPr/>
        </p:nvSpPr>
        <p:spPr>
          <a:xfrm>
            <a:off x="6885431" y="583651"/>
            <a:ext cx="4803650" cy="954107"/>
          </a:xfrm>
          <a:prstGeom prst="rect">
            <a:avLst/>
          </a:prstGeom>
          <a:noFill/>
        </p:spPr>
        <p:txBody>
          <a:bodyPr wrap="square" anchor="ctr">
            <a:spAutoFit/>
          </a:bodyPr>
          <a:lstStyle/>
          <a:p>
            <a:r>
              <a:rPr lang="en-IT" sz="1400" dirty="0"/>
              <a:t>Each chromosome is a vector of random keys in [0,1). Each patient is associated with one key, whose value can change during the evolutionary process and determines the priority with which that patient is considered by the decoder.</a:t>
            </a:r>
            <a:endParaRPr sz="1300" dirty="0">
              <a:solidFill>
                <a:srgbClr val="282D3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6"/>
            <a:ext cx="8890575" cy="492443"/>
          </a:xfrm>
          <a:prstGeom prst="rect">
            <a:avLst/>
          </a:prstGeom>
          <a:noFill/>
        </p:spPr>
        <p:txBody>
          <a:bodyPr wrap="none">
            <a:spAutoFit/>
          </a:bodyPr>
          <a:lstStyle/>
          <a:p>
            <a:r>
              <a:rPr sz="2600" b="1" dirty="0">
                <a:solidFill>
                  <a:srgbClr val="1C2D46"/>
                </a:solidFill>
              </a:rPr>
              <a:t>How BRKGA evolves the population</a:t>
            </a:r>
            <a:r>
              <a:rPr lang="it-IT" sz="2600" b="1" dirty="0">
                <a:solidFill>
                  <a:srgbClr val="1C2D46"/>
                </a:solidFill>
              </a:rPr>
              <a:t> (last </a:t>
            </a:r>
            <a:r>
              <a:rPr lang="it-IT" sz="2600" b="1" dirty="0" err="1">
                <a:solidFill>
                  <a:srgbClr val="1C2D46"/>
                </a:solidFill>
              </a:rPr>
              <a:t>three</a:t>
            </a:r>
            <a:r>
              <a:rPr lang="it-IT" sz="2600" b="1" dirty="0">
                <a:solidFill>
                  <a:srgbClr val="1C2D46"/>
                </a:solidFill>
              </a:rPr>
              <a:t> </a:t>
            </a:r>
            <a:r>
              <a:rPr lang="it-IT" sz="2600" b="1" dirty="0" err="1">
                <a:solidFill>
                  <a:srgbClr val="1C2D46"/>
                </a:solidFill>
              </a:rPr>
              <a:t>phases</a:t>
            </a:r>
            <a:r>
              <a:rPr lang="it-IT" sz="2600" b="1" dirty="0">
                <a:solidFill>
                  <a:srgbClr val="1C2D46"/>
                </a:solidFill>
              </a:rPr>
              <a:t>)</a:t>
            </a:r>
            <a:endParaRPr sz="2600" b="1" dirty="0">
              <a:solidFill>
                <a:srgbClr val="1C2D46"/>
              </a:solidFill>
            </a:endParaRPr>
          </a:p>
        </p:txBody>
      </p:sp>
      <p:sp>
        <p:nvSpPr>
          <p:cNvPr id="4" name="Rounded Rectangle 3"/>
          <p:cNvSpPr/>
          <p:nvPr/>
        </p:nvSpPr>
        <p:spPr>
          <a:xfrm>
            <a:off x="640080" y="1325880"/>
            <a:ext cx="3063240" cy="914400"/>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71600"/>
            <a:ext cx="2843784" cy="822960"/>
          </a:xfrm>
          <a:prstGeom prst="rect">
            <a:avLst/>
          </a:prstGeom>
          <a:noFill/>
        </p:spPr>
        <p:txBody>
          <a:bodyPr wrap="square" anchor="ctr">
            <a:spAutoFit/>
          </a:bodyPr>
          <a:lstStyle/>
          <a:p>
            <a:pPr algn="ctr"/>
            <a:r>
              <a:rPr sz="1800" b="0">
                <a:solidFill>
                  <a:srgbClr val="387D54"/>
                </a:solidFill>
              </a:rPr>
              <a:t>ELITE SET
Best chromosomes</a:t>
            </a:r>
          </a:p>
        </p:txBody>
      </p:sp>
      <p:sp>
        <p:nvSpPr>
          <p:cNvPr id="6" name="Rounded Rectangle 5"/>
          <p:cNvSpPr/>
          <p:nvPr/>
        </p:nvSpPr>
        <p:spPr>
          <a:xfrm>
            <a:off x="640080" y="2743200"/>
            <a:ext cx="3063240" cy="914400"/>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2788920"/>
            <a:ext cx="2843784" cy="822960"/>
          </a:xfrm>
          <a:prstGeom prst="rect">
            <a:avLst/>
          </a:prstGeom>
          <a:noFill/>
        </p:spPr>
        <p:txBody>
          <a:bodyPr wrap="square" anchor="ctr">
            <a:spAutoFit/>
          </a:bodyPr>
          <a:lstStyle/>
          <a:p>
            <a:pPr algn="ctr"/>
            <a:r>
              <a:rPr sz="1800" b="0">
                <a:solidFill>
                  <a:srgbClr val="39649B"/>
                </a:solidFill>
              </a:rPr>
              <a:t>NON-ELITE SET
Remaining chromosomes</a:t>
            </a:r>
          </a:p>
        </p:txBody>
      </p:sp>
      <p:cxnSp>
        <p:nvCxnSpPr>
          <p:cNvPr id="8" name="Connector 7"/>
          <p:cNvCxnSpPr/>
          <p:nvPr/>
        </p:nvCxnSpPr>
        <p:spPr>
          <a:xfrm>
            <a:off x="3749039" y="1783080"/>
            <a:ext cx="822961" cy="548640"/>
          </a:xfrm>
          <a:prstGeom prst="line">
            <a:avLst/>
          </a:prstGeom>
          <a:ln w="25400">
            <a:solidFill>
              <a:srgbClr val="387D5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749039" y="2514600"/>
            <a:ext cx="822961" cy="685800"/>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617720" y="1965960"/>
            <a:ext cx="2834640" cy="1051560"/>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7448" y="2011679"/>
            <a:ext cx="2615184" cy="960119"/>
          </a:xfrm>
          <a:prstGeom prst="rect">
            <a:avLst/>
          </a:prstGeom>
          <a:noFill/>
        </p:spPr>
        <p:txBody>
          <a:bodyPr wrap="square" anchor="ctr">
            <a:spAutoFit/>
          </a:bodyPr>
          <a:lstStyle/>
          <a:p>
            <a:pPr algn="ctr"/>
            <a:r>
              <a:rPr sz="1600" b="0">
                <a:solidFill>
                  <a:srgbClr val="704A96"/>
                </a:solidFill>
              </a:rPr>
              <a:t>BIASED CROSSOVER
Fitter parents have
more influence</a:t>
            </a:r>
          </a:p>
        </p:txBody>
      </p:sp>
      <p:cxnSp>
        <p:nvCxnSpPr>
          <p:cNvPr id="12" name="Connector 11"/>
          <p:cNvCxnSpPr/>
          <p:nvPr/>
        </p:nvCxnSpPr>
        <p:spPr>
          <a:xfrm>
            <a:off x="7498079" y="2468880"/>
            <a:ext cx="822961" cy="0"/>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366760" y="1965960"/>
            <a:ext cx="2971800" cy="1051560"/>
          </a:xfrm>
          <a:prstGeom prst="roundRect">
            <a:avLst/>
          </a:prstGeom>
          <a:solidFill>
            <a:srgbClr val="F1F5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76488" y="2011679"/>
            <a:ext cx="2752344" cy="960119"/>
          </a:xfrm>
          <a:prstGeom prst="rect">
            <a:avLst/>
          </a:prstGeom>
          <a:noFill/>
        </p:spPr>
        <p:txBody>
          <a:bodyPr wrap="square" anchor="ctr">
            <a:spAutoFit/>
          </a:bodyPr>
          <a:lstStyle/>
          <a:p>
            <a:pPr algn="ctr"/>
            <a:r>
              <a:rPr sz="1600" b="0">
                <a:solidFill>
                  <a:srgbClr val="282D34"/>
                </a:solidFill>
              </a:rPr>
              <a:t>OFFSPRING
New random-key
chromosomes</a:t>
            </a:r>
          </a:p>
        </p:txBody>
      </p:sp>
      <p:sp>
        <p:nvSpPr>
          <p:cNvPr id="15" name="TextBox 14"/>
          <p:cNvSpPr txBox="1"/>
          <p:nvPr/>
        </p:nvSpPr>
        <p:spPr>
          <a:xfrm>
            <a:off x="731520" y="4251960"/>
            <a:ext cx="3017520" cy="777240"/>
          </a:xfrm>
          <a:prstGeom prst="rect">
            <a:avLst/>
          </a:prstGeom>
          <a:noFill/>
        </p:spPr>
        <p:txBody>
          <a:bodyPr wrap="square" anchor="ctr">
            <a:spAutoFit/>
          </a:bodyPr>
          <a:lstStyle/>
          <a:p>
            <a:pPr algn="ctr"/>
            <a:r>
              <a:rPr sz="1400" b="1">
                <a:solidFill>
                  <a:srgbClr val="387D54"/>
                </a:solidFill>
              </a:rPr>
              <a:t>Elites are copied directly
to the next generation.</a:t>
            </a:r>
          </a:p>
        </p:txBody>
      </p:sp>
      <p:sp>
        <p:nvSpPr>
          <p:cNvPr id="16" name="TextBox 15"/>
          <p:cNvSpPr txBox="1"/>
          <p:nvPr/>
        </p:nvSpPr>
        <p:spPr>
          <a:xfrm>
            <a:off x="4526280" y="4251960"/>
            <a:ext cx="3017520" cy="777240"/>
          </a:xfrm>
          <a:prstGeom prst="rect">
            <a:avLst/>
          </a:prstGeom>
          <a:noFill/>
        </p:spPr>
        <p:txBody>
          <a:bodyPr wrap="square" anchor="ctr">
            <a:spAutoFit/>
          </a:bodyPr>
          <a:lstStyle/>
          <a:p>
            <a:pPr algn="ctr"/>
            <a:r>
              <a:rPr sz="1400" b="1">
                <a:solidFill>
                  <a:srgbClr val="C6742A"/>
                </a:solidFill>
              </a:rPr>
              <a:t>Mutation / random mutants
maintain diversity.</a:t>
            </a:r>
          </a:p>
        </p:txBody>
      </p:sp>
      <p:sp>
        <p:nvSpPr>
          <p:cNvPr id="17" name="TextBox 16"/>
          <p:cNvSpPr txBox="1"/>
          <p:nvPr/>
        </p:nvSpPr>
        <p:spPr>
          <a:xfrm>
            <a:off x="8229600" y="4251960"/>
            <a:ext cx="3017520" cy="777240"/>
          </a:xfrm>
          <a:prstGeom prst="rect">
            <a:avLst/>
          </a:prstGeom>
          <a:noFill/>
        </p:spPr>
        <p:txBody>
          <a:bodyPr wrap="square" anchor="ctr">
            <a:spAutoFit/>
          </a:bodyPr>
          <a:lstStyle/>
          <a:p>
            <a:pPr algn="ctr"/>
            <a:r>
              <a:rPr sz="1400" b="1">
                <a:solidFill>
                  <a:srgbClr val="AE4343"/>
                </a:solidFill>
              </a:rPr>
              <a:t>IPR explores paths between
elite chromosomes.</a:t>
            </a:r>
          </a:p>
        </p:txBody>
      </p:sp>
      <p:sp>
        <p:nvSpPr>
          <p:cNvPr id="18" name="Rounded Rectangle 17"/>
          <p:cNvSpPr/>
          <p:nvPr/>
        </p:nvSpPr>
        <p:spPr>
          <a:xfrm>
            <a:off x="1965960" y="5486400"/>
            <a:ext cx="8321040" cy="621792"/>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75688" y="5532120"/>
            <a:ext cx="8101583" cy="530352"/>
          </a:xfrm>
          <a:prstGeom prst="rect">
            <a:avLst/>
          </a:prstGeom>
          <a:noFill/>
        </p:spPr>
        <p:txBody>
          <a:bodyPr wrap="square" anchor="ctr">
            <a:spAutoFit/>
          </a:bodyPr>
          <a:lstStyle/>
          <a:p>
            <a:pPr algn="ctr"/>
            <a:r>
              <a:rPr sz="1700" b="0">
                <a:solidFill>
                  <a:srgbClr val="1C2D46"/>
                </a:solidFill>
              </a:rPr>
              <a:t>Repeated evolution → decode → evaluate → keep improving the best schedule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2920" y="1"/>
            <a:ext cx="11155680" cy="502920"/>
          </a:xfrm>
          <a:prstGeom prst="rect">
            <a:avLst/>
          </a:prstGeom>
          <a:noFill/>
        </p:spPr>
        <p:txBody>
          <a:bodyPr wrap="none">
            <a:spAutoFit/>
          </a:bodyPr>
          <a:lstStyle/>
          <a:p>
            <a:r>
              <a:rPr sz="2600" b="1" dirty="0">
                <a:solidFill>
                  <a:srgbClr val="1C2D46"/>
                </a:solidFill>
              </a:rPr>
              <a:t>Decoder logic for double services</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Feasibility is handled by the decoder rather than left to the genetic operators.</a:t>
            </a:r>
          </a:p>
        </p:txBody>
      </p:sp>
      <p:sp>
        <p:nvSpPr>
          <p:cNvPr id="4" name="Rounded Rectangle 3"/>
          <p:cNvSpPr/>
          <p:nvPr/>
        </p:nvSpPr>
        <p:spPr>
          <a:xfrm>
            <a:off x="640080" y="1371600"/>
            <a:ext cx="5257800" cy="960120"/>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417320"/>
            <a:ext cx="5038344" cy="868680"/>
          </a:xfrm>
          <a:prstGeom prst="rect">
            <a:avLst/>
          </a:prstGeom>
          <a:noFill/>
        </p:spPr>
        <p:txBody>
          <a:bodyPr wrap="square" anchor="ctr">
            <a:spAutoFit/>
          </a:bodyPr>
          <a:lstStyle/>
          <a:p>
            <a:pPr algn="ctr"/>
            <a:r>
              <a:rPr sz="1800" b="0">
                <a:solidFill>
                  <a:srgbClr val="387D54"/>
                </a:solidFill>
              </a:rPr>
              <a:t>SIMULTANEOUS SERVICE</a:t>
            </a:r>
          </a:p>
        </p:txBody>
      </p:sp>
      <p:sp>
        <p:nvSpPr>
          <p:cNvPr id="6" name="TextBox 5"/>
          <p:cNvSpPr txBox="1"/>
          <p:nvPr/>
        </p:nvSpPr>
        <p:spPr>
          <a:xfrm>
            <a:off x="914400" y="2514600"/>
            <a:ext cx="4663440" cy="640080"/>
          </a:xfrm>
          <a:prstGeom prst="rect">
            <a:avLst/>
          </a:prstGeom>
          <a:noFill/>
        </p:spPr>
        <p:txBody>
          <a:bodyPr wrap="square" anchor="ctr">
            <a:spAutoFit/>
          </a:bodyPr>
          <a:lstStyle/>
          <a:p>
            <a:pPr algn="l"/>
            <a:r>
              <a:rPr sz="1400" b="1">
                <a:solidFill>
                  <a:srgbClr val="282D34"/>
                </a:solidFill>
              </a:rPr>
              <a:t>Both caregivers start when both are available:</a:t>
            </a:r>
          </a:p>
        </p:txBody>
      </p:sp>
      <p:sp>
        <p:nvSpPr>
          <p:cNvPr id="7" name="TextBox 6"/>
          <p:cNvSpPr txBox="1"/>
          <p:nvPr/>
        </p:nvSpPr>
        <p:spPr>
          <a:xfrm>
            <a:off x="914400" y="3154680"/>
            <a:ext cx="4663440" cy="640080"/>
          </a:xfrm>
          <a:prstGeom prst="rect">
            <a:avLst/>
          </a:prstGeom>
          <a:noFill/>
        </p:spPr>
        <p:txBody>
          <a:bodyPr wrap="square" anchor="ctr">
            <a:spAutoFit/>
          </a:bodyPr>
          <a:lstStyle/>
          <a:p>
            <a:pPr algn="ctr"/>
            <a:r>
              <a:rPr sz="1800" b="1">
                <a:solidFill>
                  <a:srgbClr val="1C2D46"/>
                </a:solidFill>
              </a:rPr>
              <a:t>tᵢ,v₁,s₁ = tᵢ,v₂,s₂ = max(arrival₁, arrival₂)</a:t>
            </a:r>
          </a:p>
        </p:txBody>
      </p:sp>
      <p:sp>
        <p:nvSpPr>
          <p:cNvPr id="8" name="TextBox 7"/>
          <p:cNvSpPr txBox="1"/>
          <p:nvPr/>
        </p:nvSpPr>
        <p:spPr>
          <a:xfrm>
            <a:off x="914400" y="3977639"/>
            <a:ext cx="4663440" cy="868680"/>
          </a:xfrm>
          <a:prstGeom prst="rect">
            <a:avLst/>
          </a:prstGeom>
          <a:noFill/>
        </p:spPr>
        <p:txBody>
          <a:bodyPr wrap="square" anchor="ctr">
            <a:spAutoFit/>
          </a:bodyPr>
          <a:lstStyle/>
          <a:p>
            <a:pPr algn="ctr"/>
            <a:r>
              <a:rPr sz="1400" b="0">
                <a:solidFill>
                  <a:srgbClr val="282D34"/>
                </a:solidFill>
              </a:rPr>
              <a:t>If one caregiver arrives earlier,
that caregiver waits.</a:t>
            </a:r>
          </a:p>
        </p:txBody>
      </p:sp>
      <p:sp>
        <p:nvSpPr>
          <p:cNvPr id="9" name="Rounded Rectangle 8"/>
          <p:cNvSpPr/>
          <p:nvPr/>
        </p:nvSpPr>
        <p:spPr>
          <a:xfrm>
            <a:off x="6263640" y="1371600"/>
            <a:ext cx="5257800" cy="960120"/>
          </a:xfrm>
          <a:prstGeom prst="roundRect">
            <a:avLst/>
          </a:prstGeom>
          <a:solidFill>
            <a:srgbClr val="FAF7EB"/>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417320"/>
            <a:ext cx="5038344" cy="868680"/>
          </a:xfrm>
          <a:prstGeom prst="rect">
            <a:avLst/>
          </a:prstGeom>
          <a:noFill/>
        </p:spPr>
        <p:txBody>
          <a:bodyPr wrap="square" anchor="ctr">
            <a:spAutoFit/>
          </a:bodyPr>
          <a:lstStyle/>
          <a:p>
            <a:pPr algn="ctr"/>
            <a:r>
              <a:rPr sz="1800" b="0">
                <a:solidFill>
                  <a:srgbClr val="C6742A"/>
                </a:solidFill>
              </a:rPr>
              <a:t>PRECEDENCE SERVICE</a:t>
            </a:r>
          </a:p>
        </p:txBody>
      </p:sp>
      <p:sp>
        <p:nvSpPr>
          <p:cNvPr id="11" name="TextBox 10"/>
          <p:cNvSpPr txBox="1"/>
          <p:nvPr/>
        </p:nvSpPr>
        <p:spPr>
          <a:xfrm>
            <a:off x="6537960" y="2487168"/>
            <a:ext cx="4663440" cy="822960"/>
          </a:xfrm>
          <a:prstGeom prst="rect">
            <a:avLst/>
          </a:prstGeom>
          <a:noFill/>
        </p:spPr>
        <p:txBody>
          <a:bodyPr wrap="square" anchor="ctr">
            <a:spAutoFit/>
          </a:bodyPr>
          <a:lstStyle/>
          <a:p>
            <a:pPr algn="l"/>
            <a:r>
              <a:rPr sz="1400" b="1">
                <a:solidFill>
                  <a:srgbClr val="282D34"/>
                </a:solidFill>
              </a:rPr>
              <a:t>Start-time difference must satisfy:</a:t>
            </a:r>
          </a:p>
        </p:txBody>
      </p:sp>
      <p:sp>
        <p:nvSpPr>
          <p:cNvPr id="12" name="TextBox 11"/>
          <p:cNvSpPr txBox="1"/>
          <p:nvPr/>
        </p:nvSpPr>
        <p:spPr>
          <a:xfrm>
            <a:off x="6537960" y="3090672"/>
            <a:ext cx="4663440" cy="731520"/>
          </a:xfrm>
          <a:prstGeom prst="rect">
            <a:avLst/>
          </a:prstGeom>
          <a:noFill/>
        </p:spPr>
        <p:txBody>
          <a:bodyPr wrap="square" anchor="ctr">
            <a:spAutoFit/>
          </a:bodyPr>
          <a:lstStyle/>
          <a:p>
            <a:pPr algn="ctr"/>
            <a:r>
              <a:rPr sz="1900" b="1">
                <a:solidFill>
                  <a:srgbClr val="1C2D46"/>
                </a:solidFill>
              </a:rPr>
              <a:t>δᵢmin ≤ t₂ − t₁ ≤ δᵢmax</a:t>
            </a:r>
          </a:p>
        </p:txBody>
      </p:sp>
      <p:sp>
        <p:nvSpPr>
          <p:cNvPr id="13" name="TextBox 12"/>
          <p:cNvSpPr txBox="1"/>
          <p:nvPr/>
        </p:nvSpPr>
        <p:spPr>
          <a:xfrm>
            <a:off x="6537960" y="3886200"/>
            <a:ext cx="4663440" cy="1051560"/>
          </a:xfrm>
          <a:prstGeom prst="rect">
            <a:avLst/>
          </a:prstGeom>
          <a:noFill/>
        </p:spPr>
        <p:txBody>
          <a:bodyPr wrap="square" anchor="ctr">
            <a:spAutoFit/>
          </a:bodyPr>
          <a:lstStyle/>
          <a:p>
            <a:pPr algn="ctr"/>
            <a:r>
              <a:rPr sz="1400" b="0">
                <a:solidFill>
                  <a:srgbClr val="282D34"/>
                </a:solidFill>
              </a:rPr>
              <a:t>If caregiver 2 is too late, delay service 1:
t₁ = max(arrival₁, arrival₂ − δᵢmax)</a:t>
            </a:r>
          </a:p>
        </p:txBody>
      </p:sp>
      <p:sp>
        <p:nvSpPr>
          <p:cNvPr id="14" name="Rounded Rectangle 13"/>
          <p:cNvSpPr/>
          <p:nvPr/>
        </p:nvSpPr>
        <p:spPr>
          <a:xfrm>
            <a:off x="1965960" y="5486400"/>
            <a:ext cx="8229600" cy="621792"/>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75688" y="5532120"/>
            <a:ext cx="8010144" cy="530352"/>
          </a:xfrm>
          <a:prstGeom prst="rect">
            <a:avLst/>
          </a:prstGeom>
          <a:noFill/>
        </p:spPr>
        <p:txBody>
          <a:bodyPr wrap="square" anchor="ctr">
            <a:spAutoFit/>
          </a:bodyPr>
          <a:lstStyle/>
          <a:p>
            <a:pPr algn="ctr"/>
            <a:r>
              <a:rPr sz="1500" b="0">
                <a:solidFill>
                  <a:srgbClr val="1C2D46"/>
                </a:solidFill>
              </a:rPr>
              <a:t>Result: chromosomes can be searched freely while the decoder constructs constraint-respecting schedules.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2063" y="8070"/>
            <a:ext cx="11155680" cy="502920"/>
          </a:xfrm>
          <a:prstGeom prst="rect">
            <a:avLst/>
          </a:prstGeom>
          <a:noFill/>
        </p:spPr>
        <p:txBody>
          <a:bodyPr wrap="none">
            <a:spAutoFit/>
          </a:bodyPr>
          <a:lstStyle/>
          <a:p>
            <a:r>
              <a:rPr sz="2600" b="1" dirty="0">
                <a:solidFill>
                  <a:srgbClr val="1C2D46"/>
                </a:solidFill>
              </a:rPr>
              <a:t>Hybrid LLM-BRKGA: what changes?</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BRKGA remains the optimization engine; the LLM adds semantic, instance-aware guidance.</a:t>
            </a:r>
          </a:p>
        </p:txBody>
      </p:sp>
      <p:sp>
        <p:nvSpPr>
          <p:cNvPr id="4" name="Rounded Rectangle 3"/>
          <p:cNvSpPr/>
          <p:nvPr/>
        </p:nvSpPr>
        <p:spPr>
          <a:xfrm>
            <a:off x="594360" y="1920240"/>
            <a:ext cx="1874519" cy="960120"/>
          </a:xfrm>
          <a:prstGeom prst="roundRect">
            <a:avLst/>
          </a:prstGeom>
          <a:solidFill>
            <a:srgbClr val="FFFFFF"/>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965960"/>
            <a:ext cx="1655063" cy="868680"/>
          </a:xfrm>
          <a:prstGeom prst="rect">
            <a:avLst/>
          </a:prstGeom>
          <a:noFill/>
        </p:spPr>
        <p:txBody>
          <a:bodyPr wrap="square" anchor="ctr">
            <a:spAutoFit/>
          </a:bodyPr>
          <a:lstStyle/>
          <a:p>
            <a:pPr algn="ctr"/>
            <a:r>
              <a:rPr sz="1600" b="0">
                <a:solidFill>
                  <a:srgbClr val="39649B"/>
                </a:solidFill>
              </a:rPr>
              <a:t>Genetic Step
BRKGA</a:t>
            </a:r>
          </a:p>
        </p:txBody>
      </p:sp>
      <p:cxnSp>
        <p:nvCxnSpPr>
          <p:cNvPr id="6" name="Connector 5"/>
          <p:cNvCxnSpPr/>
          <p:nvPr/>
        </p:nvCxnSpPr>
        <p:spPr>
          <a:xfrm>
            <a:off x="2496312" y="2395728"/>
            <a:ext cx="338328" cy="0"/>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98648" y="1920240"/>
            <a:ext cx="1874519" cy="96012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08376" y="1965960"/>
            <a:ext cx="1655063" cy="868680"/>
          </a:xfrm>
          <a:prstGeom prst="rect">
            <a:avLst/>
          </a:prstGeom>
          <a:noFill/>
        </p:spPr>
        <p:txBody>
          <a:bodyPr wrap="square" anchor="ctr">
            <a:spAutoFit/>
          </a:bodyPr>
          <a:lstStyle/>
          <a:p>
            <a:pPr algn="ctr"/>
            <a:r>
              <a:rPr sz="1600" b="0">
                <a:solidFill>
                  <a:srgbClr val="1C2D46"/>
                </a:solidFill>
              </a:rPr>
              <a:t>State
Extraction</a:t>
            </a:r>
          </a:p>
        </p:txBody>
      </p:sp>
      <p:cxnSp>
        <p:nvCxnSpPr>
          <p:cNvPr id="9" name="Connector 8"/>
          <p:cNvCxnSpPr/>
          <p:nvPr/>
        </p:nvCxnSpPr>
        <p:spPr>
          <a:xfrm>
            <a:off x="4800600" y="2395728"/>
            <a:ext cx="338328" cy="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02936" y="1920240"/>
            <a:ext cx="1874519" cy="960120"/>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12664" y="1965960"/>
            <a:ext cx="1655063" cy="868680"/>
          </a:xfrm>
          <a:prstGeom prst="rect">
            <a:avLst/>
          </a:prstGeom>
          <a:noFill/>
        </p:spPr>
        <p:txBody>
          <a:bodyPr wrap="square" anchor="ctr">
            <a:spAutoFit/>
          </a:bodyPr>
          <a:lstStyle/>
          <a:p>
            <a:pPr algn="ctr"/>
            <a:r>
              <a:rPr sz="1600" b="0">
                <a:solidFill>
                  <a:srgbClr val="704A96"/>
                </a:solidFill>
              </a:rPr>
              <a:t>LLM Semantic
Analysis</a:t>
            </a:r>
          </a:p>
        </p:txBody>
      </p:sp>
      <p:cxnSp>
        <p:nvCxnSpPr>
          <p:cNvPr id="12" name="Connector 11"/>
          <p:cNvCxnSpPr/>
          <p:nvPr/>
        </p:nvCxnSpPr>
        <p:spPr>
          <a:xfrm>
            <a:off x="7104888" y="2395728"/>
            <a:ext cx="338328" cy="0"/>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07224" y="1920240"/>
            <a:ext cx="1874519" cy="960120"/>
          </a:xfrm>
          <a:prstGeom prst="roundRect">
            <a:avLst/>
          </a:prstGeom>
          <a:solidFill>
            <a:srgbClr val="FFFFFF"/>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1965960"/>
            <a:ext cx="1655063" cy="868680"/>
          </a:xfrm>
          <a:prstGeom prst="rect">
            <a:avLst/>
          </a:prstGeom>
          <a:noFill/>
        </p:spPr>
        <p:txBody>
          <a:bodyPr wrap="square" anchor="ctr">
            <a:spAutoFit/>
          </a:bodyPr>
          <a:lstStyle/>
          <a:p>
            <a:pPr algn="ctr"/>
            <a:r>
              <a:rPr sz="1600" b="0">
                <a:solidFill>
                  <a:srgbClr val="C6742A"/>
                </a:solidFill>
              </a:rPr>
              <a:t>Targeted
Perturbation</a:t>
            </a:r>
          </a:p>
        </p:txBody>
      </p:sp>
      <p:cxnSp>
        <p:nvCxnSpPr>
          <p:cNvPr id="15" name="Connector 14"/>
          <p:cNvCxnSpPr/>
          <p:nvPr/>
        </p:nvCxnSpPr>
        <p:spPr>
          <a:xfrm>
            <a:off x="9409176" y="2395728"/>
            <a:ext cx="338328" cy="0"/>
          </a:xfrm>
          <a:prstGeom prst="line">
            <a:avLst/>
          </a:prstGeom>
          <a:ln w="25400">
            <a:solidFill>
              <a:srgbClr val="C6742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11512" y="1920240"/>
            <a:ext cx="1874519" cy="960120"/>
          </a:xfrm>
          <a:prstGeom prst="roundRect">
            <a:avLst/>
          </a:prstGeom>
          <a:solidFill>
            <a:srgbClr val="FFFFFF"/>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21240" y="1965960"/>
            <a:ext cx="1655063" cy="868680"/>
          </a:xfrm>
          <a:prstGeom prst="rect">
            <a:avLst/>
          </a:prstGeom>
          <a:noFill/>
        </p:spPr>
        <p:txBody>
          <a:bodyPr wrap="square" anchor="ctr">
            <a:spAutoFit/>
          </a:bodyPr>
          <a:lstStyle/>
          <a:p>
            <a:pPr algn="ctr"/>
            <a:r>
              <a:rPr sz="1600" b="0">
                <a:solidFill>
                  <a:srgbClr val="387D54"/>
                </a:solidFill>
              </a:rPr>
              <a:t>Elite
Reinjection</a:t>
            </a:r>
          </a:p>
        </p:txBody>
      </p:sp>
      <p:sp>
        <p:nvSpPr>
          <p:cNvPr id="18" name="TextBox 17"/>
          <p:cNvSpPr txBox="1"/>
          <p:nvPr/>
        </p:nvSpPr>
        <p:spPr>
          <a:xfrm>
            <a:off x="822960" y="3337560"/>
            <a:ext cx="10698480" cy="502920"/>
          </a:xfrm>
          <a:prstGeom prst="rect">
            <a:avLst/>
          </a:prstGeom>
          <a:noFill/>
        </p:spPr>
        <p:txBody>
          <a:bodyPr wrap="square" anchor="ctr">
            <a:spAutoFit/>
          </a:bodyPr>
          <a:lstStyle/>
          <a:p>
            <a:pPr algn="ctr"/>
            <a:r>
              <a:rPr sz="1800" b="1">
                <a:solidFill>
                  <a:srgbClr val="1C2D46"/>
                </a:solidFill>
              </a:rPr>
              <a:t>The LLM does NOT generate the final schedule and does NOT replace the decoder.</a:t>
            </a:r>
          </a:p>
        </p:txBody>
      </p:sp>
      <p:sp>
        <p:nvSpPr>
          <p:cNvPr id="19" name="TextBox 18"/>
          <p:cNvSpPr txBox="1"/>
          <p:nvPr/>
        </p:nvSpPr>
        <p:spPr>
          <a:xfrm>
            <a:off x="822960" y="4069080"/>
            <a:ext cx="10698480" cy="822960"/>
          </a:xfrm>
          <a:prstGeom prst="rect">
            <a:avLst/>
          </a:prstGeom>
          <a:noFill/>
        </p:spPr>
        <p:txBody>
          <a:bodyPr wrap="square" anchor="ctr">
            <a:spAutoFit/>
          </a:bodyPr>
          <a:lstStyle/>
          <a:p>
            <a:pPr algn="ctr"/>
            <a:r>
              <a:rPr sz="1400" b="0">
                <a:solidFill>
                  <a:srgbClr val="282D34"/>
                </a:solidFill>
              </a:rPr>
              <a:t>It inspects a compact summary of the current best solution — especially high-cost caregiver routes and patient proximity groups — and identifies spatial outliers / hotspots that may deserve reassignment.</a:t>
            </a:r>
          </a:p>
        </p:txBody>
      </p:sp>
      <p:sp>
        <p:nvSpPr>
          <p:cNvPr id="20" name="Rounded Rectangle 19"/>
          <p:cNvSpPr/>
          <p:nvPr/>
        </p:nvSpPr>
        <p:spPr>
          <a:xfrm>
            <a:off x="1828800" y="5257800"/>
            <a:ext cx="8549640" cy="685800"/>
          </a:xfrm>
          <a:prstGeom prst="roundRect">
            <a:avLst/>
          </a:prstGeom>
          <a:solidFill>
            <a:srgbClr val="F4EF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38528" y="5303520"/>
            <a:ext cx="8330183" cy="594360"/>
          </a:xfrm>
          <a:prstGeom prst="rect">
            <a:avLst/>
          </a:prstGeom>
          <a:noFill/>
        </p:spPr>
        <p:txBody>
          <a:bodyPr wrap="square" anchor="ctr">
            <a:spAutoFit/>
          </a:bodyPr>
          <a:lstStyle/>
          <a:p>
            <a:pPr algn="ctr"/>
            <a:r>
              <a:rPr sz="1700" b="0" dirty="0">
                <a:solidFill>
                  <a:srgbClr val="704A96"/>
                </a:solidFill>
              </a:rPr>
              <a:t>LLM = strategic director   |   BRKGA + decoder = feasibility &amp; evolutionary search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8"/>
            <a:ext cx="11155680" cy="502920"/>
          </a:xfrm>
          <a:prstGeom prst="rect">
            <a:avLst/>
          </a:prstGeom>
          <a:noFill/>
        </p:spPr>
        <p:txBody>
          <a:bodyPr wrap="none">
            <a:spAutoFit/>
          </a:bodyPr>
          <a:lstStyle/>
          <a:p>
            <a:r>
              <a:rPr sz="2600" b="1" dirty="0">
                <a:solidFill>
                  <a:srgbClr val="1C2D46"/>
                </a:solidFill>
              </a:rPr>
              <a:t>From LLM recommendation to genetic perturbation</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The recommendation is translated into a targeted ruin-and-recreate operation on selected genes.</a:t>
            </a:r>
          </a:p>
        </p:txBody>
      </p:sp>
      <p:sp>
        <p:nvSpPr>
          <p:cNvPr id="4" name="Rounded Rectangle 3"/>
          <p:cNvSpPr/>
          <p:nvPr/>
        </p:nvSpPr>
        <p:spPr>
          <a:xfrm>
            <a:off x="640080" y="1280160"/>
            <a:ext cx="2926080" cy="1143000"/>
          </a:xfrm>
          <a:prstGeom prst="roundRect">
            <a:avLst/>
          </a:prstGeom>
          <a:solidFill>
            <a:srgbClr val="F1F5F9"/>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9808" y="1325880"/>
            <a:ext cx="2706624" cy="1051560"/>
          </a:xfrm>
          <a:prstGeom prst="rect">
            <a:avLst/>
          </a:prstGeom>
          <a:noFill/>
        </p:spPr>
        <p:txBody>
          <a:bodyPr wrap="square" anchor="ctr">
            <a:spAutoFit/>
          </a:bodyPr>
          <a:lstStyle/>
          <a:p>
            <a:pPr algn="ctr"/>
            <a:r>
              <a:rPr sz="1500" b="0">
                <a:solidFill>
                  <a:srgbClr val="39649B"/>
                </a:solidFill>
              </a:rPr>
              <a:t>INPUT TO LLM
• high-cost routes
• patient proximity groups</a:t>
            </a:r>
          </a:p>
        </p:txBody>
      </p:sp>
      <p:cxnSp>
        <p:nvCxnSpPr>
          <p:cNvPr id="6" name="Connector 5"/>
          <p:cNvCxnSpPr/>
          <p:nvPr/>
        </p:nvCxnSpPr>
        <p:spPr>
          <a:xfrm>
            <a:off x="3611880" y="1847088"/>
            <a:ext cx="548640" cy="0"/>
          </a:xfrm>
          <a:prstGeom prst="line">
            <a:avLst/>
          </a:prstGeom>
          <a:ln w="25400">
            <a:solidFill>
              <a:srgbClr val="39649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06240" y="1280160"/>
            <a:ext cx="3154680" cy="1143000"/>
          </a:xfrm>
          <a:prstGeom prst="roundRect">
            <a:avLst/>
          </a:prstGeom>
          <a:solidFill>
            <a:srgbClr val="F4EF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15968" y="1325880"/>
            <a:ext cx="2935224" cy="1051560"/>
          </a:xfrm>
          <a:prstGeom prst="rect">
            <a:avLst/>
          </a:prstGeom>
          <a:noFill/>
        </p:spPr>
        <p:txBody>
          <a:bodyPr wrap="square" anchor="ctr">
            <a:spAutoFit/>
          </a:bodyPr>
          <a:lstStyle/>
          <a:p>
            <a:pPr algn="ctr"/>
            <a:r>
              <a:rPr sz="1500" b="0">
                <a:solidFill>
                  <a:srgbClr val="704A96"/>
                </a:solidFill>
              </a:rPr>
              <a:t>LLM OUTPUT
Limited subset of patients
whose assignment should change</a:t>
            </a:r>
          </a:p>
        </p:txBody>
      </p:sp>
      <p:cxnSp>
        <p:nvCxnSpPr>
          <p:cNvPr id="9" name="Connector 8"/>
          <p:cNvCxnSpPr/>
          <p:nvPr/>
        </p:nvCxnSpPr>
        <p:spPr>
          <a:xfrm>
            <a:off x="7406640" y="1847088"/>
            <a:ext cx="548639" cy="0"/>
          </a:xfrm>
          <a:prstGeom prst="line">
            <a:avLst/>
          </a:prstGeom>
          <a:ln w="25400">
            <a:solidFill>
              <a:srgbClr val="704A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01000" y="1280160"/>
            <a:ext cx="3520440" cy="1143000"/>
          </a:xfrm>
          <a:prstGeom prst="roundRect">
            <a:avLst/>
          </a:prstGeom>
          <a:solidFill>
            <a:srgbClr val="FAF7EB"/>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10727" y="1325880"/>
            <a:ext cx="3300984" cy="1051560"/>
          </a:xfrm>
          <a:prstGeom prst="rect">
            <a:avLst/>
          </a:prstGeom>
          <a:noFill/>
        </p:spPr>
        <p:txBody>
          <a:bodyPr wrap="square" anchor="ctr">
            <a:spAutoFit/>
          </a:bodyPr>
          <a:lstStyle/>
          <a:p>
            <a:pPr algn="ctr"/>
            <a:r>
              <a:rPr sz="1500" b="0" dirty="0">
                <a:solidFill>
                  <a:srgbClr val="C6742A"/>
                </a:solidFill>
              </a:rPr>
              <a:t>OPTIMIZER + DECODER
Generate perturbed candidate
chromosomes</a:t>
            </a:r>
          </a:p>
        </p:txBody>
      </p:sp>
      <p:sp>
        <p:nvSpPr>
          <p:cNvPr id="12" name="TextBox 11"/>
          <p:cNvSpPr txBox="1"/>
          <p:nvPr/>
        </p:nvSpPr>
        <p:spPr>
          <a:xfrm>
            <a:off x="685799" y="2816572"/>
            <a:ext cx="11155680" cy="584775"/>
          </a:xfrm>
          <a:prstGeom prst="rect">
            <a:avLst/>
          </a:prstGeom>
          <a:noFill/>
        </p:spPr>
        <p:txBody>
          <a:bodyPr wrap="square" anchor="ctr">
            <a:spAutoFit/>
          </a:bodyPr>
          <a:lstStyle/>
          <a:p>
            <a:r>
              <a:rPr sz="1600" b="1" dirty="0">
                <a:solidFill>
                  <a:srgbClr val="1C2D46"/>
                </a:solidFill>
              </a:rPr>
              <a:t>Three perturbation mechanisms</a:t>
            </a:r>
            <a:r>
              <a:rPr lang="it-IT" sz="1600" b="1" dirty="0">
                <a:solidFill>
                  <a:srgbClr val="1C2D46"/>
                </a:solidFill>
              </a:rPr>
              <a:t> are </a:t>
            </a:r>
            <a:r>
              <a:rPr lang="en-IT" sz="1600" dirty="0"/>
              <a:t>used to generate a </a:t>
            </a:r>
            <a:r>
              <a:rPr lang="en-IT" sz="1600" b="1" dirty="0"/>
              <a:t>family of different perturbed chromosomes</a:t>
            </a:r>
            <a:r>
              <a:rPr lang="en-IT" sz="1600" dirty="0"/>
              <a:t> from the current best chromosome.</a:t>
            </a:r>
            <a:endParaRPr sz="1600" b="1" dirty="0">
              <a:solidFill>
                <a:srgbClr val="1C2D46"/>
              </a:solidFill>
            </a:endParaRPr>
          </a:p>
        </p:txBody>
      </p:sp>
      <p:sp>
        <p:nvSpPr>
          <p:cNvPr id="13" name="Rounded Rectangle 12"/>
          <p:cNvSpPr/>
          <p:nvPr/>
        </p:nvSpPr>
        <p:spPr>
          <a:xfrm>
            <a:off x="685800" y="3429000"/>
            <a:ext cx="3429000" cy="1143000"/>
          </a:xfrm>
          <a:prstGeom prst="roundRect">
            <a:avLst/>
          </a:prstGeom>
          <a:solidFill>
            <a:srgbClr val="FFFFFF"/>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3474720"/>
            <a:ext cx="3209544" cy="1051560"/>
          </a:xfrm>
          <a:prstGeom prst="rect">
            <a:avLst/>
          </a:prstGeom>
          <a:noFill/>
        </p:spPr>
        <p:txBody>
          <a:bodyPr wrap="square" anchor="ctr">
            <a:spAutoFit/>
          </a:bodyPr>
          <a:lstStyle/>
          <a:p>
            <a:pPr algn="ctr"/>
            <a:r>
              <a:rPr sz="1400" b="0">
                <a:solidFill>
                  <a:srgbClr val="282D34"/>
                </a:solidFill>
              </a:rPr>
              <a:t>Allele biasing
Key ≈ 1 → earlier insertion
Key ≈ 0 → later insertion</a:t>
            </a:r>
          </a:p>
        </p:txBody>
      </p:sp>
      <p:sp>
        <p:nvSpPr>
          <p:cNvPr id="15" name="Rounded Rectangle 14"/>
          <p:cNvSpPr/>
          <p:nvPr/>
        </p:nvSpPr>
        <p:spPr>
          <a:xfrm>
            <a:off x="4389120" y="3429000"/>
            <a:ext cx="3429000" cy="1143000"/>
          </a:xfrm>
          <a:prstGeom prst="roundRect">
            <a:avLst/>
          </a:prstGeom>
          <a:solidFill>
            <a:srgbClr val="FFFFFF"/>
          </a:solidFill>
          <a:ln>
            <a:solidFill>
              <a:srgbClr val="3964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98848" y="3474720"/>
            <a:ext cx="3209544" cy="1051560"/>
          </a:xfrm>
          <a:prstGeom prst="rect">
            <a:avLst/>
          </a:prstGeom>
          <a:noFill/>
        </p:spPr>
        <p:txBody>
          <a:bodyPr wrap="square" anchor="ctr">
            <a:spAutoFit/>
          </a:bodyPr>
          <a:lstStyle/>
          <a:p>
            <a:pPr algn="ctr"/>
            <a:r>
              <a:rPr sz="1400" b="0">
                <a:solidFill>
                  <a:srgbClr val="282D34"/>
                </a:solidFill>
              </a:rPr>
              <a:t>Randomization
Assign new random keys to
explore new positions</a:t>
            </a:r>
          </a:p>
        </p:txBody>
      </p:sp>
      <p:sp>
        <p:nvSpPr>
          <p:cNvPr id="17" name="Rounded Rectangle 16"/>
          <p:cNvSpPr/>
          <p:nvPr/>
        </p:nvSpPr>
        <p:spPr>
          <a:xfrm>
            <a:off x="8092440" y="3429000"/>
            <a:ext cx="3429000" cy="1143000"/>
          </a:xfrm>
          <a:prstGeom prst="roundRect">
            <a:avLst/>
          </a:prstGeom>
          <a:solidFill>
            <a:srgbClr val="FFFFFF"/>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02167" y="3474720"/>
            <a:ext cx="3209544" cy="1051560"/>
          </a:xfrm>
          <a:prstGeom prst="rect">
            <a:avLst/>
          </a:prstGeom>
          <a:noFill/>
        </p:spPr>
        <p:txBody>
          <a:bodyPr wrap="square" anchor="ctr">
            <a:spAutoFit/>
          </a:bodyPr>
          <a:lstStyle/>
          <a:p>
            <a:pPr algn="ctr"/>
            <a:r>
              <a:rPr sz="1400" b="0">
                <a:solidFill>
                  <a:srgbClr val="282D34"/>
                </a:solidFill>
              </a:rPr>
              <a:t>Combinatorial variants
Test combinations of the
reinsertion patterns</a:t>
            </a:r>
          </a:p>
        </p:txBody>
      </p:sp>
      <p:sp>
        <p:nvSpPr>
          <p:cNvPr id="19" name="Rounded Rectangle 18"/>
          <p:cNvSpPr/>
          <p:nvPr/>
        </p:nvSpPr>
        <p:spPr>
          <a:xfrm>
            <a:off x="1920240" y="5166360"/>
            <a:ext cx="8321040" cy="749808"/>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29968" y="5212080"/>
            <a:ext cx="8101583" cy="658368"/>
          </a:xfrm>
          <a:prstGeom prst="rect">
            <a:avLst/>
          </a:prstGeom>
          <a:noFill/>
        </p:spPr>
        <p:txBody>
          <a:bodyPr wrap="square" anchor="ctr">
            <a:spAutoFit/>
          </a:bodyPr>
          <a:lstStyle/>
          <a:p>
            <a:pPr algn="ctr"/>
            <a:r>
              <a:rPr sz="1600" b="0">
                <a:solidFill>
                  <a:srgbClr val="387D54"/>
                </a:solidFill>
              </a:rPr>
              <a:t>If decoded candidate beats current best → inject it in place of a worst chromosome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0340"/>
            <a:ext cx="11155680" cy="502920"/>
          </a:xfrm>
          <a:prstGeom prst="rect">
            <a:avLst/>
          </a:prstGeom>
          <a:noFill/>
        </p:spPr>
        <p:txBody>
          <a:bodyPr wrap="none">
            <a:spAutoFit/>
          </a:bodyPr>
          <a:lstStyle/>
          <a:p>
            <a:r>
              <a:rPr sz="2600" b="1" dirty="0">
                <a:solidFill>
                  <a:srgbClr val="1C2D46"/>
                </a:solidFill>
              </a:rPr>
              <a:t>Avoiding stagnation: elite-group shaking</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A second diversification mechanism activates when significant improvement stalls.</a:t>
            </a:r>
          </a:p>
        </p:txBody>
      </p:sp>
      <p:sp>
        <p:nvSpPr>
          <p:cNvPr id="4" name="Rounded Rectangle 3"/>
          <p:cNvSpPr/>
          <p:nvPr/>
        </p:nvSpPr>
        <p:spPr>
          <a:xfrm>
            <a:off x="685800" y="1371600"/>
            <a:ext cx="2743200" cy="914400"/>
          </a:xfrm>
          <a:prstGeom prst="roundRect">
            <a:avLst/>
          </a:prstGeom>
          <a:solidFill>
            <a:srgbClr val="F1F5F9"/>
          </a:solidFill>
          <a:ln>
            <a:solidFill>
              <a:srgbClr val="AE43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417320"/>
            <a:ext cx="2523744" cy="822960"/>
          </a:xfrm>
          <a:prstGeom prst="rect">
            <a:avLst/>
          </a:prstGeom>
          <a:noFill/>
        </p:spPr>
        <p:txBody>
          <a:bodyPr wrap="square" anchor="ctr">
            <a:spAutoFit/>
          </a:bodyPr>
          <a:lstStyle/>
          <a:p>
            <a:pPr algn="ctr"/>
            <a:r>
              <a:rPr sz="1800" b="0">
                <a:solidFill>
                  <a:srgbClr val="AE4343"/>
                </a:solidFill>
              </a:rPr>
              <a:t>Search stagnates</a:t>
            </a:r>
          </a:p>
        </p:txBody>
      </p:sp>
      <p:cxnSp>
        <p:nvCxnSpPr>
          <p:cNvPr id="6" name="Connector 5"/>
          <p:cNvCxnSpPr/>
          <p:nvPr/>
        </p:nvCxnSpPr>
        <p:spPr>
          <a:xfrm>
            <a:off x="3474720" y="1828800"/>
            <a:ext cx="594360" cy="0"/>
          </a:xfrm>
          <a:prstGeom prst="line">
            <a:avLst/>
          </a:prstGeom>
          <a:ln w="25400">
            <a:solidFill>
              <a:srgbClr val="AE43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114800" y="1371600"/>
            <a:ext cx="3383280" cy="914400"/>
          </a:xfrm>
          <a:prstGeom prst="roundRect">
            <a:avLst/>
          </a:prstGeom>
          <a:solidFill>
            <a:srgbClr val="FAF7EB"/>
          </a:solidFill>
          <a:ln>
            <a:solidFill>
              <a:srgbClr val="C674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24528" y="1417320"/>
            <a:ext cx="3163824" cy="822960"/>
          </a:xfrm>
          <a:prstGeom prst="rect">
            <a:avLst/>
          </a:prstGeom>
          <a:noFill/>
        </p:spPr>
        <p:txBody>
          <a:bodyPr wrap="square" anchor="ctr">
            <a:spAutoFit/>
          </a:bodyPr>
          <a:lstStyle/>
          <a:p>
            <a:pPr algn="ctr"/>
            <a:r>
              <a:rPr sz="1700" b="0">
                <a:solidFill>
                  <a:srgbClr val="C6742A"/>
                </a:solidFill>
              </a:rPr>
              <a:t>SHAKE ELITE SET
controlled perturbations</a:t>
            </a:r>
          </a:p>
        </p:txBody>
      </p:sp>
      <p:cxnSp>
        <p:nvCxnSpPr>
          <p:cNvPr id="9" name="Connector 8"/>
          <p:cNvCxnSpPr/>
          <p:nvPr/>
        </p:nvCxnSpPr>
        <p:spPr>
          <a:xfrm>
            <a:off x="7543800" y="1828800"/>
            <a:ext cx="594360" cy="0"/>
          </a:xfrm>
          <a:prstGeom prst="line">
            <a:avLst/>
          </a:prstGeom>
          <a:ln w="25400">
            <a:solidFill>
              <a:srgbClr val="C6742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183879" y="1371600"/>
            <a:ext cx="3337560" cy="914400"/>
          </a:xfrm>
          <a:prstGeom prst="roundRect">
            <a:avLst/>
          </a:prstGeom>
          <a:solidFill>
            <a:srgbClr val="EDF8F1"/>
          </a:solidFill>
          <a:ln>
            <a:solidFill>
              <a:srgbClr val="387D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93607" y="1417320"/>
            <a:ext cx="3118104" cy="822960"/>
          </a:xfrm>
          <a:prstGeom prst="rect">
            <a:avLst/>
          </a:prstGeom>
          <a:noFill/>
        </p:spPr>
        <p:txBody>
          <a:bodyPr wrap="square" anchor="ctr">
            <a:spAutoFit/>
          </a:bodyPr>
          <a:lstStyle/>
          <a:p>
            <a:pPr algn="ctr"/>
            <a:r>
              <a:rPr sz="1700" b="0">
                <a:solidFill>
                  <a:srgbClr val="387D54"/>
                </a:solidFill>
              </a:rPr>
              <a:t>Re-evaluate population</a:t>
            </a:r>
          </a:p>
        </p:txBody>
      </p:sp>
      <p:sp>
        <p:nvSpPr>
          <p:cNvPr id="12" name="TextBox 11"/>
          <p:cNvSpPr txBox="1"/>
          <p:nvPr/>
        </p:nvSpPr>
        <p:spPr>
          <a:xfrm>
            <a:off x="731520" y="2743200"/>
            <a:ext cx="4937760" cy="1371600"/>
          </a:xfrm>
          <a:prstGeom prst="rect">
            <a:avLst/>
          </a:prstGeom>
          <a:noFill/>
        </p:spPr>
        <p:txBody>
          <a:bodyPr wrap="square" anchor="ctr">
            <a:spAutoFit/>
          </a:bodyPr>
          <a:lstStyle/>
          <a:p>
            <a:pPr algn="l"/>
            <a:r>
              <a:rPr sz="1400" b="0">
                <a:solidFill>
                  <a:srgbClr val="282D34"/>
                </a:solidFill>
              </a:rPr>
              <a:t>In the HHCRSP experiments:
• elite chromosomes: adjacent swaps
• non-elite population: fresh random keys
• historical best may be reinserted</a:t>
            </a:r>
          </a:p>
        </p:txBody>
      </p:sp>
      <p:sp>
        <p:nvSpPr>
          <p:cNvPr id="13" name="TextBox 12"/>
          <p:cNvSpPr txBox="1"/>
          <p:nvPr/>
        </p:nvSpPr>
        <p:spPr>
          <a:xfrm>
            <a:off x="6172200" y="2743200"/>
            <a:ext cx="4663440" cy="1371600"/>
          </a:xfrm>
          <a:prstGeom prst="rect">
            <a:avLst/>
          </a:prstGeom>
          <a:noFill/>
        </p:spPr>
        <p:txBody>
          <a:bodyPr wrap="square" anchor="ctr">
            <a:spAutoFit/>
          </a:bodyPr>
          <a:lstStyle/>
          <a:p>
            <a:pPr algn="l"/>
            <a:r>
              <a:rPr sz="1400" b="0">
                <a:solidFill>
                  <a:srgbClr val="282D34"/>
                </a:solidFill>
              </a:rPr>
              <a:t>Trigger logic:
• ignore improvements ≤ 0.05
• maximum 6 shakes
• after sustained stagnation → stop</a:t>
            </a:r>
          </a:p>
        </p:txBody>
      </p:sp>
      <p:sp>
        <p:nvSpPr>
          <p:cNvPr id="14" name="Rounded Rectangle 13"/>
          <p:cNvSpPr/>
          <p:nvPr/>
        </p:nvSpPr>
        <p:spPr>
          <a:xfrm>
            <a:off x="1828800" y="4983480"/>
            <a:ext cx="8595360" cy="73152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38528" y="5029200"/>
            <a:ext cx="8375904" cy="640080"/>
          </a:xfrm>
          <a:prstGeom prst="rect">
            <a:avLst/>
          </a:prstGeom>
          <a:noFill/>
        </p:spPr>
        <p:txBody>
          <a:bodyPr wrap="square" anchor="ctr">
            <a:spAutoFit/>
          </a:bodyPr>
          <a:lstStyle/>
          <a:p>
            <a:pPr algn="ctr"/>
            <a:r>
              <a:rPr sz="1700" b="0">
                <a:solidFill>
                  <a:srgbClr val="1C2D46"/>
                </a:solidFill>
              </a:rPr>
              <a:t>Stopping rule: 2 × |C| generations without significant improvement</a:t>
            </a:r>
          </a:p>
        </p:txBody>
      </p:sp>
      <p:sp>
        <p:nvSpPr>
          <p:cNvPr id="16" name="TextBox 15"/>
          <p:cNvSpPr txBox="1"/>
          <p:nvPr/>
        </p:nvSpPr>
        <p:spPr>
          <a:xfrm>
            <a:off x="2011680" y="5897880"/>
            <a:ext cx="8229600" cy="384048"/>
          </a:xfrm>
          <a:prstGeom prst="rect">
            <a:avLst/>
          </a:prstGeom>
          <a:noFill/>
        </p:spPr>
        <p:txBody>
          <a:bodyPr wrap="square" anchor="ctr">
            <a:spAutoFit/>
          </a:bodyPr>
          <a:lstStyle/>
          <a:p>
            <a:pPr algn="ctr"/>
            <a:r>
              <a:rPr sz="1300" b="1">
                <a:solidFill>
                  <a:srgbClr val="39649B"/>
                </a:solidFill>
              </a:rPr>
              <a:t>Purpose: restore genotypic diversity without discarding the strongest solutions.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0340"/>
            <a:ext cx="11155680" cy="502920"/>
          </a:xfrm>
          <a:prstGeom prst="rect">
            <a:avLst/>
          </a:prstGeom>
          <a:noFill/>
        </p:spPr>
        <p:txBody>
          <a:bodyPr wrap="none">
            <a:spAutoFit/>
          </a:bodyPr>
          <a:lstStyle/>
          <a:p>
            <a:r>
              <a:rPr sz="2600" b="1" dirty="0">
                <a:solidFill>
                  <a:srgbClr val="1C2D46"/>
                </a:solidFill>
              </a:rPr>
              <a:t>BRKGA vs. LLM-BRKGA</a:t>
            </a:r>
          </a:p>
        </p:txBody>
      </p:sp>
      <p:sp>
        <p:nvSpPr>
          <p:cNvPr id="3" name="TextBox 2"/>
          <p:cNvSpPr txBox="1"/>
          <p:nvPr/>
        </p:nvSpPr>
        <p:spPr>
          <a:xfrm>
            <a:off x="530352" y="749808"/>
            <a:ext cx="10972800" cy="329184"/>
          </a:xfrm>
          <a:prstGeom prst="rect">
            <a:avLst/>
          </a:prstGeom>
          <a:noFill/>
        </p:spPr>
        <p:txBody>
          <a:bodyPr wrap="none">
            <a:spAutoFit/>
          </a:bodyPr>
          <a:lstStyle/>
          <a:p>
            <a:r>
              <a:rPr sz="1100">
                <a:solidFill>
                  <a:srgbClr val="39649B"/>
                </a:solidFill>
              </a:rPr>
              <a:t>The hybrid method adds structured perturbations while preserving the baseline's feasibility mechanism.</a:t>
            </a:r>
          </a:p>
        </p:txBody>
      </p:sp>
      <p:graphicFrame>
        <p:nvGraphicFramePr>
          <p:cNvPr id="4" name="Table 3"/>
          <p:cNvGraphicFramePr>
            <a:graphicFrameLocks noGrp="1"/>
          </p:cNvGraphicFramePr>
          <p:nvPr/>
        </p:nvGraphicFramePr>
        <p:xfrm>
          <a:off x="640080" y="1325880"/>
          <a:ext cx="10927080" cy="4114800"/>
        </p:xfrm>
        <a:graphic>
          <a:graphicData uri="http://schemas.openxmlformats.org/drawingml/2006/table">
            <a:tbl>
              <a:tblPr firstRow="1" bandRow="1">
                <a:tableStyleId>{5C22544A-7EE6-4342-B048-85BDC9FD1C3A}</a:tableStyleId>
              </a:tblPr>
              <a:tblGrid>
                <a:gridCol w="3642360">
                  <a:extLst>
                    <a:ext uri="{9D8B030D-6E8A-4147-A177-3AD203B41FA5}">
                      <a16:colId xmlns:a16="http://schemas.microsoft.com/office/drawing/2014/main" val="20000"/>
                    </a:ext>
                  </a:extLst>
                </a:gridCol>
                <a:gridCol w="3642360">
                  <a:extLst>
                    <a:ext uri="{9D8B030D-6E8A-4147-A177-3AD203B41FA5}">
                      <a16:colId xmlns:a16="http://schemas.microsoft.com/office/drawing/2014/main" val="20001"/>
                    </a:ext>
                  </a:extLst>
                </a:gridCol>
                <a:gridCol w="3642360">
                  <a:extLst>
                    <a:ext uri="{9D8B030D-6E8A-4147-A177-3AD203B41FA5}">
                      <a16:colId xmlns:a16="http://schemas.microsoft.com/office/drawing/2014/main" val="20002"/>
                    </a:ext>
                  </a:extLst>
                </a:gridCol>
              </a:tblGrid>
              <a:tr h="587828">
                <a:tc>
                  <a:txBody>
                    <a:bodyPr/>
                    <a:lstStyle/>
                    <a:p>
                      <a:pPr algn="ctr"/>
                      <a:r>
                        <a:rPr sz="1100" b="1">
                          <a:solidFill>
                            <a:srgbClr val="FFFFFF"/>
                          </a:solidFill>
                        </a:rPr>
                        <a:t>Aspect</a:t>
                      </a:r>
                    </a:p>
                  </a:txBody>
                  <a:tcPr>
                    <a:solidFill>
                      <a:srgbClr val="1C2D46"/>
                    </a:solidFill>
                  </a:tcPr>
                </a:tc>
                <a:tc>
                  <a:txBody>
                    <a:bodyPr/>
                    <a:lstStyle/>
                    <a:p>
                      <a:pPr algn="ctr"/>
                      <a:r>
                        <a:rPr sz="1100" b="1">
                          <a:solidFill>
                            <a:srgbClr val="FFFFFF"/>
                          </a:solidFill>
                        </a:rPr>
                        <a:t>BRKGA</a:t>
                      </a:r>
                    </a:p>
                  </a:txBody>
                  <a:tcPr>
                    <a:solidFill>
                      <a:srgbClr val="1C2D46"/>
                    </a:solidFill>
                  </a:tcPr>
                </a:tc>
                <a:tc>
                  <a:txBody>
                    <a:bodyPr/>
                    <a:lstStyle/>
                    <a:p>
                      <a:pPr algn="ctr"/>
                      <a:r>
                        <a:rPr sz="1100" b="1">
                          <a:solidFill>
                            <a:srgbClr val="FFFFFF"/>
                          </a:solidFill>
                        </a:rPr>
                        <a:t>LLM-BRKGA</a:t>
                      </a:r>
                    </a:p>
                  </a:txBody>
                  <a:tcPr>
                    <a:solidFill>
                      <a:srgbClr val="1C2D46"/>
                    </a:solidFill>
                  </a:tcPr>
                </a:tc>
                <a:extLst>
                  <a:ext uri="{0D108BD9-81ED-4DB2-BD59-A6C34878D82A}">
                    <a16:rowId xmlns:a16="http://schemas.microsoft.com/office/drawing/2014/main" val="10000"/>
                  </a:ext>
                </a:extLst>
              </a:tr>
              <a:tr h="587828">
                <a:tc>
                  <a:txBody>
                    <a:bodyPr/>
                    <a:lstStyle/>
                    <a:p>
                      <a:pPr algn="ctr"/>
                      <a:r>
                        <a:rPr sz="1100" b="1">
                          <a:solidFill>
                            <a:srgbClr val="282D34"/>
                          </a:solidFill>
                        </a:rPr>
                        <a:t>Search engine</a:t>
                      </a:r>
                    </a:p>
                  </a:txBody>
                  <a:tcPr>
                    <a:solidFill>
                      <a:srgbClr val="F1F5F9"/>
                    </a:solidFill>
                  </a:tcPr>
                </a:tc>
                <a:tc>
                  <a:txBody>
                    <a:bodyPr/>
                    <a:lstStyle/>
                    <a:p>
                      <a:pPr algn="ctr"/>
                      <a:r>
                        <a:rPr sz="1100" b="0">
                          <a:solidFill>
                            <a:srgbClr val="282D34"/>
                          </a:solidFill>
                        </a:rPr>
                        <a:t>Random-key GA + decoder</a:t>
                      </a:r>
                    </a:p>
                  </a:txBody>
                  <a:tcPr>
                    <a:solidFill>
                      <a:srgbClr val="F1F5F9"/>
                    </a:solidFill>
                  </a:tcPr>
                </a:tc>
                <a:tc>
                  <a:txBody>
                    <a:bodyPr/>
                    <a:lstStyle/>
                    <a:p>
                      <a:pPr algn="ctr"/>
                      <a:r>
                        <a:rPr sz="1100" b="0">
                          <a:solidFill>
                            <a:srgbClr val="282D34"/>
                          </a:solidFill>
                        </a:rPr>
                        <a:t>Same BRKGA + decoder</a:t>
                      </a:r>
                    </a:p>
                  </a:txBody>
                  <a:tcPr>
                    <a:solidFill>
                      <a:srgbClr val="F1F5F9"/>
                    </a:solidFill>
                  </a:tcPr>
                </a:tc>
                <a:extLst>
                  <a:ext uri="{0D108BD9-81ED-4DB2-BD59-A6C34878D82A}">
                    <a16:rowId xmlns:a16="http://schemas.microsoft.com/office/drawing/2014/main" val="10001"/>
                  </a:ext>
                </a:extLst>
              </a:tr>
              <a:tr h="587828">
                <a:tc>
                  <a:txBody>
                    <a:bodyPr/>
                    <a:lstStyle/>
                    <a:p>
                      <a:pPr algn="ctr"/>
                      <a:r>
                        <a:rPr sz="1100" b="1">
                          <a:solidFill>
                            <a:srgbClr val="282D34"/>
                          </a:solidFill>
                        </a:rPr>
                        <a:t>Guidance</a:t>
                      </a:r>
                    </a:p>
                  </a:txBody>
                  <a:tcPr>
                    <a:solidFill>
                      <a:srgbClr val="FFFFFF"/>
                    </a:solidFill>
                  </a:tcPr>
                </a:tc>
                <a:tc>
                  <a:txBody>
                    <a:bodyPr/>
                    <a:lstStyle/>
                    <a:p>
                      <a:pPr algn="ctr"/>
                      <a:r>
                        <a:rPr sz="1100" b="0">
                          <a:solidFill>
                            <a:srgbClr val="282D34"/>
                          </a:solidFill>
                        </a:rPr>
                        <a:t>Objective-driven stochastic search</a:t>
                      </a:r>
                    </a:p>
                  </a:txBody>
                  <a:tcPr>
                    <a:solidFill>
                      <a:srgbClr val="FFFFFF"/>
                    </a:solidFill>
                  </a:tcPr>
                </a:tc>
                <a:tc>
                  <a:txBody>
                    <a:bodyPr/>
                    <a:lstStyle/>
                    <a:p>
                      <a:pPr algn="ctr"/>
                      <a:r>
                        <a:rPr sz="1100" b="0">
                          <a:solidFill>
                            <a:srgbClr val="282D34"/>
                          </a:solidFill>
                        </a:rPr>
                        <a:t>Adds LLM spatial/semantic guidance</a:t>
                      </a:r>
                    </a:p>
                  </a:txBody>
                  <a:tcPr>
                    <a:solidFill>
                      <a:srgbClr val="FFFFFF"/>
                    </a:solidFill>
                  </a:tcPr>
                </a:tc>
                <a:extLst>
                  <a:ext uri="{0D108BD9-81ED-4DB2-BD59-A6C34878D82A}">
                    <a16:rowId xmlns:a16="http://schemas.microsoft.com/office/drawing/2014/main" val="10002"/>
                  </a:ext>
                </a:extLst>
              </a:tr>
              <a:tr h="587828">
                <a:tc>
                  <a:txBody>
                    <a:bodyPr/>
                    <a:lstStyle/>
                    <a:p>
                      <a:pPr algn="ctr"/>
                      <a:r>
                        <a:rPr sz="1100" b="1">
                          <a:solidFill>
                            <a:srgbClr val="282D34"/>
                          </a:solidFill>
                        </a:rPr>
                        <a:t>Perturbation</a:t>
                      </a:r>
                    </a:p>
                  </a:txBody>
                  <a:tcPr>
                    <a:solidFill>
                      <a:srgbClr val="F1F5F9"/>
                    </a:solidFill>
                  </a:tcPr>
                </a:tc>
                <a:tc>
                  <a:txBody>
                    <a:bodyPr/>
                    <a:lstStyle/>
                    <a:p>
                      <a:pPr algn="ctr"/>
                      <a:r>
                        <a:rPr sz="1100" b="0">
                          <a:solidFill>
                            <a:srgbClr val="282D34"/>
                          </a:solidFill>
                        </a:rPr>
                        <a:t>Mutants, IPR, migration</a:t>
                      </a:r>
                    </a:p>
                  </a:txBody>
                  <a:tcPr>
                    <a:solidFill>
                      <a:srgbClr val="F1F5F9"/>
                    </a:solidFill>
                  </a:tcPr>
                </a:tc>
                <a:tc>
                  <a:txBody>
                    <a:bodyPr/>
                    <a:lstStyle/>
                    <a:p>
                      <a:pPr algn="ctr"/>
                      <a:r>
                        <a:rPr sz="1100" b="0" dirty="0">
                          <a:solidFill>
                            <a:srgbClr val="282D34"/>
                          </a:solidFill>
                        </a:rPr>
                        <a:t>+ targeted ruin-and-recreate</a:t>
                      </a:r>
                    </a:p>
                  </a:txBody>
                  <a:tcPr>
                    <a:solidFill>
                      <a:srgbClr val="F1F5F9"/>
                    </a:solidFill>
                  </a:tcPr>
                </a:tc>
                <a:extLst>
                  <a:ext uri="{0D108BD9-81ED-4DB2-BD59-A6C34878D82A}">
                    <a16:rowId xmlns:a16="http://schemas.microsoft.com/office/drawing/2014/main" val="10003"/>
                  </a:ext>
                </a:extLst>
              </a:tr>
              <a:tr h="587828">
                <a:tc>
                  <a:txBody>
                    <a:bodyPr/>
                    <a:lstStyle/>
                    <a:p>
                      <a:pPr algn="ctr"/>
                      <a:r>
                        <a:rPr sz="1100" b="1">
                          <a:solidFill>
                            <a:srgbClr val="282D34"/>
                          </a:solidFill>
                        </a:rPr>
                        <a:t>Stagnation</a:t>
                      </a:r>
                    </a:p>
                  </a:txBody>
                  <a:tcPr>
                    <a:solidFill>
                      <a:srgbClr val="FFFFFF"/>
                    </a:solidFill>
                  </a:tcPr>
                </a:tc>
                <a:tc>
                  <a:txBody>
                    <a:bodyPr/>
                    <a:lstStyle/>
                    <a:p>
                      <a:pPr algn="ctr"/>
                      <a:r>
                        <a:rPr sz="1100" b="0">
                          <a:solidFill>
                            <a:srgbClr val="282D34"/>
                          </a:solidFill>
                        </a:rPr>
                        <a:t>Baseline stopping logic</a:t>
                      </a:r>
                    </a:p>
                  </a:txBody>
                  <a:tcPr>
                    <a:solidFill>
                      <a:srgbClr val="FFFFFF"/>
                    </a:solidFill>
                  </a:tcPr>
                </a:tc>
                <a:tc>
                  <a:txBody>
                    <a:bodyPr/>
                    <a:lstStyle/>
                    <a:p>
                      <a:pPr algn="ctr"/>
                      <a:r>
                        <a:rPr sz="1100" b="0">
                          <a:solidFill>
                            <a:srgbClr val="282D34"/>
                          </a:solidFill>
                        </a:rPr>
                        <a:t>+ elite-group shaking</a:t>
                      </a:r>
                    </a:p>
                  </a:txBody>
                  <a:tcPr>
                    <a:solidFill>
                      <a:srgbClr val="FFFFFF"/>
                    </a:solidFill>
                  </a:tcPr>
                </a:tc>
                <a:extLst>
                  <a:ext uri="{0D108BD9-81ED-4DB2-BD59-A6C34878D82A}">
                    <a16:rowId xmlns:a16="http://schemas.microsoft.com/office/drawing/2014/main" val="10004"/>
                  </a:ext>
                </a:extLst>
              </a:tr>
              <a:tr h="587828">
                <a:tc>
                  <a:txBody>
                    <a:bodyPr/>
                    <a:lstStyle/>
                    <a:p>
                      <a:pPr algn="ctr"/>
                      <a:r>
                        <a:rPr sz="1100" b="1">
                          <a:solidFill>
                            <a:srgbClr val="282D34"/>
                          </a:solidFill>
                        </a:rPr>
                        <a:t>Feasibility</a:t>
                      </a:r>
                    </a:p>
                  </a:txBody>
                  <a:tcPr>
                    <a:solidFill>
                      <a:srgbClr val="F1F5F9"/>
                    </a:solidFill>
                  </a:tcPr>
                </a:tc>
                <a:tc>
                  <a:txBody>
                    <a:bodyPr/>
                    <a:lstStyle/>
                    <a:p>
                      <a:pPr algn="ctr"/>
                      <a:r>
                        <a:rPr sz="1100" b="0">
                          <a:solidFill>
                            <a:srgbClr val="282D34"/>
                          </a:solidFill>
                        </a:rPr>
                        <a:t>Decoder</a:t>
                      </a:r>
                    </a:p>
                  </a:txBody>
                  <a:tcPr>
                    <a:solidFill>
                      <a:srgbClr val="F1F5F9"/>
                    </a:solidFill>
                  </a:tcPr>
                </a:tc>
                <a:tc>
                  <a:txBody>
                    <a:bodyPr/>
                    <a:lstStyle/>
                    <a:p>
                      <a:pPr algn="ctr"/>
                      <a:r>
                        <a:rPr sz="1100" b="0">
                          <a:solidFill>
                            <a:srgbClr val="282D34"/>
                          </a:solidFill>
                        </a:rPr>
                        <a:t>Same decoder</a:t>
                      </a:r>
                    </a:p>
                  </a:txBody>
                  <a:tcPr>
                    <a:solidFill>
                      <a:srgbClr val="F1F5F9"/>
                    </a:solidFill>
                  </a:tcPr>
                </a:tc>
                <a:extLst>
                  <a:ext uri="{0D108BD9-81ED-4DB2-BD59-A6C34878D82A}">
                    <a16:rowId xmlns:a16="http://schemas.microsoft.com/office/drawing/2014/main" val="10005"/>
                  </a:ext>
                </a:extLst>
              </a:tr>
              <a:tr h="587832">
                <a:tc>
                  <a:txBody>
                    <a:bodyPr/>
                    <a:lstStyle/>
                    <a:p>
                      <a:pPr algn="ctr"/>
                      <a:r>
                        <a:rPr sz="1100" b="1">
                          <a:solidFill>
                            <a:srgbClr val="282D34"/>
                          </a:solidFill>
                        </a:rPr>
                        <a:t>Main intent</a:t>
                      </a:r>
                    </a:p>
                  </a:txBody>
                  <a:tcPr>
                    <a:solidFill>
                      <a:srgbClr val="FFFFFF"/>
                    </a:solidFill>
                  </a:tcPr>
                </a:tc>
                <a:tc>
                  <a:txBody>
                    <a:bodyPr/>
                    <a:lstStyle/>
                    <a:p>
                      <a:pPr algn="ctr"/>
                      <a:r>
                        <a:rPr sz="1100" b="0">
                          <a:solidFill>
                            <a:srgbClr val="282D34"/>
                          </a:solidFill>
                        </a:rPr>
                        <a:t>Robust combinatorial search</a:t>
                      </a:r>
                    </a:p>
                  </a:txBody>
                  <a:tcPr>
                    <a:solidFill>
                      <a:srgbClr val="FFFFFF"/>
                    </a:solidFill>
                  </a:tcPr>
                </a:tc>
                <a:tc>
                  <a:txBody>
                    <a:bodyPr/>
                    <a:lstStyle/>
                    <a:p>
                      <a:pPr algn="ctr"/>
                      <a:r>
                        <a:rPr sz="1100" b="0" dirty="0">
                          <a:solidFill>
                            <a:srgbClr val="282D34"/>
                          </a:solidFill>
                        </a:rPr>
                        <a:t>Steer search toward promising structures</a:t>
                      </a:r>
                    </a:p>
                  </a:txBody>
                  <a:tcPr>
                    <a:solidFill>
                      <a:srgbClr val="FFFFF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1417320" y="5715000"/>
            <a:ext cx="9326880" cy="621792"/>
          </a:xfrm>
          <a:prstGeom prst="roundRect">
            <a:avLst/>
          </a:prstGeom>
          <a:solidFill>
            <a:srgbClr val="F4EFF9"/>
          </a:solidFill>
          <a:ln>
            <a:solidFill>
              <a:srgbClr val="704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27048" y="5760720"/>
            <a:ext cx="9107424" cy="530352"/>
          </a:xfrm>
          <a:prstGeom prst="rect">
            <a:avLst/>
          </a:prstGeom>
          <a:noFill/>
        </p:spPr>
        <p:txBody>
          <a:bodyPr wrap="square" anchor="ctr">
            <a:spAutoFit/>
          </a:bodyPr>
          <a:lstStyle/>
          <a:p>
            <a:pPr algn="ctr"/>
            <a:r>
              <a:rPr sz="1600" b="0" dirty="0">
                <a:solidFill>
                  <a:srgbClr val="704A96"/>
                </a:solidFill>
              </a:rPr>
              <a:t>Key message: let the GA guarantee feasible search; use the LLM to suggest where to search more intelligently.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82DCD-D2A0-F407-91F4-FE0860F4A869}"/>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56DC215D-C28B-D166-4C51-64BEA7F4C00D}"/>
              </a:ext>
            </a:extLst>
          </p:cNvPr>
          <p:cNvSpPr txBox="1"/>
          <p:nvPr/>
        </p:nvSpPr>
        <p:spPr>
          <a:xfrm>
            <a:off x="467640" y="2214446"/>
            <a:ext cx="10880202" cy="707886"/>
          </a:xfrm>
          <a:prstGeom prst="rect">
            <a:avLst/>
          </a:prstGeom>
          <a:noFill/>
        </p:spPr>
        <p:txBody>
          <a:bodyPr wrap="square" rtlCol="0">
            <a:spAutoFit/>
          </a:bodyPr>
          <a:lstStyle/>
          <a:p>
            <a:pPr algn="ctr"/>
            <a:r>
              <a:rPr lang="it-IT" sz="4000" b="1" dirty="0">
                <a:solidFill>
                  <a:srgbClr val="4590B8"/>
                </a:solidFill>
              </a:rPr>
              <a:t>Quantum Smart Grid</a:t>
            </a:r>
          </a:p>
        </p:txBody>
      </p:sp>
      <p:pic>
        <p:nvPicPr>
          <p:cNvPr id="4" name="Picture 3" descr="Mr. Burns - Wikipedia">
            <a:extLst>
              <a:ext uri="{FF2B5EF4-FFF2-40B4-BE49-F238E27FC236}">
                <a16:creationId xmlns:a16="http://schemas.microsoft.com/office/drawing/2014/main" id="{FF3DA151-CF48-67AD-E1C7-052EE8BECEFD}"/>
              </a:ext>
            </a:extLst>
          </p:cNvPr>
          <p:cNvPicPr>
            <a:picLocks noChangeAspect="1"/>
          </p:cNvPicPr>
          <p:nvPr/>
        </p:nvPicPr>
        <p:blipFill>
          <a:blip r:embed="rId3"/>
          <a:stretch>
            <a:fillRect/>
          </a:stretch>
        </p:blipFill>
        <p:spPr>
          <a:xfrm>
            <a:off x="9389406" y="2438400"/>
            <a:ext cx="2400300" cy="3810000"/>
          </a:xfrm>
          <a:prstGeom prst="rect">
            <a:avLst/>
          </a:prstGeom>
        </p:spPr>
      </p:pic>
      <p:sp>
        <p:nvSpPr>
          <p:cNvPr id="5" name="Rectangle 4">
            <a:extLst>
              <a:ext uri="{FF2B5EF4-FFF2-40B4-BE49-F238E27FC236}">
                <a16:creationId xmlns:a16="http://schemas.microsoft.com/office/drawing/2014/main" id="{0BDA9B02-0484-4441-BFA9-07CA5837439B}"/>
              </a:ext>
            </a:extLst>
          </p:cNvPr>
          <p:cNvSpPr/>
          <p:nvPr/>
        </p:nvSpPr>
        <p:spPr>
          <a:xfrm>
            <a:off x="10824880" y="5970494"/>
            <a:ext cx="1168418" cy="5244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dirty="0"/>
          </a:p>
        </p:txBody>
      </p:sp>
    </p:spTree>
    <p:extLst>
      <p:ext uri="{BB962C8B-B14F-4D97-AF65-F5344CB8AC3E}">
        <p14:creationId xmlns:p14="http://schemas.microsoft.com/office/powerpoint/2010/main" val="520978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FA4C2-791C-077E-825D-A1215F048F79}"/>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37C82CBA-0552-7755-58E9-DDCE748F2D9B}"/>
              </a:ext>
            </a:extLst>
          </p:cNvPr>
          <p:cNvSpPr txBox="1"/>
          <p:nvPr/>
        </p:nvSpPr>
        <p:spPr>
          <a:xfrm>
            <a:off x="243643" y="1199979"/>
            <a:ext cx="11453248" cy="5693866"/>
          </a:xfrm>
          <a:prstGeom prst="rect">
            <a:avLst/>
          </a:prstGeom>
          <a:noFill/>
        </p:spPr>
        <p:txBody>
          <a:bodyPr wrap="square" rtlCol="0">
            <a:spAutoFit/>
          </a:bodyPr>
          <a:lstStyle/>
          <a:p>
            <a:r>
              <a:rPr lang="en-US" sz="1300" i="1" dirty="0">
                <a:solidFill>
                  <a:srgbClr val="1A3260"/>
                </a:solidFill>
              </a:rPr>
              <a:t>Fabio </a:t>
            </a:r>
            <a:r>
              <a:rPr lang="en-US" sz="1300" i="1" dirty="0" err="1">
                <a:solidFill>
                  <a:srgbClr val="1A3260"/>
                </a:solidFill>
              </a:rPr>
              <a:t>Lilliu</a:t>
            </a:r>
            <a:r>
              <a:rPr lang="en-US" sz="1300" i="1" dirty="0">
                <a:solidFill>
                  <a:srgbClr val="1A3260"/>
                </a:solidFill>
              </a:rPr>
              <a:t>, Marco Calderoni, Diego </a:t>
            </a:r>
            <a:r>
              <a:rPr lang="en-US" sz="1300" i="1" dirty="0" err="1">
                <a:solidFill>
                  <a:srgbClr val="1A3260"/>
                </a:solidFill>
              </a:rPr>
              <a:t>Reforgiato</a:t>
            </a:r>
            <a:r>
              <a:rPr lang="en-US" sz="1300" i="1" dirty="0">
                <a:solidFill>
                  <a:srgbClr val="1A3260"/>
                </a:solidFill>
              </a:rPr>
              <a:t> Recupero: Business and pricing models for district heating and cooling: A review. Energy Reports, 2025, 14, pp. 1529–1547</a:t>
            </a:r>
          </a:p>
          <a:p>
            <a:endParaRPr lang="en-US" sz="1300" i="1" dirty="0">
              <a:solidFill>
                <a:srgbClr val="1A3260"/>
              </a:solidFill>
            </a:endParaRPr>
          </a:p>
          <a:p>
            <a:r>
              <a:rPr lang="en-US" sz="1300" i="1" dirty="0">
                <a:solidFill>
                  <a:srgbClr val="1A3260"/>
                </a:solidFill>
              </a:rPr>
              <a:t>Ilaria Marotta, </a:t>
            </a:r>
            <a:r>
              <a:rPr lang="en-US" sz="1300" i="1" dirty="0" err="1">
                <a:solidFill>
                  <a:srgbClr val="1A3260"/>
                </a:solidFill>
              </a:rPr>
              <a:t>Yangzhe</a:t>
            </a:r>
            <a:r>
              <a:rPr lang="en-US" sz="1300" i="1" dirty="0">
                <a:solidFill>
                  <a:srgbClr val="1A3260"/>
                </a:solidFill>
              </a:rPr>
              <a:t> Chen, Qian Wang, Fabio </a:t>
            </a:r>
            <a:r>
              <a:rPr lang="en-US" sz="1300" i="1" dirty="0" err="1">
                <a:solidFill>
                  <a:srgbClr val="1A3260"/>
                </a:solidFill>
              </a:rPr>
              <a:t>Lilliu</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Andrea </a:t>
            </a:r>
            <a:r>
              <a:rPr lang="en-US" sz="1300" i="1" dirty="0" err="1">
                <a:solidFill>
                  <a:srgbClr val="1A3260"/>
                </a:solidFill>
              </a:rPr>
              <a:t>Frazzica</a:t>
            </a:r>
            <a:r>
              <a:rPr lang="en-US" sz="1300" i="1" dirty="0">
                <a:solidFill>
                  <a:srgbClr val="1A3260"/>
                </a:solidFill>
              </a:rPr>
              <a:t>, Valeria Palomba et al.: Demonstration of sector-coupling based on advanced Thermal Energy Storage: a Model Predictive Control framework for load-shifting and grid-balancing. Journal of Energy Storage, 2025, 126, 116984</a:t>
            </a:r>
          </a:p>
          <a:p>
            <a:endParaRPr lang="en-US" sz="1300" i="1" dirty="0">
              <a:solidFill>
                <a:srgbClr val="1A3260"/>
              </a:solidFill>
            </a:endParaRPr>
          </a:p>
          <a:p>
            <a:r>
              <a:rPr lang="en-US" sz="1300" i="1" dirty="0">
                <a:solidFill>
                  <a:srgbClr val="1A3260"/>
                </a:solidFill>
              </a:rPr>
              <a:t>Fabio </a:t>
            </a:r>
            <a:r>
              <a:rPr lang="en-US" sz="1300" i="1" dirty="0" err="1">
                <a:solidFill>
                  <a:srgbClr val="1A3260"/>
                </a:solidFill>
              </a:rPr>
              <a:t>Lilliu</a:t>
            </a:r>
            <a:r>
              <a:rPr lang="en-US" sz="1300" i="1" dirty="0">
                <a:solidFill>
                  <a:srgbClr val="1A3260"/>
                </a:solidFill>
              </a:rPr>
              <a:t>, Marco </a:t>
            </a:r>
            <a:r>
              <a:rPr lang="en-US" sz="1300" i="1" dirty="0" err="1">
                <a:solidFill>
                  <a:srgbClr val="1A3260"/>
                </a:solidFill>
              </a:rPr>
              <a:t>Pietrobon</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Business and pricing models for smart energy at building level: A Review. Electric Power Systems Research, 2025, 239, 111196</a:t>
            </a:r>
          </a:p>
          <a:p>
            <a:endParaRPr lang="en-US" sz="1300" i="1" dirty="0">
              <a:solidFill>
                <a:srgbClr val="1A3260"/>
              </a:solidFill>
            </a:endParaRPr>
          </a:p>
          <a:p>
            <a:r>
              <a:rPr lang="en-US" sz="1300" i="1" dirty="0">
                <a:solidFill>
                  <a:srgbClr val="1A3260"/>
                </a:solidFill>
              </a:rPr>
              <a:t>Fabio </a:t>
            </a:r>
            <a:r>
              <a:rPr lang="en-US" sz="1300" i="1" dirty="0" err="1">
                <a:solidFill>
                  <a:srgbClr val="1A3260"/>
                </a:solidFill>
              </a:rPr>
              <a:t>Lilliu</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A Peak-Shaving-Oriented Incentive Mechanism for Smart Grids. Proceedings of the World Congress on New Technologies, 2024</a:t>
            </a:r>
          </a:p>
          <a:p>
            <a:endParaRPr lang="en-US" sz="1300" i="1" dirty="0">
              <a:solidFill>
                <a:srgbClr val="1A3260"/>
              </a:solidFill>
            </a:endParaRPr>
          </a:p>
          <a:p>
            <a:r>
              <a:rPr lang="en-US" sz="1300" i="1" dirty="0">
                <a:solidFill>
                  <a:srgbClr val="1A3260"/>
                </a:solidFill>
              </a:rPr>
              <a:t>Fabio </a:t>
            </a:r>
            <a:r>
              <a:rPr lang="en-US" sz="1300" i="1" dirty="0" err="1">
                <a:solidFill>
                  <a:srgbClr val="1A3260"/>
                </a:solidFill>
              </a:rPr>
              <a:t>Lilliu</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A cooperative game-theory approach for incentive systems in local energy communities. Sustainable Energy, Grids and Networks, 2024, 38, 101391</a:t>
            </a:r>
          </a:p>
          <a:p>
            <a:endParaRPr lang="en-US" sz="1300" i="1" dirty="0">
              <a:solidFill>
                <a:srgbClr val="1A3260"/>
              </a:solidFill>
            </a:endParaRPr>
          </a:p>
          <a:p>
            <a:r>
              <a:rPr lang="en-US" sz="1300" i="1" dirty="0">
                <a:solidFill>
                  <a:srgbClr val="1A3260"/>
                </a:solidFill>
              </a:rPr>
              <a:t>Roman </a:t>
            </a:r>
            <a:r>
              <a:rPr lang="en-US" sz="1300" i="1" dirty="0" err="1">
                <a:solidFill>
                  <a:srgbClr val="1A3260"/>
                </a:solidFill>
              </a:rPr>
              <a:t>Denysiuk</a:t>
            </a:r>
            <a:r>
              <a:rPr lang="en-US" sz="1300" i="1" dirty="0">
                <a:solidFill>
                  <a:srgbClr val="1A3260"/>
                </a:solidFill>
              </a:rPr>
              <a:t>, Fabio </a:t>
            </a:r>
            <a:r>
              <a:rPr lang="en-US" sz="1300" i="1" dirty="0" err="1">
                <a:solidFill>
                  <a:srgbClr val="1A3260"/>
                </a:solidFill>
              </a:rPr>
              <a:t>Lilliu</a:t>
            </a:r>
            <a:r>
              <a:rPr lang="en-US" sz="1300" i="1" dirty="0">
                <a:solidFill>
                  <a:srgbClr val="1A3260"/>
                </a:solidFill>
              </a:rPr>
              <a:t>, Meritxell </a:t>
            </a:r>
            <a:r>
              <a:rPr lang="en-US" sz="1300" i="1" dirty="0" err="1">
                <a:solidFill>
                  <a:srgbClr val="1A3260"/>
                </a:solidFill>
              </a:rPr>
              <a:t>Vinyals</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Intelligent Local Energy Communities: A Multiagent System Approach. ICAART (Revised Selected Papers), 2020, pp. 26–51</a:t>
            </a:r>
          </a:p>
          <a:p>
            <a:endParaRPr lang="en-US" sz="1300" i="1" dirty="0">
              <a:solidFill>
                <a:srgbClr val="1A3260"/>
              </a:solidFill>
            </a:endParaRPr>
          </a:p>
          <a:p>
            <a:r>
              <a:rPr lang="en-US" sz="1300" i="1" dirty="0">
                <a:solidFill>
                  <a:srgbClr val="1A3260"/>
                </a:solidFill>
              </a:rPr>
              <a:t>Roman </a:t>
            </a:r>
            <a:r>
              <a:rPr lang="en-US" sz="1300" i="1" dirty="0" err="1">
                <a:solidFill>
                  <a:srgbClr val="1A3260"/>
                </a:solidFill>
              </a:rPr>
              <a:t>Denysiuk</a:t>
            </a:r>
            <a:r>
              <a:rPr lang="en-US" sz="1300" i="1" dirty="0">
                <a:solidFill>
                  <a:srgbClr val="1A3260"/>
                </a:solidFill>
              </a:rPr>
              <a:t>, Fabio </a:t>
            </a:r>
            <a:r>
              <a:rPr lang="en-US" sz="1300" i="1" dirty="0" err="1">
                <a:solidFill>
                  <a:srgbClr val="1A3260"/>
                </a:solidFill>
              </a:rPr>
              <a:t>Lilliu</a:t>
            </a:r>
            <a:r>
              <a:rPr lang="en-US" sz="1300" i="1" dirty="0">
                <a:solidFill>
                  <a:srgbClr val="1A3260"/>
                </a:solidFill>
              </a:rPr>
              <a:t>, Meritxell </a:t>
            </a:r>
            <a:r>
              <a:rPr lang="en-US" sz="1300" i="1" dirty="0" err="1">
                <a:solidFill>
                  <a:srgbClr val="1A3260"/>
                </a:solidFill>
              </a:rPr>
              <a:t>Vinyals</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Multiagent System for Community Energy Management. ICAART (1), 2020, pp. 28–39</a:t>
            </a:r>
          </a:p>
          <a:p>
            <a:endParaRPr lang="en-US" sz="1300" i="1" dirty="0">
              <a:solidFill>
                <a:srgbClr val="1A3260"/>
              </a:solidFill>
            </a:endParaRPr>
          </a:p>
          <a:p>
            <a:r>
              <a:rPr lang="en-US" sz="1300" i="1" dirty="0">
                <a:solidFill>
                  <a:srgbClr val="1A3260"/>
                </a:solidFill>
              </a:rPr>
              <a:t>Roman </a:t>
            </a:r>
            <a:r>
              <a:rPr lang="en-US" sz="1300" i="1" dirty="0" err="1">
                <a:solidFill>
                  <a:srgbClr val="1A3260"/>
                </a:solidFill>
              </a:rPr>
              <a:t>Denysiuk</a:t>
            </a:r>
            <a:r>
              <a:rPr lang="en-US" sz="1300" i="1" dirty="0">
                <a:solidFill>
                  <a:srgbClr val="1A3260"/>
                </a:solidFill>
              </a:rPr>
              <a:t>, Fabio </a:t>
            </a:r>
            <a:r>
              <a:rPr lang="en-US" sz="1300" i="1" dirty="0" err="1">
                <a:solidFill>
                  <a:srgbClr val="1A3260"/>
                </a:solidFill>
              </a:rPr>
              <a:t>Lilliu</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Meritxell </a:t>
            </a:r>
            <a:r>
              <a:rPr lang="en-US" sz="1300" i="1" dirty="0" err="1">
                <a:solidFill>
                  <a:srgbClr val="1A3260"/>
                </a:solidFill>
              </a:rPr>
              <a:t>Vinyals</a:t>
            </a:r>
            <a:r>
              <a:rPr lang="en-US" sz="1300" i="1" dirty="0">
                <a:solidFill>
                  <a:srgbClr val="1A3260"/>
                </a:solidFill>
              </a:rPr>
              <a:t>: Peer-to-peer Energy Trading for Smart Energy Communities. ICAART (1), 2020, pp. 40–49</a:t>
            </a:r>
          </a:p>
          <a:p>
            <a:endParaRPr lang="en-US" sz="1300" i="1" dirty="0">
              <a:solidFill>
                <a:srgbClr val="1A3260"/>
              </a:solidFill>
            </a:endParaRPr>
          </a:p>
          <a:p>
            <a:r>
              <a:rPr lang="en-US" sz="1300" i="1" dirty="0">
                <a:solidFill>
                  <a:srgbClr val="1A3260"/>
                </a:solidFill>
              </a:rPr>
              <a:t>Fabio </a:t>
            </a:r>
            <a:r>
              <a:rPr lang="en-US" sz="1300" i="1" dirty="0" err="1">
                <a:solidFill>
                  <a:srgbClr val="1A3260"/>
                </a:solidFill>
              </a:rPr>
              <a:t>Lilliu</a:t>
            </a:r>
            <a:r>
              <a:rPr lang="en-US" sz="1300" i="1" dirty="0">
                <a:solidFill>
                  <a:srgbClr val="1A3260"/>
                </a:solidFill>
              </a:rPr>
              <a:t>, Roman </a:t>
            </a:r>
            <a:r>
              <a:rPr lang="en-US" sz="1300" i="1" dirty="0" err="1">
                <a:solidFill>
                  <a:srgbClr val="1A3260"/>
                </a:solidFill>
              </a:rPr>
              <a:t>Denysiuk</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Meritxell </a:t>
            </a:r>
            <a:r>
              <a:rPr lang="en-US" sz="1300" i="1" dirty="0" err="1">
                <a:solidFill>
                  <a:srgbClr val="1A3260"/>
                </a:solidFill>
              </a:rPr>
              <a:t>Vinyals</a:t>
            </a:r>
            <a:r>
              <a:rPr lang="en-US" sz="1300" i="1" dirty="0">
                <a:solidFill>
                  <a:srgbClr val="1A3260"/>
                </a:solidFill>
              </a:rPr>
              <a:t>: A Game-Theoretical Incentive Mechanism for Local Energy Communities. ICAART (Revised Selected Papers), 2020, pp. 52–72</a:t>
            </a:r>
          </a:p>
          <a:p>
            <a:endParaRPr lang="en-US" sz="1300" i="1" dirty="0">
              <a:solidFill>
                <a:srgbClr val="1A3260"/>
              </a:solidFill>
            </a:endParaRPr>
          </a:p>
          <a:p>
            <a:r>
              <a:rPr lang="en-US" sz="1300" i="1" dirty="0">
                <a:solidFill>
                  <a:srgbClr val="1A3260"/>
                </a:solidFill>
                <a:highlight>
                  <a:srgbClr val="00FFFF"/>
                </a:highlight>
              </a:rPr>
              <a:t>Fabio </a:t>
            </a:r>
            <a:r>
              <a:rPr lang="en-US" sz="1300" i="1" dirty="0" err="1">
                <a:solidFill>
                  <a:srgbClr val="1A3260"/>
                </a:solidFill>
                <a:highlight>
                  <a:srgbClr val="00FFFF"/>
                </a:highlight>
              </a:rPr>
              <a:t>Lilliu</a:t>
            </a:r>
            <a:r>
              <a:rPr lang="en-US" sz="1300" i="1" dirty="0">
                <a:solidFill>
                  <a:srgbClr val="1A3260"/>
                </a:solidFill>
                <a:highlight>
                  <a:srgbClr val="00FFFF"/>
                </a:highlight>
              </a:rPr>
              <a:t>, Andrea Loi, Diego </a:t>
            </a:r>
            <a:r>
              <a:rPr lang="en-US" sz="1300" i="1" dirty="0" err="1">
                <a:solidFill>
                  <a:srgbClr val="1A3260"/>
                </a:solidFill>
                <a:highlight>
                  <a:srgbClr val="00FFFF"/>
                </a:highlight>
              </a:rPr>
              <a:t>Reforgiato</a:t>
            </a:r>
            <a:r>
              <a:rPr lang="en-US" sz="1300" i="1" dirty="0">
                <a:solidFill>
                  <a:srgbClr val="1A3260"/>
                </a:solidFill>
                <a:highlight>
                  <a:srgbClr val="00FFFF"/>
                </a:highlight>
              </a:rPr>
              <a:t> Recupero, Mario </a:t>
            </a:r>
            <a:r>
              <a:rPr lang="en-US" sz="1300" i="1" dirty="0" err="1">
                <a:solidFill>
                  <a:srgbClr val="1A3260"/>
                </a:solidFill>
                <a:highlight>
                  <a:srgbClr val="00FFFF"/>
                </a:highlight>
              </a:rPr>
              <a:t>Sisinni</a:t>
            </a:r>
            <a:r>
              <a:rPr lang="en-US" sz="1300" i="1" dirty="0">
                <a:solidFill>
                  <a:srgbClr val="1A3260"/>
                </a:solidFill>
                <a:highlight>
                  <a:srgbClr val="00FFFF"/>
                </a:highlight>
              </a:rPr>
              <a:t>, Meritxell </a:t>
            </a:r>
            <a:r>
              <a:rPr lang="en-US" sz="1300" i="1" dirty="0" err="1">
                <a:solidFill>
                  <a:srgbClr val="1A3260"/>
                </a:solidFill>
                <a:highlight>
                  <a:srgbClr val="00FFFF"/>
                </a:highlight>
              </a:rPr>
              <a:t>Vinyals</a:t>
            </a:r>
            <a:r>
              <a:rPr lang="en-US" sz="1300" i="1" dirty="0">
                <a:solidFill>
                  <a:srgbClr val="1A3260"/>
                </a:solidFill>
                <a:highlight>
                  <a:srgbClr val="00FFFF"/>
                </a:highlight>
              </a:rPr>
              <a:t>: An uncertainty-aware optimization approach for flexible loads of smart grid prosumers: A use case on the Cardiff energy grid. Sustainable Energy, Grids and Networks, 2019, 20, 100272</a:t>
            </a:r>
          </a:p>
          <a:p>
            <a:endParaRPr lang="en-US" sz="1300" i="1" dirty="0">
              <a:solidFill>
                <a:srgbClr val="1A3260"/>
              </a:solidFill>
            </a:endParaRPr>
          </a:p>
          <a:p>
            <a:r>
              <a:rPr lang="en-US" sz="1300" i="1" dirty="0">
                <a:solidFill>
                  <a:srgbClr val="1A3260"/>
                </a:solidFill>
              </a:rPr>
              <a:t>Fabio </a:t>
            </a:r>
            <a:r>
              <a:rPr lang="en-US" sz="1300" i="1" dirty="0" err="1">
                <a:solidFill>
                  <a:srgbClr val="1A3260"/>
                </a:solidFill>
              </a:rPr>
              <a:t>Lilliu</a:t>
            </a:r>
            <a:r>
              <a:rPr lang="en-US" sz="1300" i="1" dirty="0">
                <a:solidFill>
                  <a:srgbClr val="1A3260"/>
                </a:solidFill>
              </a:rPr>
              <a:t>, Meritxell </a:t>
            </a:r>
            <a:r>
              <a:rPr lang="en-US" sz="1300" i="1" dirty="0" err="1">
                <a:solidFill>
                  <a:srgbClr val="1A3260"/>
                </a:solidFill>
              </a:rPr>
              <a:t>Vinyals</a:t>
            </a:r>
            <a:r>
              <a:rPr lang="en-US" sz="1300" i="1" dirty="0">
                <a:solidFill>
                  <a:srgbClr val="1A3260"/>
                </a:solidFill>
              </a:rPr>
              <a:t>, Roman </a:t>
            </a:r>
            <a:r>
              <a:rPr lang="en-US" sz="1300" i="1" dirty="0" err="1">
                <a:solidFill>
                  <a:srgbClr val="1A3260"/>
                </a:solidFill>
              </a:rPr>
              <a:t>Denysiuk</a:t>
            </a:r>
            <a:r>
              <a:rPr lang="en-US" sz="1300" i="1" dirty="0">
                <a:solidFill>
                  <a:srgbClr val="1A3260"/>
                </a:solidFill>
              </a:rPr>
              <a:t>, Diego </a:t>
            </a:r>
            <a:r>
              <a:rPr lang="en-US" sz="1300" i="1" dirty="0" err="1">
                <a:solidFill>
                  <a:srgbClr val="1A3260"/>
                </a:solidFill>
              </a:rPr>
              <a:t>Reforgiato</a:t>
            </a:r>
            <a:r>
              <a:rPr lang="en-US" sz="1300" i="1" dirty="0">
                <a:solidFill>
                  <a:srgbClr val="1A3260"/>
                </a:solidFill>
              </a:rPr>
              <a:t> Recupero: A novel payment scheme for trading renewable energy in smart grid. e-Energy 2019 – Proceedings of the 10th ACM International Conference on Future Energy Systems, 2019, pp. 111–115</a:t>
            </a:r>
          </a:p>
        </p:txBody>
      </p:sp>
      <p:sp>
        <p:nvSpPr>
          <p:cNvPr id="2" name="CasellaDiTesto 1">
            <a:extLst>
              <a:ext uri="{FF2B5EF4-FFF2-40B4-BE49-F238E27FC236}">
                <a16:creationId xmlns:a16="http://schemas.microsoft.com/office/drawing/2014/main" id="{342A4D7A-16B3-5A3B-089E-8ED3720422EB}"/>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Smart Grid </a:t>
            </a:r>
            <a:r>
              <a:rPr lang="it-IT" sz="4000" b="1" dirty="0" err="1">
                <a:solidFill>
                  <a:srgbClr val="4590B8"/>
                </a:solidFill>
              </a:rPr>
              <a:t>References</a:t>
            </a:r>
            <a:endParaRPr lang="it-IT" sz="4000" b="1" dirty="0">
              <a:solidFill>
                <a:srgbClr val="4590B8"/>
              </a:solidFill>
            </a:endParaRPr>
          </a:p>
        </p:txBody>
      </p:sp>
    </p:spTree>
    <p:extLst>
      <p:ext uri="{BB962C8B-B14F-4D97-AF65-F5344CB8AC3E}">
        <p14:creationId xmlns:p14="http://schemas.microsoft.com/office/powerpoint/2010/main" val="3057063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AB05D-99BA-EB31-9315-EA2C1DAAEBE7}"/>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93B737D4-2CEC-9F71-EFCF-72FEA9627C65}"/>
              </a:ext>
            </a:extLst>
          </p:cNvPr>
          <p:cNvSpPr txBox="1"/>
          <p:nvPr/>
        </p:nvSpPr>
        <p:spPr>
          <a:xfrm>
            <a:off x="689821" y="565749"/>
            <a:ext cx="10880202" cy="707886"/>
          </a:xfrm>
          <a:prstGeom prst="rect">
            <a:avLst/>
          </a:prstGeom>
          <a:noFill/>
        </p:spPr>
        <p:txBody>
          <a:bodyPr wrap="square" rtlCol="0">
            <a:spAutoFit/>
          </a:bodyPr>
          <a:lstStyle/>
          <a:p>
            <a:pPr algn="ctr"/>
            <a:r>
              <a:rPr lang="it-IT" sz="4000" b="1" dirty="0">
                <a:solidFill>
                  <a:srgbClr val="4590B8"/>
                </a:solidFill>
              </a:rPr>
              <a:t>Smart Grid</a:t>
            </a:r>
          </a:p>
        </p:txBody>
      </p:sp>
      <p:sp>
        <p:nvSpPr>
          <p:cNvPr id="3" name="CasellaDiTesto 2">
            <a:extLst>
              <a:ext uri="{FF2B5EF4-FFF2-40B4-BE49-F238E27FC236}">
                <a16:creationId xmlns:a16="http://schemas.microsoft.com/office/drawing/2014/main" id="{DCD7FB68-B52B-BE23-0ED1-C45DA4FE4891}"/>
              </a:ext>
            </a:extLst>
          </p:cNvPr>
          <p:cNvSpPr txBox="1"/>
          <p:nvPr/>
        </p:nvSpPr>
        <p:spPr>
          <a:xfrm>
            <a:off x="418454" y="1321002"/>
            <a:ext cx="11453248" cy="4247317"/>
          </a:xfrm>
          <a:prstGeom prst="rect">
            <a:avLst/>
          </a:prstGeom>
          <a:noFill/>
        </p:spPr>
        <p:txBody>
          <a:bodyPr wrap="square" rtlCol="0">
            <a:spAutoFit/>
          </a:bodyPr>
          <a:lstStyle/>
          <a:p>
            <a:r>
              <a:rPr lang="en-US" sz="1500" b="1" dirty="0"/>
              <a:t>Prosumer </a:t>
            </a:r>
            <a:r>
              <a:rPr lang="en-US" sz="1500" dirty="0"/>
              <a:t>is a smart—grid user able to consume and produce energy. It can provide flexibility, that is, the possibility of adapting their energy consumption in time and/or amount. We focus only on temporal flexibility, </a:t>
            </a:r>
            <a:r>
              <a:rPr lang="en-IT" sz="1500" dirty="0"/>
              <a:t>i.e., the possibility</a:t>
            </a:r>
          </a:p>
          <a:p>
            <a:r>
              <a:rPr lang="en-IT" sz="1500" dirty="0"/>
              <a:t>of shifting energy consumption over time without changing the total amount of energy consumed.</a:t>
            </a:r>
          </a:p>
          <a:p>
            <a:r>
              <a:rPr lang="en-IT" sz="1500" b="1" dirty="0"/>
              <a:t>Day</a:t>
            </a:r>
            <a:r>
              <a:rPr lang="en-IT" sz="1500" dirty="0"/>
              <a:t> is divided into a fixed number of time units (either 24 or 96, that is each 15 minutes)</a:t>
            </a:r>
          </a:p>
          <a:p>
            <a:r>
              <a:rPr lang="en-IT" sz="1500" b="1" dirty="0"/>
              <a:t>Energy consumption</a:t>
            </a:r>
            <a:r>
              <a:rPr lang="en-IT" sz="1500" dirty="0"/>
              <a:t> of a prosumer is generated by different devices. Some (i.e., computers, lights) are fixed. Others (i.e., smart washing machines, dish-washers) can be programmed to operate with a certain time window and are considered shiftable.</a:t>
            </a:r>
          </a:p>
          <a:p>
            <a:r>
              <a:rPr lang="en-GB" sz="1500" b="1" dirty="0"/>
              <a:t>v</a:t>
            </a:r>
            <a:r>
              <a:rPr lang="en-IT" sz="1500" b="1" dirty="0"/>
              <a:t> </a:t>
            </a:r>
            <a:r>
              <a:rPr lang="en-IT" sz="1500" dirty="0"/>
              <a:t>is the consumption of a prosumer in a day. It is indicated as </a:t>
            </a:r>
            <a:r>
              <a:rPr lang="en-IT" sz="1500" b="1" dirty="0"/>
              <a:t>v</a:t>
            </a:r>
            <a:r>
              <a:rPr lang="en-IT" sz="1500" dirty="0"/>
              <a:t>(0), </a:t>
            </a:r>
            <a:r>
              <a:rPr lang="en-IT" sz="1500" b="1" dirty="0"/>
              <a:t>v</a:t>
            </a:r>
            <a:r>
              <a:rPr lang="en-IT" sz="1500" dirty="0"/>
              <a:t>(1), …, </a:t>
            </a:r>
            <a:r>
              <a:rPr lang="en-IT" sz="1500" b="1" dirty="0"/>
              <a:t>v</a:t>
            </a:r>
            <a:r>
              <a:rPr lang="en-IT" sz="1500" dirty="0"/>
              <a:t>(T), where T is the number of time units considered. Each </a:t>
            </a:r>
            <a:r>
              <a:rPr lang="en-IT" sz="1500" b="1" dirty="0"/>
              <a:t>v</a:t>
            </a:r>
            <a:r>
              <a:rPr lang="en-IT" sz="1500" b="1" baseline="-25000" dirty="0"/>
              <a:t>i </a:t>
            </a:r>
            <a:r>
              <a:rPr lang="en-IT" sz="1500" dirty="0"/>
              <a:t>is a vector of consumptions of the devices. Fixed loads are represented as </a:t>
            </a:r>
            <a:r>
              <a:rPr lang="en-IT" sz="1500" b="1" dirty="0"/>
              <a:t>f</a:t>
            </a:r>
            <a:r>
              <a:rPr lang="en-IT" sz="1500" b="1" baseline="-25000" dirty="0"/>
              <a:t>0</a:t>
            </a:r>
            <a:r>
              <a:rPr lang="en-IT" sz="1500" dirty="0"/>
              <a:t>, …, </a:t>
            </a:r>
            <a:r>
              <a:rPr lang="en-IT" sz="1500" b="1" dirty="0"/>
              <a:t>f</a:t>
            </a:r>
            <a:r>
              <a:rPr lang="en-IT" sz="1500" b="1" baseline="-25000" dirty="0"/>
              <a:t>P-1 </a:t>
            </a:r>
            <a:r>
              <a:rPr lang="en-IT" sz="1500" dirty="0"/>
              <a:t>and shiftable loads are </a:t>
            </a:r>
            <a:r>
              <a:rPr lang="en-IT" sz="1500" b="1" dirty="0"/>
              <a:t>s</a:t>
            </a:r>
            <a:r>
              <a:rPr lang="en-IT" sz="1500" b="1" baseline="-25000" dirty="0"/>
              <a:t>0</a:t>
            </a:r>
            <a:r>
              <a:rPr lang="en-IT" sz="1500" dirty="0"/>
              <a:t>,…,</a:t>
            </a:r>
            <a:r>
              <a:rPr lang="en-IT" sz="1500" b="1" dirty="0"/>
              <a:t>s</a:t>
            </a:r>
            <a:r>
              <a:rPr lang="en-IT" sz="1500" b="1" baseline="-25000" dirty="0"/>
              <a:t>M-1</a:t>
            </a:r>
          </a:p>
          <a:p>
            <a:r>
              <a:rPr lang="en-US" sz="1500" dirty="0"/>
              <a:t>We represent the amount of energy produced by a prosumer with </a:t>
            </a:r>
            <a:r>
              <a:rPr lang="en-US" sz="1500" b="1" dirty="0"/>
              <a:t>p</a:t>
            </a:r>
          </a:p>
          <a:p>
            <a:r>
              <a:rPr lang="en-IT" sz="1500" dirty="0"/>
              <a:t>The possibility of shifting a load is represented by the </a:t>
            </a:r>
            <a:r>
              <a:rPr lang="en-IT" sz="1500" b="1" dirty="0"/>
              <a:t>rolling operator </a:t>
            </a:r>
            <a:r>
              <a:rPr lang="en-IT" sz="1500" dirty="0"/>
              <a:t>r</a:t>
            </a:r>
            <a:r>
              <a:rPr lang="en-IT" sz="1500" baseline="-25000" dirty="0"/>
              <a:t>k</a:t>
            </a:r>
            <a:r>
              <a:rPr lang="en-IT" sz="1500" dirty="0"/>
              <a:t>. Given a vector </a:t>
            </a:r>
          </a:p>
          <a:p>
            <a:r>
              <a:rPr lang="en-GB" sz="1500" dirty="0"/>
              <a:t>		a = </a:t>
            </a:r>
            <a:r>
              <a:rPr lang="en-IT" sz="1500" dirty="0"/>
              <a:t>(a(0),a(1),...,a(T−1)), </a:t>
            </a:r>
          </a:p>
          <a:p>
            <a:r>
              <a:rPr lang="en-IT" sz="1500" dirty="0"/>
              <a:t>r</a:t>
            </a:r>
            <a:r>
              <a:rPr lang="en-IT" sz="1500" baseline="-25000" dirty="0"/>
              <a:t>k</a:t>
            </a:r>
            <a:r>
              <a:rPr lang="en-IT" sz="1500" dirty="0"/>
              <a:t> shifts its components by k positions to the right rolling over the last one. In other words:</a:t>
            </a:r>
          </a:p>
          <a:p>
            <a:r>
              <a:rPr lang="en-IT" sz="1500" dirty="0"/>
              <a:t>		r</a:t>
            </a:r>
            <a:r>
              <a:rPr lang="en-IT" sz="1500" baseline="-25000" dirty="0"/>
              <a:t>k</a:t>
            </a:r>
            <a:r>
              <a:rPr lang="en-IT" sz="1500" dirty="0"/>
              <a:t>(a) = (a((−k) mod T),a((1−k) mod T),...,a((T−1−k) mod T))</a:t>
            </a:r>
          </a:p>
          <a:p>
            <a:r>
              <a:rPr lang="en-GB" sz="1500" dirty="0"/>
              <a:t>V</a:t>
            </a:r>
            <a:r>
              <a:rPr lang="en-IT" sz="1500" dirty="0"/>
              <a:t> is therefore represented as </a:t>
            </a:r>
          </a:p>
          <a:p>
            <a:endParaRPr lang="en-IT" sz="1500" dirty="0"/>
          </a:p>
          <a:p>
            <a:endParaRPr lang="en-IT" sz="1500" dirty="0"/>
          </a:p>
          <a:p>
            <a:r>
              <a:rPr lang="en-GB" sz="1500" dirty="0"/>
              <a:t>p</a:t>
            </a:r>
            <a:r>
              <a:rPr lang="en-IT" sz="1500" baseline="-25000" dirty="0"/>
              <a:t>buy</a:t>
            </a:r>
            <a:r>
              <a:rPr lang="en-IT" sz="1500" dirty="0"/>
              <a:t> (p</a:t>
            </a:r>
            <a:r>
              <a:rPr lang="en-IT" sz="1500" baseline="-25000" dirty="0"/>
              <a:t>sell</a:t>
            </a:r>
            <a:r>
              <a:rPr lang="en-IT" sz="1500" dirty="0"/>
              <a:t>) is the vector of length T for the unit price at each time unit at which the prosumer buys (sells) energy.  The total cost of energy for the prosumer across the day is the cost of purchasing energy minus the cost of selling energy</a:t>
            </a:r>
          </a:p>
        </p:txBody>
      </p:sp>
      <p:pic>
        <p:nvPicPr>
          <p:cNvPr id="4" name="Picture 3">
            <a:extLst>
              <a:ext uri="{FF2B5EF4-FFF2-40B4-BE49-F238E27FC236}">
                <a16:creationId xmlns:a16="http://schemas.microsoft.com/office/drawing/2014/main" id="{04DF1D53-88C0-51A9-7A3B-A254AC587EF3}"/>
              </a:ext>
            </a:extLst>
          </p:cNvPr>
          <p:cNvPicPr>
            <a:picLocks noChangeAspect="1"/>
          </p:cNvPicPr>
          <p:nvPr/>
        </p:nvPicPr>
        <p:blipFill>
          <a:blip r:embed="rId3"/>
          <a:stretch>
            <a:fillRect/>
          </a:stretch>
        </p:blipFill>
        <p:spPr>
          <a:xfrm>
            <a:off x="2810435" y="4353658"/>
            <a:ext cx="3740993" cy="656315"/>
          </a:xfrm>
          <a:prstGeom prst="rect">
            <a:avLst/>
          </a:prstGeom>
        </p:spPr>
      </p:pic>
      <p:pic>
        <p:nvPicPr>
          <p:cNvPr id="5" name="Picture 4">
            <a:extLst>
              <a:ext uri="{FF2B5EF4-FFF2-40B4-BE49-F238E27FC236}">
                <a16:creationId xmlns:a16="http://schemas.microsoft.com/office/drawing/2014/main" id="{EFC1BBB1-1045-0457-8305-DF1354F7BF9F}"/>
              </a:ext>
            </a:extLst>
          </p:cNvPr>
          <p:cNvPicPr>
            <a:picLocks noChangeAspect="1"/>
          </p:cNvPicPr>
          <p:nvPr/>
        </p:nvPicPr>
        <p:blipFill>
          <a:blip r:embed="rId4"/>
          <a:stretch>
            <a:fillRect/>
          </a:stretch>
        </p:blipFill>
        <p:spPr>
          <a:xfrm>
            <a:off x="7580369" y="5343072"/>
            <a:ext cx="1700812" cy="841061"/>
          </a:xfrm>
          <a:prstGeom prst="rect">
            <a:avLst/>
          </a:prstGeom>
        </p:spPr>
      </p:pic>
    </p:spTree>
    <p:extLst>
      <p:ext uri="{BB962C8B-B14F-4D97-AF65-F5344CB8AC3E}">
        <p14:creationId xmlns:p14="http://schemas.microsoft.com/office/powerpoint/2010/main" val="486412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0340"/>
            <a:ext cx="11155680" cy="548640"/>
          </a:xfrm>
          <a:prstGeom prst="rect">
            <a:avLst/>
          </a:prstGeom>
          <a:noFill/>
        </p:spPr>
        <p:txBody>
          <a:bodyPr wrap="none">
            <a:spAutoFit/>
          </a:bodyPr>
          <a:lstStyle/>
          <a:p>
            <a:r>
              <a:rPr sz="2700" b="1" dirty="0">
                <a:solidFill>
                  <a:srgbClr val="1C2D46"/>
                </a:solidFill>
              </a:rPr>
              <a:t>Problem Formulation — Prosumer Load Shifting</a:t>
            </a:r>
          </a:p>
        </p:txBody>
      </p:sp>
      <p:sp>
        <p:nvSpPr>
          <p:cNvPr id="3" name="TextBox 2"/>
          <p:cNvSpPr txBox="1"/>
          <p:nvPr/>
        </p:nvSpPr>
        <p:spPr>
          <a:xfrm>
            <a:off x="530352" y="777240"/>
            <a:ext cx="10972800" cy="320040"/>
          </a:xfrm>
          <a:prstGeom prst="rect">
            <a:avLst/>
          </a:prstGeom>
          <a:noFill/>
        </p:spPr>
        <p:txBody>
          <a:bodyPr wrap="none">
            <a:spAutoFit/>
          </a:bodyPr>
          <a:lstStyle/>
          <a:p>
            <a:r>
              <a:rPr sz="1200">
                <a:solidFill>
                  <a:srgbClr val="376296"/>
                </a:solidFill>
              </a:rPr>
              <a:t>Choose when flexible electrical loads operate in order to minimize the prosumer's daily net energy cost.</a:t>
            </a:r>
          </a:p>
        </p:txBody>
      </p:sp>
      <p:sp>
        <p:nvSpPr>
          <p:cNvPr id="4" name="Rounded Rectangle 3"/>
          <p:cNvSpPr/>
          <p:nvPr/>
        </p:nvSpPr>
        <p:spPr>
          <a:xfrm>
            <a:off x="594360" y="1234440"/>
            <a:ext cx="3429000" cy="105156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07592"/>
            <a:ext cx="3154680" cy="905255"/>
          </a:xfrm>
          <a:prstGeom prst="rect">
            <a:avLst/>
          </a:prstGeom>
          <a:noFill/>
        </p:spPr>
        <p:txBody>
          <a:bodyPr wrap="square">
            <a:spAutoFit/>
          </a:bodyPr>
          <a:lstStyle/>
          <a:p>
            <a:pPr algn="ctr"/>
            <a:r>
              <a:rPr sz="1700" b="0">
                <a:solidFill>
                  <a:srgbClr val="2A2D32"/>
                </a:solidFill>
              </a:rPr>
              <a:t>Day divided into T time units
(e.g., T = 24 hourly slots)</a:t>
            </a:r>
          </a:p>
        </p:txBody>
      </p:sp>
      <p:sp>
        <p:nvSpPr>
          <p:cNvPr id="6" name="Rounded Rectangle 5"/>
          <p:cNvSpPr/>
          <p:nvPr/>
        </p:nvSpPr>
        <p:spPr>
          <a:xfrm>
            <a:off x="4389120" y="1234440"/>
            <a:ext cx="3429000" cy="105156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26280" y="1307592"/>
            <a:ext cx="3154680" cy="905255"/>
          </a:xfrm>
          <a:prstGeom prst="rect">
            <a:avLst/>
          </a:prstGeom>
          <a:noFill/>
        </p:spPr>
        <p:txBody>
          <a:bodyPr wrap="square">
            <a:spAutoFit/>
          </a:bodyPr>
          <a:lstStyle/>
          <a:p>
            <a:pPr algn="ctr"/>
            <a:r>
              <a:rPr sz="1700" b="0">
                <a:solidFill>
                  <a:srgbClr val="2A2D32"/>
                </a:solidFill>
              </a:rPr>
              <a:t>Fixed consumption
f ∈ ℝᵀ</a:t>
            </a:r>
          </a:p>
        </p:txBody>
      </p:sp>
      <p:sp>
        <p:nvSpPr>
          <p:cNvPr id="8" name="Rounded Rectangle 7"/>
          <p:cNvSpPr/>
          <p:nvPr/>
        </p:nvSpPr>
        <p:spPr>
          <a:xfrm>
            <a:off x="8183879" y="1234440"/>
            <a:ext cx="3429000" cy="1051560"/>
          </a:xfrm>
          <a:prstGeom prst="roundRect">
            <a:avLst/>
          </a:prstGeom>
          <a:solidFill>
            <a:srgbClr val="FFFFFF"/>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1307592"/>
            <a:ext cx="3154680" cy="905255"/>
          </a:xfrm>
          <a:prstGeom prst="rect">
            <a:avLst/>
          </a:prstGeom>
          <a:noFill/>
        </p:spPr>
        <p:txBody>
          <a:bodyPr wrap="square">
            <a:spAutoFit/>
          </a:bodyPr>
          <a:lstStyle/>
          <a:p>
            <a:pPr algn="ctr"/>
            <a:r>
              <a:rPr sz="1700" b="0">
                <a:solidFill>
                  <a:srgbClr val="2A2D32"/>
                </a:solidFill>
              </a:rPr>
              <a:t>Energy production
p ∈ ℝᵀ</a:t>
            </a:r>
          </a:p>
        </p:txBody>
      </p:sp>
      <p:sp>
        <p:nvSpPr>
          <p:cNvPr id="10" name="TextBox 9"/>
          <p:cNvSpPr txBox="1"/>
          <p:nvPr/>
        </p:nvSpPr>
        <p:spPr>
          <a:xfrm>
            <a:off x="685800" y="2651760"/>
            <a:ext cx="5212080" cy="320040"/>
          </a:xfrm>
          <a:prstGeom prst="rect">
            <a:avLst/>
          </a:prstGeom>
          <a:noFill/>
        </p:spPr>
        <p:txBody>
          <a:bodyPr wrap="square">
            <a:spAutoFit/>
          </a:bodyPr>
          <a:lstStyle/>
          <a:p>
            <a:pPr algn="l"/>
            <a:r>
              <a:rPr sz="1800" b="1">
                <a:solidFill>
                  <a:srgbClr val="1C2D46"/>
                </a:solidFill>
              </a:rPr>
              <a:t>Shiftable loads</a:t>
            </a:r>
          </a:p>
        </p:txBody>
      </p:sp>
      <p:sp>
        <p:nvSpPr>
          <p:cNvPr id="11" name="TextBox 10"/>
          <p:cNvSpPr txBox="1"/>
          <p:nvPr/>
        </p:nvSpPr>
        <p:spPr>
          <a:xfrm>
            <a:off x="685800" y="3063240"/>
            <a:ext cx="5212080" cy="615553"/>
          </a:xfrm>
          <a:prstGeom prst="rect">
            <a:avLst/>
          </a:prstGeom>
          <a:noFill/>
        </p:spPr>
        <p:txBody>
          <a:bodyPr wrap="square">
            <a:spAutoFit/>
          </a:bodyPr>
          <a:lstStyle/>
          <a:p>
            <a:pPr algn="l"/>
            <a:r>
              <a:rPr sz="1700" b="0" dirty="0">
                <a:solidFill>
                  <a:srgbClr val="2A2D32"/>
                </a:solidFill>
              </a:rPr>
              <a:t>s₀, …, </a:t>
            </a:r>
            <a:r>
              <a:rPr sz="1700" b="0" dirty="0" err="1">
                <a:solidFill>
                  <a:srgbClr val="2A2D32"/>
                </a:solidFill>
              </a:rPr>
              <a:t>s</a:t>
            </a:r>
            <a:r>
              <a:rPr sz="1700" b="0" baseline="-25000" dirty="0" err="1">
                <a:solidFill>
                  <a:srgbClr val="2A2D32"/>
                </a:solidFill>
              </a:rPr>
              <a:t>M</a:t>
            </a:r>
            <a:r>
              <a:rPr sz="1700" b="0" dirty="0">
                <a:solidFill>
                  <a:srgbClr val="2A2D32"/>
                </a:solidFill>
              </a:rPr>
              <a:t>₋₁ ∈ </a:t>
            </a:r>
            <a:r>
              <a:rPr sz="1700" b="0" dirty="0" err="1">
                <a:solidFill>
                  <a:srgbClr val="2A2D32"/>
                </a:solidFill>
              </a:rPr>
              <a:t>ℝ</a:t>
            </a:r>
            <a:r>
              <a:rPr sz="1700" b="0" dirty="0">
                <a:solidFill>
                  <a:srgbClr val="2A2D32"/>
                </a:solidFill>
              </a:rPr>
              <a:t>ᵀ
Each load </a:t>
            </a:r>
            <a:r>
              <a:rPr sz="1700" b="0" dirty="0" err="1">
                <a:solidFill>
                  <a:srgbClr val="2A2D32"/>
                </a:solidFill>
              </a:rPr>
              <a:t>i</a:t>
            </a:r>
            <a:r>
              <a:rPr sz="1700" b="0" dirty="0">
                <a:solidFill>
                  <a:srgbClr val="2A2D32"/>
                </a:solidFill>
              </a:rPr>
              <a:t> can be shifted by kᵢ time units.</a:t>
            </a:r>
          </a:p>
        </p:txBody>
      </p:sp>
      <p:sp>
        <p:nvSpPr>
          <p:cNvPr id="12" name="TextBox 11"/>
          <p:cNvSpPr txBox="1"/>
          <p:nvPr/>
        </p:nvSpPr>
        <p:spPr>
          <a:xfrm>
            <a:off x="685800" y="3931920"/>
            <a:ext cx="5212080" cy="502920"/>
          </a:xfrm>
          <a:prstGeom prst="rect">
            <a:avLst/>
          </a:prstGeom>
          <a:noFill/>
        </p:spPr>
        <p:txBody>
          <a:bodyPr wrap="square">
            <a:spAutoFit/>
          </a:bodyPr>
          <a:lstStyle/>
          <a:p>
            <a:pPr algn="l"/>
            <a:r>
              <a:rPr sz="1600" b="1">
                <a:solidFill>
                  <a:srgbClr val="BE7028"/>
                </a:solidFill>
              </a:rPr>
              <a:t>Decision variables:</a:t>
            </a:r>
          </a:p>
        </p:txBody>
      </p:sp>
      <p:sp>
        <p:nvSpPr>
          <p:cNvPr id="13" name="TextBox 12"/>
          <p:cNvSpPr txBox="1"/>
          <p:nvPr/>
        </p:nvSpPr>
        <p:spPr>
          <a:xfrm>
            <a:off x="685800" y="4407408"/>
            <a:ext cx="5212080" cy="640080"/>
          </a:xfrm>
          <a:prstGeom prst="rect">
            <a:avLst/>
          </a:prstGeom>
          <a:noFill/>
        </p:spPr>
        <p:txBody>
          <a:bodyPr wrap="square">
            <a:spAutoFit/>
          </a:bodyPr>
          <a:lstStyle/>
          <a:p>
            <a:pPr algn="l"/>
            <a:r>
              <a:rPr sz="2100" b="1" dirty="0">
                <a:solidFill>
                  <a:srgbClr val="1C2D46"/>
                </a:solidFill>
              </a:rPr>
              <a:t>kᵢ ∈ {0,…,T−1},   </a:t>
            </a:r>
            <a:r>
              <a:rPr sz="2100" b="1" dirty="0" err="1">
                <a:solidFill>
                  <a:srgbClr val="1C2D46"/>
                </a:solidFill>
              </a:rPr>
              <a:t>i</a:t>
            </a:r>
            <a:r>
              <a:rPr sz="2100" b="1" dirty="0">
                <a:solidFill>
                  <a:srgbClr val="1C2D46"/>
                </a:solidFill>
              </a:rPr>
              <a:t> = 0,…,M−1</a:t>
            </a:r>
          </a:p>
        </p:txBody>
      </p:sp>
      <p:sp>
        <p:nvSpPr>
          <p:cNvPr id="14" name="TextBox 13"/>
          <p:cNvSpPr txBox="1"/>
          <p:nvPr/>
        </p:nvSpPr>
        <p:spPr>
          <a:xfrm>
            <a:off x="6217920" y="2651760"/>
            <a:ext cx="5120640" cy="320040"/>
          </a:xfrm>
          <a:prstGeom prst="rect">
            <a:avLst/>
          </a:prstGeom>
          <a:noFill/>
        </p:spPr>
        <p:txBody>
          <a:bodyPr wrap="square">
            <a:spAutoFit/>
          </a:bodyPr>
          <a:lstStyle/>
          <a:p>
            <a:pPr algn="l"/>
            <a:r>
              <a:rPr sz="1800" b="1">
                <a:solidFill>
                  <a:srgbClr val="1C2D46"/>
                </a:solidFill>
              </a:rPr>
              <a:t>Rolling operator</a:t>
            </a:r>
          </a:p>
        </p:txBody>
      </p:sp>
      <p:sp>
        <p:nvSpPr>
          <p:cNvPr id="15" name="TextBox 14"/>
          <p:cNvSpPr txBox="1"/>
          <p:nvPr/>
        </p:nvSpPr>
        <p:spPr>
          <a:xfrm>
            <a:off x="6217920" y="3063240"/>
            <a:ext cx="5120640" cy="640080"/>
          </a:xfrm>
          <a:prstGeom prst="rect">
            <a:avLst/>
          </a:prstGeom>
          <a:noFill/>
        </p:spPr>
        <p:txBody>
          <a:bodyPr wrap="square">
            <a:spAutoFit/>
          </a:bodyPr>
          <a:lstStyle/>
          <a:p>
            <a:pPr algn="l"/>
            <a:r>
              <a:rPr sz="1600" b="0" dirty="0">
                <a:solidFill>
                  <a:srgbClr val="2A2D32"/>
                </a:solidFill>
              </a:rPr>
              <a:t>rₖ(sᵢ) shifts the consumption profile of load </a:t>
            </a:r>
            <a:r>
              <a:rPr sz="1600" b="0" dirty="0" err="1">
                <a:solidFill>
                  <a:srgbClr val="2A2D32"/>
                </a:solidFill>
              </a:rPr>
              <a:t>i</a:t>
            </a:r>
            <a:r>
              <a:rPr sz="1600" b="0" dirty="0">
                <a:solidFill>
                  <a:srgbClr val="2A2D32"/>
                </a:solidFill>
              </a:rPr>
              <a:t>
by k positions in time.</a:t>
            </a:r>
          </a:p>
        </p:txBody>
      </p:sp>
      <p:sp>
        <p:nvSpPr>
          <p:cNvPr id="16" name="Rounded Rectangle 15"/>
          <p:cNvSpPr/>
          <p:nvPr/>
        </p:nvSpPr>
        <p:spPr>
          <a:xfrm>
            <a:off x="6263640" y="3977639"/>
            <a:ext cx="5074920" cy="114300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4050791"/>
            <a:ext cx="4800600" cy="923330"/>
          </a:xfrm>
          <a:prstGeom prst="rect">
            <a:avLst/>
          </a:prstGeom>
          <a:noFill/>
        </p:spPr>
        <p:txBody>
          <a:bodyPr wrap="square">
            <a:spAutoFit/>
          </a:bodyPr>
          <a:lstStyle/>
          <a:p>
            <a:pPr algn="ctr"/>
            <a:r>
              <a:rPr sz="1800" b="0" dirty="0">
                <a:solidFill>
                  <a:srgbClr val="2A2D32"/>
                </a:solidFill>
              </a:rPr>
              <a:t>Net consumption for a configuration k:
vₖ = f + </a:t>
            </a:r>
            <a:r>
              <a:rPr sz="1800" b="0" dirty="0" err="1">
                <a:solidFill>
                  <a:srgbClr val="2A2D32"/>
                </a:solidFill>
              </a:rPr>
              <a:t>Σ</a:t>
            </a:r>
            <a:r>
              <a:rPr sz="1800" b="0" dirty="0">
                <a:solidFill>
                  <a:srgbClr val="2A2D32"/>
                </a:solidFill>
              </a:rPr>
              <a:t>ᵢ rₖ</a:t>
            </a:r>
            <a:r>
              <a:rPr sz="1800" b="0" baseline="-25000" dirty="0">
                <a:solidFill>
                  <a:srgbClr val="2A2D32"/>
                </a:solidFill>
              </a:rPr>
              <a:t>ᵢ</a:t>
            </a:r>
            <a:r>
              <a:rPr sz="1800" b="0" dirty="0">
                <a:solidFill>
                  <a:srgbClr val="2A2D32"/>
                </a:solidFill>
              </a:rPr>
              <a:t>(sᵢ) − p</a:t>
            </a:r>
          </a:p>
        </p:txBody>
      </p:sp>
      <p:sp>
        <p:nvSpPr>
          <p:cNvPr id="18" name="TextBox 17"/>
          <p:cNvSpPr txBox="1"/>
          <p:nvPr/>
        </p:nvSpPr>
        <p:spPr>
          <a:xfrm>
            <a:off x="6355080" y="5349240"/>
            <a:ext cx="4846320" cy="594360"/>
          </a:xfrm>
          <a:prstGeom prst="rect">
            <a:avLst/>
          </a:prstGeom>
          <a:noFill/>
        </p:spPr>
        <p:txBody>
          <a:bodyPr wrap="square">
            <a:spAutoFit/>
          </a:bodyPr>
          <a:lstStyle/>
          <a:p>
            <a:pPr algn="ctr"/>
            <a:r>
              <a:rPr sz="1400" b="0">
                <a:solidFill>
                  <a:srgbClr val="2A2D32"/>
                </a:solidFill>
              </a:rPr>
              <a:t>Positive vₖ(t): buy from grid
Negative vₖ(t): surplus sold to grid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19" y="0"/>
            <a:ext cx="11155680" cy="548640"/>
          </a:xfrm>
          <a:prstGeom prst="rect">
            <a:avLst/>
          </a:prstGeom>
          <a:noFill/>
        </p:spPr>
        <p:txBody>
          <a:bodyPr wrap="none">
            <a:spAutoFit/>
          </a:bodyPr>
          <a:lstStyle/>
          <a:p>
            <a:r>
              <a:rPr sz="2700" b="1">
                <a:solidFill>
                  <a:srgbClr val="1C2D46"/>
                </a:solidFill>
              </a:rPr>
              <a:t>Objective Function and Optimization Problem</a:t>
            </a:r>
          </a:p>
        </p:txBody>
      </p:sp>
      <p:sp>
        <p:nvSpPr>
          <p:cNvPr id="3" name="TextBox 2"/>
          <p:cNvSpPr txBox="1"/>
          <p:nvPr/>
        </p:nvSpPr>
        <p:spPr>
          <a:xfrm>
            <a:off x="530352" y="777240"/>
            <a:ext cx="10972800" cy="320040"/>
          </a:xfrm>
          <a:prstGeom prst="rect">
            <a:avLst/>
          </a:prstGeom>
          <a:noFill/>
        </p:spPr>
        <p:txBody>
          <a:bodyPr wrap="none">
            <a:spAutoFit/>
          </a:bodyPr>
          <a:lstStyle/>
          <a:p>
            <a:r>
              <a:rPr sz="1200">
                <a:solidFill>
                  <a:srgbClr val="376296"/>
                </a:solidFill>
              </a:rPr>
              <a:t>Buying and selling use different time-dependent tariffs.</a:t>
            </a:r>
          </a:p>
        </p:txBody>
      </p:sp>
      <p:sp>
        <p:nvSpPr>
          <p:cNvPr id="4" name="Rounded Rectangle 3"/>
          <p:cNvSpPr/>
          <p:nvPr/>
        </p:nvSpPr>
        <p:spPr>
          <a:xfrm>
            <a:off x="594360" y="1234440"/>
            <a:ext cx="3337560" cy="96012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07592"/>
            <a:ext cx="3063240" cy="646331"/>
          </a:xfrm>
          <a:prstGeom prst="rect">
            <a:avLst/>
          </a:prstGeom>
          <a:noFill/>
        </p:spPr>
        <p:txBody>
          <a:bodyPr wrap="square">
            <a:spAutoFit/>
          </a:bodyPr>
          <a:lstStyle/>
          <a:p>
            <a:pPr algn="ctr"/>
            <a:r>
              <a:rPr sz="1800" b="0" dirty="0">
                <a:solidFill>
                  <a:srgbClr val="2A2D32"/>
                </a:solidFill>
              </a:rPr>
              <a:t>Buying tariff
p</a:t>
            </a:r>
            <a:r>
              <a:rPr sz="1800" b="0" baseline="-25000" dirty="0">
                <a:solidFill>
                  <a:srgbClr val="2A2D32"/>
                </a:solidFill>
              </a:rPr>
              <a:t>ᵇᵘ</a:t>
            </a:r>
            <a:r>
              <a:rPr sz="1800" b="0" baseline="-25000" dirty="0" err="1">
                <a:solidFill>
                  <a:srgbClr val="2A2D32"/>
                </a:solidFill>
              </a:rPr>
              <a:t>ʸ</a:t>
            </a:r>
            <a:r>
              <a:rPr sz="1800" b="0" dirty="0">
                <a:solidFill>
                  <a:srgbClr val="2A2D32"/>
                </a:solidFill>
              </a:rPr>
              <a:t> ∈ </a:t>
            </a:r>
            <a:r>
              <a:rPr sz="1800" b="0" dirty="0" err="1">
                <a:solidFill>
                  <a:srgbClr val="2A2D32"/>
                </a:solidFill>
              </a:rPr>
              <a:t>ℝ</a:t>
            </a:r>
            <a:r>
              <a:rPr sz="1800" b="0" dirty="0">
                <a:solidFill>
                  <a:srgbClr val="2A2D32"/>
                </a:solidFill>
              </a:rPr>
              <a:t>ᵀ</a:t>
            </a:r>
          </a:p>
        </p:txBody>
      </p:sp>
      <p:sp>
        <p:nvSpPr>
          <p:cNvPr id="6" name="Rounded Rectangle 5"/>
          <p:cNvSpPr/>
          <p:nvPr/>
        </p:nvSpPr>
        <p:spPr>
          <a:xfrm>
            <a:off x="4434840" y="1234440"/>
            <a:ext cx="3337560" cy="960120"/>
          </a:xfrm>
          <a:prstGeom prst="roundRect">
            <a:avLst/>
          </a:prstGeom>
          <a:solidFill>
            <a:srgbClr val="FFFFFF"/>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307592"/>
            <a:ext cx="3063240" cy="646331"/>
          </a:xfrm>
          <a:prstGeom prst="rect">
            <a:avLst/>
          </a:prstGeom>
          <a:noFill/>
        </p:spPr>
        <p:txBody>
          <a:bodyPr wrap="square">
            <a:spAutoFit/>
          </a:bodyPr>
          <a:lstStyle/>
          <a:p>
            <a:pPr algn="ctr"/>
            <a:r>
              <a:rPr sz="1800" b="0" dirty="0">
                <a:solidFill>
                  <a:srgbClr val="2A2D32"/>
                </a:solidFill>
              </a:rPr>
              <a:t>Selling tariff
</a:t>
            </a:r>
            <a:r>
              <a:rPr sz="1800" b="0" dirty="0" err="1">
                <a:solidFill>
                  <a:srgbClr val="2A2D32"/>
                </a:solidFill>
              </a:rPr>
              <a:t>p</a:t>
            </a:r>
            <a:r>
              <a:rPr sz="1800" b="0" baseline="-25000" dirty="0" err="1">
                <a:solidFill>
                  <a:srgbClr val="2A2D32"/>
                </a:solidFill>
              </a:rPr>
              <a:t>ˢᵉˡˡ</a:t>
            </a:r>
            <a:r>
              <a:rPr sz="1800" b="0" dirty="0">
                <a:solidFill>
                  <a:srgbClr val="2A2D32"/>
                </a:solidFill>
              </a:rPr>
              <a:t> ∈ </a:t>
            </a:r>
            <a:r>
              <a:rPr sz="1800" b="0" dirty="0" err="1">
                <a:solidFill>
                  <a:srgbClr val="2A2D32"/>
                </a:solidFill>
              </a:rPr>
              <a:t>ℝ</a:t>
            </a:r>
            <a:r>
              <a:rPr sz="1800" b="0" dirty="0">
                <a:solidFill>
                  <a:srgbClr val="2A2D32"/>
                </a:solidFill>
              </a:rPr>
              <a:t>ᵀ</a:t>
            </a:r>
          </a:p>
        </p:txBody>
      </p:sp>
      <p:sp>
        <p:nvSpPr>
          <p:cNvPr id="8" name="Rounded Rectangle 7"/>
          <p:cNvSpPr/>
          <p:nvPr/>
        </p:nvSpPr>
        <p:spPr>
          <a:xfrm>
            <a:off x="8275320" y="1234440"/>
            <a:ext cx="3337560" cy="96012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0" y="1307592"/>
            <a:ext cx="3063240" cy="813816"/>
          </a:xfrm>
          <a:prstGeom prst="rect">
            <a:avLst/>
          </a:prstGeom>
          <a:noFill/>
        </p:spPr>
        <p:txBody>
          <a:bodyPr wrap="square">
            <a:spAutoFit/>
          </a:bodyPr>
          <a:lstStyle/>
          <a:p>
            <a:pPr algn="ctr"/>
            <a:r>
              <a:rPr sz="1800" b="0">
                <a:solidFill>
                  <a:srgbClr val="2A2D32"/>
                </a:solidFill>
              </a:rPr>
              <a:t>Net profile
vₖ ∈ ℝᵀ</a:t>
            </a:r>
          </a:p>
        </p:txBody>
      </p:sp>
      <p:sp>
        <p:nvSpPr>
          <p:cNvPr id="10" name="TextBox 9"/>
          <p:cNvSpPr txBox="1"/>
          <p:nvPr/>
        </p:nvSpPr>
        <p:spPr>
          <a:xfrm>
            <a:off x="731520" y="2560320"/>
            <a:ext cx="3840480" cy="502920"/>
          </a:xfrm>
          <a:prstGeom prst="rect">
            <a:avLst/>
          </a:prstGeom>
          <a:noFill/>
        </p:spPr>
        <p:txBody>
          <a:bodyPr wrap="square">
            <a:spAutoFit/>
          </a:bodyPr>
          <a:lstStyle/>
          <a:p>
            <a:pPr algn="l"/>
            <a:r>
              <a:rPr sz="1700" b="1">
                <a:solidFill>
                  <a:srgbClr val="1C2D46"/>
                </a:solidFill>
              </a:rPr>
              <a:t>Split net consumption:</a:t>
            </a:r>
          </a:p>
        </p:txBody>
      </p:sp>
      <p:sp>
        <p:nvSpPr>
          <p:cNvPr id="11" name="TextBox 10"/>
          <p:cNvSpPr txBox="1"/>
          <p:nvPr/>
        </p:nvSpPr>
        <p:spPr>
          <a:xfrm>
            <a:off x="822960" y="3108960"/>
            <a:ext cx="4114800" cy="914400"/>
          </a:xfrm>
          <a:prstGeom prst="rect">
            <a:avLst/>
          </a:prstGeom>
          <a:noFill/>
        </p:spPr>
        <p:txBody>
          <a:bodyPr wrap="square">
            <a:spAutoFit/>
          </a:bodyPr>
          <a:lstStyle/>
          <a:p>
            <a:pPr algn="l"/>
            <a:r>
              <a:rPr sz="2000" b="1">
                <a:solidFill>
                  <a:srgbClr val="2A2D32"/>
                </a:solidFill>
              </a:rPr>
              <a:t>vₖ⁺(t) = max(0, vₖ(t))
vₖ⁻(t) = min(0, vₖ(t))</a:t>
            </a:r>
          </a:p>
        </p:txBody>
      </p:sp>
      <p:sp>
        <p:nvSpPr>
          <p:cNvPr id="12" name="Rounded Rectangle 11"/>
          <p:cNvSpPr/>
          <p:nvPr/>
        </p:nvSpPr>
        <p:spPr>
          <a:xfrm>
            <a:off x="4937760" y="2606040"/>
            <a:ext cx="6263640" cy="1280160"/>
          </a:xfrm>
          <a:prstGeom prst="roundRect">
            <a:avLst/>
          </a:prstGeom>
          <a:solidFill>
            <a:srgbClr val="F2F6FA"/>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74920" y="2679192"/>
            <a:ext cx="5989320" cy="1015663"/>
          </a:xfrm>
          <a:prstGeom prst="rect">
            <a:avLst/>
          </a:prstGeom>
          <a:noFill/>
        </p:spPr>
        <p:txBody>
          <a:bodyPr wrap="square">
            <a:spAutoFit/>
          </a:bodyPr>
          <a:lstStyle/>
          <a:p>
            <a:pPr algn="ctr"/>
            <a:r>
              <a:rPr sz="2000" b="0" dirty="0">
                <a:solidFill>
                  <a:srgbClr val="2A2D32"/>
                </a:solidFill>
              </a:rPr>
              <a:t>Daily net energy cost
C(k₀,…,</a:t>
            </a:r>
            <a:r>
              <a:rPr sz="2000" b="0" dirty="0" err="1">
                <a:solidFill>
                  <a:srgbClr val="2A2D32"/>
                </a:solidFill>
              </a:rPr>
              <a:t>k</a:t>
            </a:r>
            <a:r>
              <a:rPr sz="2000" b="0" baseline="-25000" dirty="0" err="1">
                <a:solidFill>
                  <a:srgbClr val="2A2D32"/>
                </a:solidFill>
              </a:rPr>
              <a:t>M</a:t>
            </a:r>
            <a:r>
              <a:rPr sz="2000" b="0" baseline="-25000" dirty="0">
                <a:solidFill>
                  <a:srgbClr val="2A2D32"/>
                </a:solidFill>
              </a:rPr>
              <a:t>₋₁</a:t>
            </a:r>
            <a:r>
              <a:rPr sz="2000" b="0" dirty="0">
                <a:solidFill>
                  <a:srgbClr val="2A2D32"/>
                </a:solidFill>
              </a:rPr>
              <a:t>) = p</a:t>
            </a:r>
            <a:r>
              <a:rPr sz="2000" b="0" baseline="-25000" dirty="0">
                <a:solidFill>
                  <a:srgbClr val="2A2D32"/>
                </a:solidFill>
              </a:rPr>
              <a:t>ᵇᵘ</a:t>
            </a:r>
            <a:r>
              <a:rPr sz="2000" b="0" baseline="-25000" dirty="0" err="1">
                <a:solidFill>
                  <a:srgbClr val="2A2D32"/>
                </a:solidFill>
              </a:rPr>
              <a:t>ʸ</a:t>
            </a:r>
            <a:r>
              <a:rPr sz="2000" b="0" dirty="0">
                <a:solidFill>
                  <a:srgbClr val="2A2D32"/>
                </a:solidFill>
              </a:rPr>
              <a:t> · vₖ⁺ + </a:t>
            </a:r>
            <a:r>
              <a:rPr sz="2000" b="0" dirty="0" err="1">
                <a:solidFill>
                  <a:srgbClr val="2A2D32"/>
                </a:solidFill>
              </a:rPr>
              <a:t>p</a:t>
            </a:r>
            <a:r>
              <a:rPr sz="2000" b="0" baseline="-25000" dirty="0" err="1">
                <a:solidFill>
                  <a:srgbClr val="2A2D32"/>
                </a:solidFill>
              </a:rPr>
              <a:t>ˢᵉˡˡ</a:t>
            </a:r>
            <a:r>
              <a:rPr sz="2000" b="0" dirty="0">
                <a:solidFill>
                  <a:srgbClr val="2A2D32"/>
                </a:solidFill>
              </a:rPr>
              <a:t> · vₖ⁻</a:t>
            </a:r>
          </a:p>
        </p:txBody>
      </p:sp>
      <p:sp>
        <p:nvSpPr>
          <p:cNvPr id="14" name="TextBox 13"/>
          <p:cNvSpPr txBox="1"/>
          <p:nvPr/>
        </p:nvSpPr>
        <p:spPr>
          <a:xfrm>
            <a:off x="5120640" y="4114800"/>
            <a:ext cx="5852160" cy="594360"/>
          </a:xfrm>
          <a:prstGeom prst="rect">
            <a:avLst/>
          </a:prstGeom>
          <a:noFill/>
        </p:spPr>
        <p:txBody>
          <a:bodyPr wrap="square">
            <a:spAutoFit/>
          </a:bodyPr>
          <a:lstStyle/>
          <a:p>
            <a:pPr algn="ctr"/>
            <a:r>
              <a:rPr sz="1300" b="0">
                <a:solidFill>
                  <a:srgbClr val="2A2D32"/>
                </a:solidFill>
              </a:rPr>
              <a:t>The second term is non-positive: revenue from selling surplus energy reduces total cost.</a:t>
            </a:r>
          </a:p>
        </p:txBody>
      </p:sp>
      <p:sp>
        <p:nvSpPr>
          <p:cNvPr id="15" name="Rounded Rectangle 14"/>
          <p:cNvSpPr/>
          <p:nvPr/>
        </p:nvSpPr>
        <p:spPr>
          <a:xfrm>
            <a:off x="731520" y="4892040"/>
            <a:ext cx="10698480" cy="105156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965192"/>
            <a:ext cx="10424159" cy="707886"/>
          </a:xfrm>
          <a:prstGeom prst="rect">
            <a:avLst/>
          </a:prstGeom>
          <a:noFill/>
        </p:spPr>
        <p:txBody>
          <a:bodyPr wrap="square">
            <a:spAutoFit/>
          </a:bodyPr>
          <a:lstStyle/>
          <a:p>
            <a:pPr algn="ctr"/>
            <a:r>
              <a:rPr sz="2000" b="1" dirty="0">
                <a:solidFill>
                  <a:srgbClr val="2A2D32"/>
                </a:solidFill>
              </a:rPr>
              <a:t>OPTIMIZATION PROBLEM
</a:t>
            </a:r>
            <a:r>
              <a:rPr sz="2000" b="0" dirty="0">
                <a:solidFill>
                  <a:srgbClr val="2A2D32"/>
                </a:solidFill>
              </a:rPr>
              <a:t>Find  k* = (k₀*,…,</a:t>
            </a:r>
            <a:r>
              <a:rPr sz="2000" b="0" dirty="0" err="1">
                <a:solidFill>
                  <a:srgbClr val="2A2D32"/>
                </a:solidFill>
              </a:rPr>
              <a:t>k</a:t>
            </a:r>
            <a:r>
              <a:rPr sz="2000" b="0" baseline="-25000" dirty="0" err="1">
                <a:solidFill>
                  <a:srgbClr val="2A2D32"/>
                </a:solidFill>
              </a:rPr>
              <a:t>M</a:t>
            </a:r>
            <a:r>
              <a:rPr sz="2000" b="0" baseline="-25000" dirty="0">
                <a:solidFill>
                  <a:srgbClr val="2A2D32"/>
                </a:solidFill>
              </a:rPr>
              <a:t>₋₁</a:t>
            </a:r>
            <a:r>
              <a:rPr sz="2000" b="0" dirty="0">
                <a:solidFill>
                  <a:srgbClr val="2A2D32"/>
                </a:solidFill>
              </a:rPr>
              <a:t>*) ∈ {0,…,T−1}ᴹ  that minimizes  C(k₀,…,</a:t>
            </a:r>
            <a:r>
              <a:rPr sz="2000" b="0" dirty="0" err="1">
                <a:solidFill>
                  <a:srgbClr val="2A2D32"/>
                </a:solidFill>
              </a:rPr>
              <a:t>k</a:t>
            </a:r>
            <a:r>
              <a:rPr sz="2000" b="0" baseline="-25000" dirty="0" err="1">
                <a:solidFill>
                  <a:srgbClr val="2A2D32"/>
                </a:solidFill>
              </a:rPr>
              <a:t>M</a:t>
            </a:r>
            <a:r>
              <a:rPr sz="2000" b="0" baseline="-25000" dirty="0">
                <a:solidFill>
                  <a:srgbClr val="2A2D32"/>
                </a:solidFill>
              </a:rPr>
              <a:t>₋₁</a:t>
            </a:r>
            <a:r>
              <a:rPr sz="2000" b="0" dirty="0">
                <a:solidFill>
                  <a:srgbClr val="2A2D32"/>
                </a:solidFill>
              </a:rPr>
              <a:t>)</a:t>
            </a:r>
          </a:p>
        </p:txBody>
      </p:sp>
      <p:sp>
        <p:nvSpPr>
          <p:cNvPr id="17" name="TextBox 16"/>
          <p:cNvSpPr txBox="1"/>
          <p:nvPr/>
        </p:nvSpPr>
        <p:spPr>
          <a:xfrm>
            <a:off x="1828800" y="6126480"/>
            <a:ext cx="8503920" cy="411480"/>
          </a:xfrm>
          <a:prstGeom prst="rect">
            <a:avLst/>
          </a:prstGeom>
          <a:noFill/>
        </p:spPr>
        <p:txBody>
          <a:bodyPr wrap="square">
            <a:spAutoFit/>
          </a:bodyPr>
          <a:lstStyle/>
          <a:p>
            <a:pPr algn="ctr"/>
            <a:r>
              <a:rPr sz="1500" b="1">
                <a:solidFill>
                  <a:srgbClr val="1C2D46"/>
                </a:solidFill>
              </a:rPr>
              <a:t>Search-space size = Tᴹ  → exponential growth with the number M of shiftable loads.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6893"/>
            <a:ext cx="11155680" cy="502920"/>
          </a:xfrm>
          <a:prstGeom prst="rect">
            <a:avLst/>
          </a:prstGeom>
          <a:noFill/>
        </p:spPr>
        <p:txBody>
          <a:bodyPr wrap="square">
            <a:spAutoFit/>
          </a:bodyPr>
          <a:lstStyle/>
          <a:p>
            <a:pPr algn="l"/>
            <a:r>
              <a:rPr sz="2700" b="1" dirty="0">
                <a:solidFill>
                  <a:srgbClr val="1C2D46"/>
                </a:solidFill>
              </a:rPr>
              <a:t>Quantum Solution — Grover-Based Minimum Search</a:t>
            </a:r>
          </a:p>
        </p:txBody>
      </p:sp>
      <p:sp>
        <p:nvSpPr>
          <p:cNvPr id="3" name="TextBox 2"/>
          <p:cNvSpPr txBox="1"/>
          <p:nvPr/>
        </p:nvSpPr>
        <p:spPr>
          <a:xfrm>
            <a:off x="530352" y="749808"/>
            <a:ext cx="10972800" cy="320040"/>
          </a:xfrm>
          <a:prstGeom prst="rect">
            <a:avLst/>
          </a:prstGeom>
          <a:noFill/>
        </p:spPr>
        <p:txBody>
          <a:bodyPr wrap="square">
            <a:spAutoFit/>
          </a:bodyPr>
          <a:lstStyle/>
          <a:p>
            <a:pPr algn="l"/>
            <a:r>
              <a:rPr sz="1200" b="0">
                <a:solidFill>
                  <a:srgbClr val="376296"/>
                </a:solidFill>
              </a:rPr>
              <a:t>Repeatedly search for a load-shift configuration whose energy cost is lower than the current best.</a:t>
            </a:r>
          </a:p>
        </p:txBody>
      </p:sp>
      <p:sp>
        <p:nvSpPr>
          <p:cNvPr id="4" name="Rounded Rectangle 3"/>
          <p:cNvSpPr/>
          <p:nvPr/>
        </p:nvSpPr>
        <p:spPr>
          <a:xfrm>
            <a:off x="685800" y="1234440"/>
            <a:ext cx="3017520" cy="9601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289304"/>
            <a:ext cx="2798063" cy="584775"/>
          </a:xfrm>
          <a:prstGeom prst="rect">
            <a:avLst/>
          </a:prstGeom>
          <a:noFill/>
        </p:spPr>
        <p:txBody>
          <a:bodyPr wrap="square">
            <a:spAutoFit/>
          </a:bodyPr>
          <a:lstStyle/>
          <a:p>
            <a:pPr algn="ctr"/>
            <a:r>
              <a:rPr sz="1600" b="0" dirty="0">
                <a:solidFill>
                  <a:srgbClr val="2A2D32"/>
                </a:solidFill>
              </a:rPr>
              <a:t>1. Encode configurations
k = (k₀,…,</a:t>
            </a:r>
            <a:r>
              <a:rPr sz="1600" b="0" dirty="0" err="1">
                <a:solidFill>
                  <a:srgbClr val="2A2D32"/>
                </a:solidFill>
              </a:rPr>
              <a:t>k</a:t>
            </a:r>
            <a:r>
              <a:rPr sz="1600" b="0" baseline="-25000" dirty="0" err="1">
                <a:solidFill>
                  <a:srgbClr val="2A2D32"/>
                </a:solidFill>
              </a:rPr>
              <a:t>M</a:t>
            </a:r>
            <a:r>
              <a:rPr sz="1600" b="0" dirty="0">
                <a:solidFill>
                  <a:srgbClr val="2A2D32"/>
                </a:solidFill>
              </a:rPr>
              <a:t>₋₁)</a:t>
            </a:r>
          </a:p>
        </p:txBody>
      </p:sp>
      <p:cxnSp>
        <p:nvCxnSpPr>
          <p:cNvPr id="6" name="Connector 5"/>
          <p:cNvCxnSpPr/>
          <p:nvPr/>
        </p:nvCxnSpPr>
        <p:spPr>
          <a:xfrm>
            <a:off x="3749039" y="1719072"/>
            <a:ext cx="411481"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06240" y="1234440"/>
            <a:ext cx="3154680" cy="960120"/>
          </a:xfrm>
          <a:prstGeom prst="roundRect">
            <a:avLst/>
          </a:prstGeom>
          <a:solidFill>
            <a:srgbClr val="F2F6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15968" y="1289304"/>
            <a:ext cx="2935224" cy="850392"/>
          </a:xfrm>
          <a:prstGeom prst="rect">
            <a:avLst/>
          </a:prstGeom>
          <a:noFill/>
        </p:spPr>
        <p:txBody>
          <a:bodyPr wrap="square">
            <a:spAutoFit/>
          </a:bodyPr>
          <a:lstStyle/>
          <a:p>
            <a:pPr algn="ctr"/>
            <a:r>
              <a:rPr sz="1600" b="0" dirty="0">
                <a:solidFill>
                  <a:srgbClr val="2A2D32"/>
                </a:solidFill>
              </a:rPr>
              <a:t>2. Prepare superposition
of possible shifts</a:t>
            </a:r>
          </a:p>
        </p:txBody>
      </p:sp>
      <p:cxnSp>
        <p:nvCxnSpPr>
          <p:cNvPr id="9" name="Connector 8"/>
          <p:cNvCxnSpPr/>
          <p:nvPr/>
        </p:nvCxnSpPr>
        <p:spPr>
          <a:xfrm>
            <a:off x="7406640" y="1719072"/>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863840" y="1234440"/>
            <a:ext cx="3611880" cy="960120"/>
          </a:xfrm>
          <a:prstGeom prst="roundRect">
            <a:avLst/>
          </a:prstGeom>
          <a:solidFill>
            <a:srgbClr val="F2F6FA"/>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73567" y="1289304"/>
            <a:ext cx="3392424" cy="850392"/>
          </a:xfrm>
          <a:prstGeom prst="rect">
            <a:avLst/>
          </a:prstGeom>
          <a:noFill/>
        </p:spPr>
        <p:txBody>
          <a:bodyPr wrap="square">
            <a:spAutoFit/>
          </a:bodyPr>
          <a:lstStyle/>
          <a:p>
            <a:pPr algn="ctr"/>
            <a:r>
              <a:rPr sz="1600" b="0">
                <a:solidFill>
                  <a:srgbClr val="2A2D32"/>
                </a:solidFill>
              </a:rPr>
              <a:t>3. Set current threshold τ
(best cost found so far)</a:t>
            </a:r>
          </a:p>
        </p:txBody>
      </p:sp>
      <p:sp>
        <p:nvSpPr>
          <p:cNvPr id="12" name="TextBox 11"/>
          <p:cNvSpPr txBox="1"/>
          <p:nvPr/>
        </p:nvSpPr>
        <p:spPr>
          <a:xfrm>
            <a:off x="685800" y="2560320"/>
            <a:ext cx="2574758" cy="353943"/>
          </a:xfrm>
          <a:prstGeom prst="rect">
            <a:avLst/>
          </a:prstGeom>
          <a:noFill/>
        </p:spPr>
        <p:txBody>
          <a:bodyPr wrap="square">
            <a:spAutoFit/>
          </a:bodyPr>
          <a:lstStyle/>
          <a:p>
            <a:pPr algn="l"/>
            <a:r>
              <a:rPr sz="1700" b="1" dirty="0">
                <a:solidFill>
                  <a:srgbClr val="1C2D46"/>
                </a:solidFill>
              </a:rPr>
              <a:t>Quantum search loop</a:t>
            </a:r>
          </a:p>
        </p:txBody>
      </p:sp>
      <p:sp>
        <p:nvSpPr>
          <p:cNvPr id="13" name="Rounded Rectangle 12"/>
          <p:cNvSpPr/>
          <p:nvPr/>
        </p:nvSpPr>
        <p:spPr>
          <a:xfrm>
            <a:off x="685800" y="2971800"/>
            <a:ext cx="2331720" cy="91440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3026664"/>
            <a:ext cx="2112263" cy="804672"/>
          </a:xfrm>
          <a:prstGeom prst="rect">
            <a:avLst/>
          </a:prstGeom>
          <a:noFill/>
        </p:spPr>
        <p:txBody>
          <a:bodyPr wrap="square">
            <a:spAutoFit/>
          </a:bodyPr>
          <a:lstStyle/>
          <a:p>
            <a:pPr algn="ctr"/>
            <a:r>
              <a:rPr sz="1600" b="0">
                <a:solidFill>
                  <a:srgbClr val="2A2D32"/>
                </a:solidFill>
              </a:rPr>
              <a:t>ORACLE
Mark states with
C(k) &lt; τ</a:t>
            </a:r>
          </a:p>
        </p:txBody>
      </p:sp>
      <p:cxnSp>
        <p:nvCxnSpPr>
          <p:cNvPr id="15" name="Connector 14"/>
          <p:cNvCxnSpPr/>
          <p:nvPr/>
        </p:nvCxnSpPr>
        <p:spPr>
          <a:xfrm>
            <a:off x="3063240" y="3429000"/>
            <a:ext cx="411480" cy="0"/>
          </a:xfrm>
          <a:prstGeom prst="line">
            <a:avLst/>
          </a:prstGeom>
          <a:ln w="25400">
            <a:solidFill>
              <a:srgbClr val="6F4D96"/>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520440" y="2971800"/>
            <a:ext cx="2331720" cy="91440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30168" y="3026664"/>
            <a:ext cx="2112263" cy="804672"/>
          </a:xfrm>
          <a:prstGeom prst="rect">
            <a:avLst/>
          </a:prstGeom>
          <a:noFill/>
        </p:spPr>
        <p:txBody>
          <a:bodyPr wrap="square">
            <a:spAutoFit/>
          </a:bodyPr>
          <a:lstStyle/>
          <a:p>
            <a:pPr algn="ctr"/>
            <a:r>
              <a:rPr sz="1600" b="0">
                <a:solidFill>
                  <a:srgbClr val="2A2D32"/>
                </a:solidFill>
              </a:rPr>
              <a:t>GROVER
Amplify marked
configurations</a:t>
            </a:r>
          </a:p>
        </p:txBody>
      </p:sp>
      <p:cxnSp>
        <p:nvCxnSpPr>
          <p:cNvPr id="18" name="Connector 17"/>
          <p:cNvCxnSpPr/>
          <p:nvPr/>
        </p:nvCxnSpPr>
        <p:spPr>
          <a:xfrm>
            <a:off x="5897880" y="342900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55080" y="2971800"/>
            <a:ext cx="2331720" cy="914400"/>
          </a:xfrm>
          <a:prstGeom prst="roundRect">
            <a:avLst/>
          </a:prstGeom>
          <a:solidFill>
            <a:srgbClr val="FFFFFF"/>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8" y="3026664"/>
            <a:ext cx="2112263" cy="804672"/>
          </a:xfrm>
          <a:prstGeom prst="rect">
            <a:avLst/>
          </a:prstGeom>
          <a:noFill/>
        </p:spPr>
        <p:txBody>
          <a:bodyPr wrap="square">
            <a:spAutoFit/>
          </a:bodyPr>
          <a:lstStyle/>
          <a:p>
            <a:pPr algn="ctr"/>
            <a:r>
              <a:rPr sz="1600" b="0" dirty="0">
                <a:solidFill>
                  <a:srgbClr val="2A2D32"/>
                </a:solidFill>
              </a:rPr>
              <a:t>MEASURE
Obtain candidate
</a:t>
            </a:r>
            <a:r>
              <a:rPr sz="1600" b="0" dirty="0" err="1">
                <a:solidFill>
                  <a:srgbClr val="2A2D32"/>
                </a:solidFill>
              </a:rPr>
              <a:t>k_cand</a:t>
            </a:r>
            <a:endParaRPr sz="1600" b="0" dirty="0">
              <a:solidFill>
                <a:srgbClr val="2A2D32"/>
              </a:solidFill>
            </a:endParaRPr>
          </a:p>
        </p:txBody>
      </p:sp>
      <p:cxnSp>
        <p:nvCxnSpPr>
          <p:cNvPr id="21" name="Connector 20"/>
          <p:cNvCxnSpPr/>
          <p:nvPr/>
        </p:nvCxnSpPr>
        <p:spPr>
          <a:xfrm>
            <a:off x="8732520" y="3429000"/>
            <a:ext cx="411480" cy="0"/>
          </a:xfrm>
          <a:prstGeom prst="line">
            <a:avLst/>
          </a:prstGeom>
          <a:ln w="25400">
            <a:solidFill>
              <a:srgbClr val="377D52"/>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189720" y="2971800"/>
            <a:ext cx="2331720" cy="91440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99448" y="3026664"/>
            <a:ext cx="2112263" cy="804672"/>
          </a:xfrm>
          <a:prstGeom prst="rect">
            <a:avLst/>
          </a:prstGeom>
          <a:noFill/>
        </p:spPr>
        <p:txBody>
          <a:bodyPr wrap="square">
            <a:spAutoFit/>
          </a:bodyPr>
          <a:lstStyle/>
          <a:p>
            <a:pPr algn="ctr"/>
            <a:r>
              <a:rPr sz="1600" b="0">
                <a:solidFill>
                  <a:srgbClr val="2A2D32"/>
                </a:solidFill>
              </a:rPr>
              <a:t>IMPROVES?
C(k_cand) &lt; τ</a:t>
            </a:r>
          </a:p>
        </p:txBody>
      </p:sp>
      <p:cxnSp>
        <p:nvCxnSpPr>
          <p:cNvPr id="24" name="Connector 23"/>
          <p:cNvCxnSpPr/>
          <p:nvPr/>
        </p:nvCxnSpPr>
        <p:spPr>
          <a:xfrm>
            <a:off x="10332720" y="3931920"/>
            <a:ext cx="0" cy="640080"/>
          </a:xfrm>
          <a:prstGeom prst="line">
            <a:avLst/>
          </a:prstGeom>
          <a:ln w="25400">
            <a:solidFill>
              <a:srgbClr val="BE702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138160" y="4617720"/>
            <a:ext cx="3108960" cy="82296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5299" y="4581143"/>
            <a:ext cx="3250687" cy="938719"/>
          </a:xfrm>
          <a:prstGeom prst="rect">
            <a:avLst/>
          </a:prstGeom>
          <a:noFill/>
        </p:spPr>
        <p:txBody>
          <a:bodyPr wrap="square">
            <a:spAutoFit/>
          </a:bodyPr>
          <a:lstStyle/>
          <a:p>
            <a:pPr algn="ctr"/>
            <a:r>
              <a:rPr sz="1100" b="0" dirty="0">
                <a:solidFill>
                  <a:srgbClr val="2A2D32"/>
                </a:solidFill>
              </a:rPr>
              <a:t>YES → update
</a:t>
            </a:r>
            <a:r>
              <a:rPr sz="1100" b="0" dirty="0" err="1">
                <a:solidFill>
                  <a:srgbClr val="2A2D32"/>
                </a:solidFill>
              </a:rPr>
              <a:t>k_best</a:t>
            </a:r>
            <a:r>
              <a:rPr sz="1100" b="0" dirty="0">
                <a:solidFill>
                  <a:srgbClr val="2A2D32"/>
                </a:solidFill>
              </a:rPr>
              <a:t> ← </a:t>
            </a:r>
            <a:r>
              <a:rPr sz="1100" b="0" dirty="0" err="1">
                <a:solidFill>
                  <a:srgbClr val="2A2D32"/>
                </a:solidFill>
              </a:rPr>
              <a:t>k_cand</a:t>
            </a:r>
            <a:r>
              <a:rPr sz="1100" b="0" dirty="0">
                <a:solidFill>
                  <a:srgbClr val="2A2D32"/>
                </a:solidFill>
              </a:rPr>
              <a:t>
</a:t>
            </a:r>
            <a:r>
              <a:rPr sz="1100" b="0" dirty="0" err="1">
                <a:solidFill>
                  <a:srgbClr val="2A2D32"/>
                </a:solidFill>
              </a:rPr>
              <a:t>τ</a:t>
            </a:r>
            <a:r>
              <a:rPr sz="1100" b="0" dirty="0">
                <a:solidFill>
                  <a:srgbClr val="2A2D32"/>
                </a:solidFill>
              </a:rPr>
              <a:t> ← C(</a:t>
            </a:r>
            <a:r>
              <a:rPr sz="1100" b="0" dirty="0" err="1">
                <a:solidFill>
                  <a:srgbClr val="2A2D32"/>
                </a:solidFill>
              </a:rPr>
              <a:t>k_cand</a:t>
            </a:r>
            <a:r>
              <a:rPr sz="1100" b="0" dirty="0">
                <a:solidFill>
                  <a:srgbClr val="2A2D32"/>
                </a:solidFill>
              </a:rPr>
              <a:t>)</a:t>
            </a:r>
            <a:endParaRPr lang="it-IT" sz="1100" b="0" dirty="0">
              <a:solidFill>
                <a:srgbClr val="2A2D32"/>
              </a:solidFill>
            </a:endParaRPr>
          </a:p>
          <a:p>
            <a:pPr algn="ctr"/>
            <a:r>
              <a:rPr lang="en-IT" sz="1100" dirty="0">
                <a:solidFill>
                  <a:srgbClr val="2A2D32"/>
                </a:solidFill>
              </a:rPr>
              <a:t>NO →repeat with more iterations (amplify a higher number of times)</a:t>
            </a:r>
            <a:endParaRPr sz="1100" b="0" dirty="0">
              <a:solidFill>
                <a:srgbClr val="2A2D32"/>
              </a:solidFill>
            </a:endParaRPr>
          </a:p>
        </p:txBody>
      </p:sp>
      <p:cxnSp>
        <p:nvCxnSpPr>
          <p:cNvPr id="27" name="Connector 26"/>
          <p:cNvCxnSpPr/>
          <p:nvPr/>
        </p:nvCxnSpPr>
        <p:spPr>
          <a:xfrm flipH="1">
            <a:off x="5943600" y="5029200"/>
            <a:ext cx="2148840" cy="0"/>
          </a:xfrm>
          <a:prstGeom prst="line">
            <a:avLst/>
          </a:prstGeom>
          <a:ln w="25400">
            <a:solidFill>
              <a:srgbClr val="377D52"/>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2788920" y="4617720"/>
            <a:ext cx="310896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898648" y="4672583"/>
            <a:ext cx="2889504" cy="713232"/>
          </a:xfrm>
          <a:prstGeom prst="rect">
            <a:avLst/>
          </a:prstGeom>
          <a:noFill/>
        </p:spPr>
        <p:txBody>
          <a:bodyPr wrap="square">
            <a:spAutoFit/>
          </a:bodyPr>
          <a:lstStyle/>
          <a:p>
            <a:pPr algn="ctr"/>
            <a:r>
              <a:rPr sz="1500" b="0">
                <a:solidFill>
                  <a:srgbClr val="2A2D32"/>
                </a:solidFill>
              </a:rPr>
              <a:t>Repeat search with
the improved threshold</a:t>
            </a:r>
          </a:p>
        </p:txBody>
      </p:sp>
      <p:sp>
        <p:nvSpPr>
          <p:cNvPr id="30" name="Rounded Rectangle 29"/>
          <p:cNvSpPr/>
          <p:nvPr/>
        </p:nvSpPr>
        <p:spPr>
          <a:xfrm>
            <a:off x="868680" y="5806440"/>
            <a:ext cx="10469880" cy="59436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8407" y="5861303"/>
            <a:ext cx="10250424" cy="484632"/>
          </a:xfrm>
          <a:prstGeom prst="rect">
            <a:avLst/>
          </a:prstGeom>
          <a:noFill/>
        </p:spPr>
        <p:txBody>
          <a:bodyPr wrap="square">
            <a:spAutoFit/>
          </a:bodyPr>
          <a:lstStyle/>
          <a:p>
            <a:pPr algn="ctr"/>
            <a:r>
              <a:rPr sz="1400" b="0">
                <a:solidFill>
                  <a:srgbClr val="2A2D32"/>
                </a:solidFill>
              </a:rPr>
              <a:t>Key idea: Grover search does not directly “compute the minimum”; it amplifies configurations that are better than the current threshold, which is progressively lowered.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
            <a:ext cx="9934130" cy="492443"/>
          </a:xfrm>
          <a:prstGeom prst="rect">
            <a:avLst/>
          </a:prstGeom>
          <a:noFill/>
        </p:spPr>
        <p:txBody>
          <a:bodyPr wrap="none">
            <a:spAutoFit/>
          </a:bodyPr>
          <a:lstStyle/>
          <a:p>
            <a:r>
              <a:rPr lang="it-IT" sz="2600" b="1" dirty="0" err="1">
                <a:solidFill>
                  <a:srgbClr val="1C2D46"/>
                </a:solidFill>
              </a:rPr>
              <a:t>Initialization</a:t>
            </a:r>
            <a:r>
              <a:rPr lang="it-IT" sz="2600" b="1" dirty="0">
                <a:solidFill>
                  <a:srgbClr val="1C2D46"/>
                </a:solidFill>
              </a:rPr>
              <a:t> - </a:t>
            </a:r>
            <a:r>
              <a:rPr sz="2600" b="1" dirty="0">
                <a:solidFill>
                  <a:srgbClr val="1C2D46"/>
                </a:solidFill>
              </a:rPr>
              <a:t>Quantum Encoding of Load-Shift Configurations</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Each possible schedule of the M shiftable loads is mapped to a computational-basis state.</a:t>
            </a:r>
          </a:p>
        </p:txBody>
      </p:sp>
      <p:sp>
        <p:nvSpPr>
          <p:cNvPr id="4" name="Rounded Rectangle 3"/>
          <p:cNvSpPr/>
          <p:nvPr/>
        </p:nvSpPr>
        <p:spPr>
          <a:xfrm>
            <a:off x="594360" y="1234440"/>
            <a:ext cx="3200400" cy="91440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298448"/>
            <a:ext cx="2980944" cy="615553"/>
          </a:xfrm>
          <a:prstGeom prst="rect">
            <a:avLst/>
          </a:prstGeom>
          <a:noFill/>
        </p:spPr>
        <p:txBody>
          <a:bodyPr wrap="square">
            <a:spAutoFit/>
          </a:bodyPr>
          <a:lstStyle/>
          <a:p>
            <a:pPr algn="ctr"/>
            <a:r>
              <a:rPr sz="1700" b="0" dirty="0">
                <a:solidFill>
                  <a:srgbClr val="2A2D32"/>
                </a:solidFill>
              </a:rPr>
              <a:t>Classical configuration
k = (k₀,…,</a:t>
            </a:r>
            <a:r>
              <a:rPr sz="1700" b="0" dirty="0" err="1">
                <a:solidFill>
                  <a:srgbClr val="2A2D32"/>
                </a:solidFill>
              </a:rPr>
              <a:t>k</a:t>
            </a:r>
            <a:r>
              <a:rPr sz="1700" b="0" baseline="-25000" dirty="0" err="1">
                <a:solidFill>
                  <a:srgbClr val="2A2D32"/>
                </a:solidFill>
              </a:rPr>
              <a:t>M</a:t>
            </a:r>
            <a:r>
              <a:rPr sz="1700" b="0" dirty="0">
                <a:solidFill>
                  <a:srgbClr val="2A2D32"/>
                </a:solidFill>
              </a:rPr>
              <a:t>₋₁)</a:t>
            </a:r>
          </a:p>
        </p:txBody>
      </p:sp>
      <p:cxnSp>
        <p:nvCxnSpPr>
          <p:cNvPr id="6" name="Connector 5"/>
          <p:cNvCxnSpPr/>
          <p:nvPr/>
        </p:nvCxnSpPr>
        <p:spPr>
          <a:xfrm>
            <a:off x="3840480" y="1691640"/>
            <a:ext cx="50292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89120" y="1234440"/>
            <a:ext cx="3383280" cy="914400"/>
          </a:xfrm>
          <a:prstGeom prst="roundRect">
            <a:avLst/>
          </a:prstGeom>
          <a:solidFill>
            <a:srgbClr val="F2F6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98848" y="1298448"/>
            <a:ext cx="3163824" cy="786384"/>
          </a:xfrm>
          <a:prstGeom prst="rect">
            <a:avLst/>
          </a:prstGeom>
          <a:noFill/>
        </p:spPr>
        <p:txBody>
          <a:bodyPr wrap="square">
            <a:spAutoFit/>
          </a:bodyPr>
          <a:lstStyle/>
          <a:p>
            <a:pPr algn="ctr"/>
            <a:r>
              <a:rPr sz="1700" b="0" dirty="0">
                <a:solidFill>
                  <a:srgbClr val="2A2D32"/>
                </a:solidFill>
              </a:rPr>
              <a:t>q = ⌈</a:t>
            </a:r>
            <a:r>
              <a:rPr sz="1700" b="0" dirty="0" err="1">
                <a:solidFill>
                  <a:srgbClr val="2A2D32"/>
                </a:solidFill>
              </a:rPr>
              <a:t>log₂T</a:t>
            </a:r>
            <a:r>
              <a:rPr sz="1700" b="0" dirty="0">
                <a:solidFill>
                  <a:srgbClr val="2A2D32"/>
                </a:solidFill>
              </a:rPr>
              <a:t>⌉ qubits
for each shift kᵢ</a:t>
            </a:r>
          </a:p>
        </p:txBody>
      </p:sp>
      <p:cxnSp>
        <p:nvCxnSpPr>
          <p:cNvPr id="9" name="Connector 8"/>
          <p:cNvCxnSpPr/>
          <p:nvPr/>
        </p:nvCxnSpPr>
        <p:spPr>
          <a:xfrm>
            <a:off x="7818120" y="1691640"/>
            <a:ext cx="50292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366760" y="1234440"/>
            <a:ext cx="3200400" cy="914400"/>
          </a:xfrm>
          <a:prstGeom prst="roundRect">
            <a:avLst/>
          </a:prstGeom>
          <a:solidFill>
            <a:srgbClr val="F2F6FA"/>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76488" y="1298448"/>
            <a:ext cx="2980944" cy="786384"/>
          </a:xfrm>
          <a:prstGeom prst="rect">
            <a:avLst/>
          </a:prstGeom>
          <a:noFill/>
        </p:spPr>
        <p:txBody>
          <a:bodyPr wrap="square">
            <a:spAutoFit/>
          </a:bodyPr>
          <a:lstStyle/>
          <a:p>
            <a:pPr algn="ctr"/>
            <a:r>
              <a:rPr sz="1700" b="0">
                <a:solidFill>
                  <a:srgbClr val="2A2D32"/>
                </a:solidFill>
              </a:rPr>
              <a:t>N = Mq qubits
for one configuration</a:t>
            </a:r>
          </a:p>
        </p:txBody>
      </p:sp>
      <p:sp>
        <p:nvSpPr>
          <p:cNvPr id="12" name="TextBox 11"/>
          <p:cNvSpPr txBox="1"/>
          <p:nvPr/>
        </p:nvSpPr>
        <p:spPr>
          <a:xfrm>
            <a:off x="685800" y="2514600"/>
            <a:ext cx="5303520" cy="457200"/>
          </a:xfrm>
          <a:prstGeom prst="rect">
            <a:avLst/>
          </a:prstGeom>
          <a:noFill/>
        </p:spPr>
        <p:txBody>
          <a:bodyPr wrap="square">
            <a:spAutoFit/>
          </a:bodyPr>
          <a:lstStyle/>
          <a:p>
            <a:pPr algn="l"/>
            <a:r>
              <a:rPr sz="1700" b="1">
                <a:solidFill>
                  <a:srgbClr val="1C2D46"/>
                </a:solidFill>
              </a:rPr>
              <a:t>Quantum representation</a:t>
            </a:r>
          </a:p>
        </p:txBody>
      </p:sp>
      <p:sp>
        <p:nvSpPr>
          <p:cNvPr id="13" name="TextBox 12"/>
          <p:cNvSpPr txBox="1"/>
          <p:nvPr/>
        </p:nvSpPr>
        <p:spPr>
          <a:xfrm>
            <a:off x="685800" y="2971800"/>
            <a:ext cx="5303520" cy="400110"/>
          </a:xfrm>
          <a:prstGeom prst="rect">
            <a:avLst/>
          </a:prstGeom>
          <a:noFill/>
        </p:spPr>
        <p:txBody>
          <a:bodyPr wrap="square">
            <a:spAutoFit/>
          </a:bodyPr>
          <a:lstStyle/>
          <a:p>
            <a:pPr algn="ctr"/>
            <a:r>
              <a:rPr sz="2000" b="1" dirty="0">
                <a:solidFill>
                  <a:srgbClr val="376296"/>
                </a:solidFill>
              </a:rPr>
              <a:t>(k₀,…,</a:t>
            </a:r>
            <a:r>
              <a:rPr sz="2000" b="1" dirty="0" err="1">
                <a:solidFill>
                  <a:srgbClr val="376296"/>
                </a:solidFill>
              </a:rPr>
              <a:t>k</a:t>
            </a:r>
            <a:r>
              <a:rPr sz="2000" b="1" baseline="-25000" dirty="0" err="1">
                <a:solidFill>
                  <a:srgbClr val="376296"/>
                </a:solidFill>
              </a:rPr>
              <a:t>M</a:t>
            </a:r>
            <a:r>
              <a:rPr sz="2000" b="1" dirty="0">
                <a:solidFill>
                  <a:srgbClr val="376296"/>
                </a:solidFill>
              </a:rPr>
              <a:t>₋₁)  →  |k₀⟩ ⊗ ··· ⊗ |</a:t>
            </a:r>
            <a:r>
              <a:rPr sz="2000" b="1" dirty="0" err="1">
                <a:solidFill>
                  <a:srgbClr val="376296"/>
                </a:solidFill>
              </a:rPr>
              <a:t>k</a:t>
            </a:r>
            <a:r>
              <a:rPr sz="2000" b="1" baseline="-25000" dirty="0" err="1">
                <a:solidFill>
                  <a:srgbClr val="376296"/>
                </a:solidFill>
              </a:rPr>
              <a:t>M</a:t>
            </a:r>
            <a:r>
              <a:rPr sz="2000" b="1" dirty="0">
                <a:solidFill>
                  <a:srgbClr val="376296"/>
                </a:solidFill>
              </a:rPr>
              <a:t>₋₁⟩</a:t>
            </a:r>
          </a:p>
        </p:txBody>
      </p:sp>
      <p:sp>
        <p:nvSpPr>
          <p:cNvPr id="14" name="Rounded Rectangle 13"/>
          <p:cNvSpPr/>
          <p:nvPr/>
        </p:nvSpPr>
        <p:spPr>
          <a:xfrm>
            <a:off x="685800" y="3886200"/>
            <a:ext cx="5303520" cy="114300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5528" y="3950208"/>
            <a:ext cx="5084064" cy="830997"/>
          </a:xfrm>
          <a:prstGeom prst="rect">
            <a:avLst/>
          </a:prstGeom>
          <a:noFill/>
        </p:spPr>
        <p:txBody>
          <a:bodyPr wrap="square">
            <a:spAutoFit/>
          </a:bodyPr>
          <a:lstStyle/>
          <a:p>
            <a:pPr algn="ctr"/>
            <a:r>
              <a:rPr sz="1600" b="0" dirty="0">
                <a:solidFill>
                  <a:srgbClr val="2A2D32"/>
                </a:solidFill>
              </a:rPr>
              <a:t>Example
M = 5 loads, T = 4 shifts
q = 2 → N = 10 qubits → 2¹⁰ = 1024 states</a:t>
            </a:r>
          </a:p>
        </p:txBody>
      </p:sp>
      <p:sp>
        <p:nvSpPr>
          <p:cNvPr id="16" name="TextBox 15"/>
          <p:cNvSpPr txBox="1"/>
          <p:nvPr/>
        </p:nvSpPr>
        <p:spPr>
          <a:xfrm>
            <a:off x="6400800" y="2514600"/>
            <a:ext cx="4846320" cy="457200"/>
          </a:xfrm>
          <a:prstGeom prst="rect">
            <a:avLst/>
          </a:prstGeom>
          <a:noFill/>
        </p:spPr>
        <p:txBody>
          <a:bodyPr wrap="square">
            <a:spAutoFit/>
          </a:bodyPr>
          <a:lstStyle/>
          <a:p>
            <a:pPr algn="l"/>
            <a:r>
              <a:rPr sz="1700" b="1">
                <a:solidFill>
                  <a:srgbClr val="1C2D46"/>
                </a:solidFill>
              </a:rPr>
              <a:t>Initial quantum state</a:t>
            </a:r>
          </a:p>
        </p:txBody>
      </p:sp>
      <p:sp>
        <p:nvSpPr>
          <p:cNvPr id="17" name="TextBox 16"/>
          <p:cNvSpPr txBox="1"/>
          <p:nvPr/>
        </p:nvSpPr>
        <p:spPr>
          <a:xfrm>
            <a:off x="6400800" y="2971800"/>
            <a:ext cx="4846320" cy="777240"/>
          </a:xfrm>
          <a:prstGeom prst="rect">
            <a:avLst/>
          </a:prstGeom>
          <a:noFill/>
        </p:spPr>
        <p:txBody>
          <a:bodyPr wrap="square">
            <a:spAutoFit/>
          </a:bodyPr>
          <a:lstStyle/>
          <a:p>
            <a:pPr algn="ctr"/>
            <a:r>
              <a:rPr sz="1500" b="0" dirty="0">
                <a:solidFill>
                  <a:srgbClr val="2A2D32"/>
                </a:solidFill>
              </a:rPr>
              <a:t>Prepare a uniform superposition</a:t>
            </a:r>
            <a:r>
              <a:rPr lang="it-IT" sz="1500" b="0" dirty="0">
                <a:solidFill>
                  <a:srgbClr val="2A2D32"/>
                </a:solidFill>
              </a:rPr>
              <a:t> (</a:t>
            </a:r>
            <a:r>
              <a:rPr lang="it-IT" sz="1500" b="0" dirty="0" err="1">
                <a:solidFill>
                  <a:srgbClr val="2A2D32"/>
                </a:solidFill>
              </a:rPr>
              <a:t>Hadamard</a:t>
            </a:r>
            <a:r>
              <a:rPr lang="it-IT" sz="1500" b="0" dirty="0">
                <a:solidFill>
                  <a:srgbClr val="2A2D32"/>
                </a:solidFill>
              </a:rPr>
              <a:t>)</a:t>
            </a:r>
            <a:r>
              <a:rPr sz="1500" b="0" dirty="0">
                <a:solidFill>
                  <a:srgbClr val="2A2D32"/>
                </a:solidFill>
              </a:rPr>
              <a:t>
so every configuration initially has
the same measurement probability.</a:t>
            </a:r>
          </a:p>
        </p:txBody>
      </p:sp>
      <p:sp>
        <p:nvSpPr>
          <p:cNvPr id="18" name="Rounded Rectangle 17"/>
          <p:cNvSpPr/>
          <p:nvPr/>
        </p:nvSpPr>
        <p:spPr>
          <a:xfrm>
            <a:off x="6629400" y="4069080"/>
            <a:ext cx="4389120" cy="9144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39128" y="4133088"/>
            <a:ext cx="4169663" cy="786384"/>
          </a:xfrm>
          <a:prstGeom prst="rect">
            <a:avLst/>
          </a:prstGeom>
          <a:noFill/>
        </p:spPr>
        <p:txBody>
          <a:bodyPr wrap="square">
            <a:spAutoFit/>
          </a:bodyPr>
          <a:lstStyle/>
          <a:p>
            <a:pPr algn="ctr"/>
            <a:r>
              <a:rPr sz="1900" b="0" dirty="0">
                <a:solidFill>
                  <a:srgbClr val="2A2D32"/>
                </a:solidFill>
              </a:rPr>
              <a:t>|s⟩ = 1/√(2ᴺ)  </a:t>
            </a:r>
            <a:r>
              <a:rPr sz="1900" b="0" dirty="0" err="1">
                <a:solidFill>
                  <a:srgbClr val="2A2D32"/>
                </a:solidFill>
              </a:rPr>
              <a:t>Σ</a:t>
            </a:r>
            <a:r>
              <a:rPr sz="1900" b="0" dirty="0">
                <a:solidFill>
                  <a:srgbClr val="2A2D32"/>
                </a:solidFill>
              </a:rPr>
              <a:t>ₖ |k⟩</a:t>
            </a:r>
          </a:p>
        </p:txBody>
      </p:sp>
      <p:sp>
        <p:nvSpPr>
          <p:cNvPr id="20" name="Rounded Rectangle 19"/>
          <p:cNvSpPr/>
          <p:nvPr/>
        </p:nvSpPr>
        <p:spPr>
          <a:xfrm>
            <a:off x="1920240" y="5669280"/>
            <a:ext cx="8412480" cy="59436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29968" y="5733288"/>
            <a:ext cx="8193023" cy="466344"/>
          </a:xfrm>
          <a:prstGeom prst="rect">
            <a:avLst/>
          </a:prstGeom>
          <a:noFill/>
        </p:spPr>
        <p:txBody>
          <a:bodyPr wrap="square">
            <a:spAutoFit/>
          </a:bodyPr>
          <a:lstStyle/>
          <a:p>
            <a:pPr algn="ctr"/>
            <a:r>
              <a:rPr sz="1700" b="0">
                <a:solidFill>
                  <a:srgbClr val="377D52"/>
                </a:solidFill>
              </a:rPr>
              <a:t>Goal: amplify low-cost configurations before measurement.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6"/>
            <a:ext cx="10083210" cy="492443"/>
          </a:xfrm>
          <a:prstGeom prst="rect">
            <a:avLst/>
          </a:prstGeom>
          <a:noFill/>
        </p:spPr>
        <p:txBody>
          <a:bodyPr wrap="none">
            <a:spAutoFit/>
          </a:bodyPr>
          <a:lstStyle/>
          <a:p>
            <a:r>
              <a:rPr lang="it-IT" sz="2600" b="1" dirty="0">
                <a:solidFill>
                  <a:srgbClr val="1C2D46"/>
                </a:solidFill>
              </a:rPr>
              <a:t>Oracle 1 -</a:t>
            </a:r>
            <a:r>
              <a:rPr sz="2600" b="1" dirty="0">
                <a:solidFill>
                  <a:srgbClr val="1C2D46"/>
                </a:solidFill>
              </a:rPr>
              <a:t> Threshold Oracle: Which Configurations Are Better?</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The oracle marks a configuration if its cost is below the current threshold τ.</a:t>
            </a:r>
          </a:p>
        </p:txBody>
      </p:sp>
      <p:sp>
        <p:nvSpPr>
          <p:cNvPr id="4" name="Rounded Rectangle 3"/>
          <p:cNvSpPr/>
          <p:nvPr/>
        </p:nvSpPr>
        <p:spPr>
          <a:xfrm>
            <a:off x="594360" y="1234440"/>
            <a:ext cx="237744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298448"/>
            <a:ext cx="2157984" cy="694944"/>
          </a:xfrm>
          <a:prstGeom prst="rect">
            <a:avLst/>
          </a:prstGeom>
          <a:noFill/>
        </p:spPr>
        <p:txBody>
          <a:bodyPr wrap="square">
            <a:spAutoFit/>
          </a:bodyPr>
          <a:lstStyle/>
          <a:p>
            <a:pPr algn="ctr"/>
            <a:r>
              <a:rPr sz="1700" b="0">
                <a:solidFill>
                  <a:srgbClr val="2A2D32"/>
                </a:solidFill>
              </a:rPr>
              <a:t>Configuration
|k⟩</a:t>
            </a:r>
          </a:p>
        </p:txBody>
      </p:sp>
      <p:cxnSp>
        <p:nvCxnSpPr>
          <p:cNvPr id="6" name="Connector 5"/>
          <p:cNvCxnSpPr/>
          <p:nvPr/>
        </p:nvCxnSpPr>
        <p:spPr>
          <a:xfrm>
            <a:off x="3017520" y="164592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74720" y="1234440"/>
            <a:ext cx="2377440" cy="82296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84448" y="1298448"/>
            <a:ext cx="2157984" cy="694944"/>
          </a:xfrm>
          <a:prstGeom prst="rect">
            <a:avLst/>
          </a:prstGeom>
          <a:noFill/>
        </p:spPr>
        <p:txBody>
          <a:bodyPr wrap="square">
            <a:spAutoFit/>
          </a:bodyPr>
          <a:lstStyle/>
          <a:p>
            <a:pPr algn="ctr"/>
            <a:r>
              <a:rPr sz="1700" b="0">
                <a:solidFill>
                  <a:srgbClr val="2A2D32"/>
                </a:solidFill>
              </a:rPr>
              <a:t>Compute
C(k)</a:t>
            </a:r>
          </a:p>
        </p:txBody>
      </p:sp>
      <p:cxnSp>
        <p:nvCxnSpPr>
          <p:cNvPr id="9" name="Connector 8"/>
          <p:cNvCxnSpPr/>
          <p:nvPr/>
        </p:nvCxnSpPr>
        <p:spPr>
          <a:xfrm>
            <a:off x="5897880" y="164592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55080" y="1234440"/>
            <a:ext cx="2377440" cy="82296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8" y="1298448"/>
            <a:ext cx="2157984" cy="694944"/>
          </a:xfrm>
          <a:prstGeom prst="rect">
            <a:avLst/>
          </a:prstGeom>
          <a:noFill/>
        </p:spPr>
        <p:txBody>
          <a:bodyPr wrap="square">
            <a:spAutoFit/>
          </a:bodyPr>
          <a:lstStyle/>
          <a:p>
            <a:pPr algn="ctr"/>
            <a:r>
              <a:rPr sz="1700" b="0" dirty="0">
                <a:solidFill>
                  <a:srgbClr val="2A2D32"/>
                </a:solidFill>
              </a:rPr>
              <a:t>Compare
C(k) &lt; </a:t>
            </a:r>
            <a:r>
              <a:rPr sz="1700" b="0" dirty="0" err="1">
                <a:solidFill>
                  <a:srgbClr val="2A2D32"/>
                </a:solidFill>
              </a:rPr>
              <a:t>τ</a:t>
            </a:r>
            <a:r>
              <a:rPr sz="1700" b="0" dirty="0">
                <a:solidFill>
                  <a:srgbClr val="2A2D32"/>
                </a:solidFill>
              </a:rPr>
              <a:t> ?</a:t>
            </a:r>
          </a:p>
        </p:txBody>
      </p:sp>
      <p:cxnSp>
        <p:nvCxnSpPr>
          <p:cNvPr id="12" name="Connector 11"/>
          <p:cNvCxnSpPr/>
          <p:nvPr/>
        </p:nvCxnSpPr>
        <p:spPr>
          <a:xfrm>
            <a:off x="8778240" y="1645920"/>
            <a:ext cx="41148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235440" y="1234440"/>
            <a:ext cx="2331720" cy="82296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45167" y="1298448"/>
            <a:ext cx="2112263" cy="694944"/>
          </a:xfrm>
          <a:prstGeom prst="rect">
            <a:avLst/>
          </a:prstGeom>
          <a:noFill/>
        </p:spPr>
        <p:txBody>
          <a:bodyPr wrap="square">
            <a:spAutoFit/>
          </a:bodyPr>
          <a:lstStyle/>
          <a:p>
            <a:pPr algn="ctr"/>
            <a:r>
              <a:rPr sz="1700" b="0">
                <a:solidFill>
                  <a:srgbClr val="2A2D32"/>
                </a:solidFill>
              </a:rPr>
              <a:t>Phase flip
if TRUE</a:t>
            </a:r>
          </a:p>
        </p:txBody>
      </p:sp>
      <p:sp>
        <p:nvSpPr>
          <p:cNvPr id="15" name="TextBox 14"/>
          <p:cNvSpPr txBox="1"/>
          <p:nvPr/>
        </p:nvSpPr>
        <p:spPr>
          <a:xfrm>
            <a:off x="731520" y="2468880"/>
            <a:ext cx="3931920" cy="320040"/>
          </a:xfrm>
          <a:prstGeom prst="rect">
            <a:avLst/>
          </a:prstGeom>
          <a:noFill/>
        </p:spPr>
        <p:txBody>
          <a:bodyPr wrap="square">
            <a:spAutoFit/>
          </a:bodyPr>
          <a:lstStyle/>
          <a:p>
            <a:pPr algn="l"/>
            <a:r>
              <a:rPr sz="1700" b="1">
                <a:solidFill>
                  <a:srgbClr val="1C2D46"/>
                </a:solidFill>
              </a:rPr>
              <a:t>Registers used by the oracle</a:t>
            </a:r>
          </a:p>
        </p:txBody>
      </p:sp>
      <p:sp>
        <p:nvSpPr>
          <p:cNvPr id="16" name="Rounded Rectangle 15"/>
          <p:cNvSpPr/>
          <p:nvPr/>
        </p:nvSpPr>
        <p:spPr>
          <a:xfrm>
            <a:off x="777240" y="2926080"/>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2990088"/>
            <a:ext cx="832103" cy="374904"/>
          </a:xfrm>
          <a:prstGeom prst="rect">
            <a:avLst/>
          </a:prstGeom>
          <a:noFill/>
        </p:spPr>
        <p:txBody>
          <a:bodyPr wrap="square">
            <a:spAutoFit/>
          </a:bodyPr>
          <a:lstStyle/>
          <a:p>
            <a:pPr algn="ctr"/>
            <a:r>
              <a:rPr sz="1500" b="0">
                <a:solidFill>
                  <a:srgbClr val="2A2D32"/>
                </a:solidFill>
              </a:rPr>
              <a:t>|k⟩</a:t>
            </a:r>
          </a:p>
        </p:txBody>
      </p:sp>
      <p:sp>
        <p:nvSpPr>
          <p:cNvPr id="18" name="TextBox 17"/>
          <p:cNvSpPr txBox="1"/>
          <p:nvPr/>
        </p:nvSpPr>
        <p:spPr>
          <a:xfrm>
            <a:off x="1965960" y="2999232"/>
            <a:ext cx="2971800" cy="284693"/>
          </a:xfrm>
          <a:prstGeom prst="rect">
            <a:avLst/>
          </a:prstGeom>
          <a:noFill/>
        </p:spPr>
        <p:txBody>
          <a:bodyPr wrap="square">
            <a:spAutoFit/>
          </a:bodyPr>
          <a:lstStyle/>
          <a:p>
            <a:pPr algn="l"/>
            <a:r>
              <a:rPr sz="1250" b="0" dirty="0">
                <a:solidFill>
                  <a:srgbClr val="2A2D32"/>
                </a:solidFill>
              </a:rPr>
              <a:t>shift configuration</a:t>
            </a:r>
            <a:r>
              <a:rPr lang="it-IT" sz="1250" b="0" dirty="0">
                <a:solidFill>
                  <a:srgbClr val="2A2D32"/>
                </a:solidFill>
              </a:rPr>
              <a:t> (Mq size)</a:t>
            </a:r>
            <a:endParaRPr sz="1250" b="0" dirty="0">
              <a:solidFill>
                <a:srgbClr val="2A2D32"/>
              </a:solidFill>
            </a:endParaRPr>
          </a:p>
        </p:txBody>
      </p:sp>
      <p:sp>
        <p:nvSpPr>
          <p:cNvPr id="19" name="Rounded Rectangle 18"/>
          <p:cNvSpPr/>
          <p:nvPr/>
        </p:nvSpPr>
        <p:spPr>
          <a:xfrm>
            <a:off x="777240" y="3547872"/>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3611880"/>
            <a:ext cx="832103" cy="323165"/>
          </a:xfrm>
          <a:prstGeom prst="rect">
            <a:avLst/>
          </a:prstGeom>
          <a:noFill/>
        </p:spPr>
        <p:txBody>
          <a:bodyPr wrap="square">
            <a:spAutoFit/>
          </a:bodyPr>
          <a:lstStyle/>
          <a:p>
            <a:pPr algn="ctr"/>
            <a:r>
              <a:rPr sz="1500" b="0" dirty="0">
                <a:solidFill>
                  <a:srgbClr val="2A2D32"/>
                </a:solidFill>
              </a:rPr>
              <a:t>|</a:t>
            </a:r>
            <a:r>
              <a:rPr lang="it-IT" sz="1500" b="0" dirty="0">
                <a:solidFill>
                  <a:srgbClr val="2A2D32"/>
                </a:solidFill>
              </a:rPr>
              <a:t>0</a:t>
            </a:r>
            <a:r>
              <a:rPr lang="en-IT" sz="1500" dirty="0">
                <a:solidFill>
                  <a:srgbClr val="2A2D32"/>
                </a:solidFill>
              </a:rPr>
              <a:t>⟩</a:t>
            </a:r>
            <a:r>
              <a:rPr sz="1500" b="0" baseline="-25000" dirty="0">
                <a:solidFill>
                  <a:srgbClr val="2A2D32"/>
                </a:solidFill>
              </a:rPr>
              <a:t>v</a:t>
            </a:r>
            <a:endParaRPr sz="1500" b="0" dirty="0">
              <a:solidFill>
                <a:srgbClr val="2A2D32"/>
              </a:solidFill>
            </a:endParaRPr>
          </a:p>
        </p:txBody>
      </p:sp>
      <p:sp>
        <p:nvSpPr>
          <p:cNvPr id="21" name="TextBox 20"/>
          <p:cNvSpPr txBox="1"/>
          <p:nvPr/>
        </p:nvSpPr>
        <p:spPr>
          <a:xfrm>
            <a:off x="1965960" y="3621024"/>
            <a:ext cx="2971800" cy="669414"/>
          </a:xfrm>
          <a:prstGeom prst="rect">
            <a:avLst/>
          </a:prstGeom>
          <a:noFill/>
        </p:spPr>
        <p:txBody>
          <a:bodyPr wrap="square">
            <a:spAutoFit/>
          </a:bodyPr>
          <a:lstStyle/>
          <a:p>
            <a:pPr algn="l"/>
            <a:r>
              <a:rPr sz="1250" b="0" dirty="0">
                <a:solidFill>
                  <a:srgbClr val="2A2D32"/>
                </a:solidFill>
              </a:rPr>
              <a:t>work register for net consumption vₖ(t)</a:t>
            </a:r>
            <a:r>
              <a:rPr lang="it-IT" sz="1250" b="0" dirty="0">
                <a:solidFill>
                  <a:srgbClr val="2A2D32"/>
                </a:solidFill>
              </a:rPr>
              <a:t> (</a:t>
            </a:r>
            <a:r>
              <a:rPr lang="it-IT" sz="1250" b="0" dirty="0" err="1">
                <a:solidFill>
                  <a:srgbClr val="2A2D32"/>
                </a:solidFill>
              </a:rPr>
              <a:t>enough</a:t>
            </a:r>
            <a:r>
              <a:rPr lang="it-IT" sz="1250" b="0" dirty="0">
                <a:solidFill>
                  <a:srgbClr val="2A2D32"/>
                </a:solidFill>
              </a:rPr>
              <a:t> </a:t>
            </a:r>
            <a:r>
              <a:rPr lang="it-IT" sz="1250" b="0" dirty="0" err="1">
                <a:solidFill>
                  <a:srgbClr val="2A2D32"/>
                </a:solidFill>
              </a:rPr>
              <a:t>qbits</a:t>
            </a:r>
            <a:r>
              <a:rPr lang="it-IT" sz="1250" b="0" dirty="0">
                <a:solidFill>
                  <a:srgbClr val="2A2D32"/>
                </a:solidFill>
              </a:rPr>
              <a:t> to </a:t>
            </a:r>
            <a:r>
              <a:rPr lang="it-IT" sz="1250" b="0" dirty="0" err="1">
                <a:solidFill>
                  <a:srgbClr val="2A2D32"/>
                </a:solidFill>
              </a:rPr>
              <a:t>contain</a:t>
            </a:r>
            <a:r>
              <a:rPr lang="it-IT" sz="1250" b="0" dirty="0">
                <a:solidFill>
                  <a:srgbClr val="2A2D32"/>
                </a:solidFill>
              </a:rPr>
              <a:t> the maximum </a:t>
            </a:r>
            <a:r>
              <a:rPr lang="it-IT" sz="1250" b="0" dirty="0" err="1">
                <a:solidFill>
                  <a:srgbClr val="2A2D32"/>
                </a:solidFill>
              </a:rPr>
              <a:t>consumption</a:t>
            </a:r>
            <a:r>
              <a:rPr lang="it-IT" sz="1250" b="0" dirty="0">
                <a:solidFill>
                  <a:srgbClr val="2A2D32"/>
                </a:solidFill>
              </a:rPr>
              <a:t>, </a:t>
            </a:r>
            <a:r>
              <a:rPr lang="it-IT" sz="1250" dirty="0">
                <a:solidFill>
                  <a:srgbClr val="2A2D32"/>
                </a:solidFill>
              </a:rPr>
              <a:t>plus one for</a:t>
            </a:r>
            <a:r>
              <a:rPr lang="it-IT" sz="1250" b="0" dirty="0">
                <a:solidFill>
                  <a:srgbClr val="2A2D32"/>
                </a:solidFill>
              </a:rPr>
              <a:t> negative </a:t>
            </a:r>
            <a:r>
              <a:rPr lang="it-IT" sz="1250" b="0" dirty="0" err="1">
                <a:solidFill>
                  <a:srgbClr val="2A2D32"/>
                </a:solidFill>
              </a:rPr>
              <a:t>values</a:t>
            </a:r>
            <a:r>
              <a:rPr lang="it-IT" sz="1250" b="0" dirty="0">
                <a:solidFill>
                  <a:srgbClr val="2A2D32"/>
                </a:solidFill>
              </a:rPr>
              <a:t>)</a:t>
            </a:r>
            <a:endParaRPr sz="1250" b="0" dirty="0">
              <a:solidFill>
                <a:srgbClr val="2A2D32"/>
              </a:solidFill>
            </a:endParaRPr>
          </a:p>
        </p:txBody>
      </p:sp>
      <p:sp>
        <p:nvSpPr>
          <p:cNvPr id="22" name="Rounded Rectangle 21"/>
          <p:cNvSpPr/>
          <p:nvPr/>
        </p:nvSpPr>
        <p:spPr>
          <a:xfrm>
            <a:off x="777240" y="4169664"/>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4233672"/>
            <a:ext cx="832103" cy="323165"/>
          </a:xfrm>
          <a:prstGeom prst="rect">
            <a:avLst/>
          </a:prstGeom>
          <a:noFill/>
        </p:spPr>
        <p:txBody>
          <a:bodyPr wrap="square">
            <a:spAutoFit/>
          </a:bodyPr>
          <a:lstStyle/>
          <a:p>
            <a:pPr algn="ctr"/>
            <a:r>
              <a:rPr sz="1500" b="0" dirty="0">
                <a:solidFill>
                  <a:srgbClr val="2A2D32"/>
                </a:solidFill>
              </a:rPr>
              <a:t>|</a:t>
            </a:r>
            <a:r>
              <a:rPr lang="it-IT" sz="1500" b="0" dirty="0">
                <a:solidFill>
                  <a:srgbClr val="2A2D32"/>
                </a:solidFill>
              </a:rPr>
              <a:t>0</a:t>
            </a:r>
            <a:r>
              <a:rPr sz="1500" b="0" dirty="0">
                <a:solidFill>
                  <a:srgbClr val="2A2D32"/>
                </a:solidFill>
              </a:rPr>
              <a:t>⟩</a:t>
            </a:r>
            <a:r>
              <a:rPr lang="it-IT" sz="1500" b="0" baseline="-25000" dirty="0">
                <a:solidFill>
                  <a:srgbClr val="2A2D32"/>
                </a:solidFill>
              </a:rPr>
              <a:t>C</a:t>
            </a:r>
            <a:endParaRPr sz="1500" b="0" baseline="-25000" dirty="0">
              <a:solidFill>
                <a:srgbClr val="2A2D32"/>
              </a:solidFill>
            </a:endParaRPr>
          </a:p>
        </p:txBody>
      </p:sp>
      <p:sp>
        <p:nvSpPr>
          <p:cNvPr id="24" name="TextBox 23"/>
          <p:cNvSpPr txBox="1"/>
          <p:nvPr/>
        </p:nvSpPr>
        <p:spPr>
          <a:xfrm>
            <a:off x="1965960" y="4242816"/>
            <a:ext cx="2971800" cy="669414"/>
          </a:xfrm>
          <a:prstGeom prst="rect">
            <a:avLst/>
          </a:prstGeom>
          <a:noFill/>
        </p:spPr>
        <p:txBody>
          <a:bodyPr wrap="square">
            <a:spAutoFit/>
          </a:bodyPr>
          <a:lstStyle/>
          <a:p>
            <a:pPr algn="l"/>
            <a:r>
              <a:rPr sz="1250" b="0" dirty="0">
                <a:solidFill>
                  <a:srgbClr val="2A2D32"/>
                </a:solidFill>
              </a:rPr>
              <a:t>accumulated cost C(k)</a:t>
            </a:r>
            <a:r>
              <a:rPr lang="it-IT" sz="1250" b="0" dirty="0">
                <a:solidFill>
                  <a:srgbClr val="2A2D32"/>
                </a:solidFill>
              </a:rPr>
              <a:t> (</a:t>
            </a:r>
            <a:r>
              <a:rPr lang="it-IT" sz="1250" b="0" dirty="0" err="1">
                <a:solidFill>
                  <a:srgbClr val="2A2D32"/>
                </a:solidFill>
              </a:rPr>
              <a:t>enough</a:t>
            </a:r>
            <a:r>
              <a:rPr lang="it-IT" sz="1250" b="0" dirty="0">
                <a:solidFill>
                  <a:srgbClr val="2A2D32"/>
                </a:solidFill>
              </a:rPr>
              <a:t> </a:t>
            </a:r>
            <a:r>
              <a:rPr lang="it-IT" sz="1250" b="0" dirty="0" err="1">
                <a:solidFill>
                  <a:srgbClr val="2A2D32"/>
                </a:solidFill>
              </a:rPr>
              <a:t>qbits</a:t>
            </a:r>
            <a:r>
              <a:rPr lang="it-IT" sz="1250" b="0" dirty="0">
                <a:solidFill>
                  <a:srgbClr val="2A2D32"/>
                </a:solidFill>
              </a:rPr>
              <a:t> to </a:t>
            </a:r>
            <a:r>
              <a:rPr lang="it-IT" sz="1250" b="0" dirty="0" err="1">
                <a:solidFill>
                  <a:srgbClr val="2A2D32"/>
                </a:solidFill>
              </a:rPr>
              <a:t>contain</a:t>
            </a:r>
            <a:r>
              <a:rPr lang="it-IT" sz="1250" b="0" dirty="0">
                <a:solidFill>
                  <a:srgbClr val="2A2D32"/>
                </a:solidFill>
              </a:rPr>
              <a:t> the maximum cost, plus one for negative </a:t>
            </a:r>
            <a:r>
              <a:rPr lang="it-IT" sz="1250" b="0" dirty="0" err="1">
                <a:solidFill>
                  <a:srgbClr val="2A2D32"/>
                </a:solidFill>
              </a:rPr>
              <a:t>values</a:t>
            </a:r>
            <a:r>
              <a:rPr lang="it-IT" sz="1250" b="0" dirty="0">
                <a:solidFill>
                  <a:srgbClr val="2A2D32"/>
                </a:solidFill>
              </a:rPr>
              <a:t>)</a:t>
            </a:r>
            <a:endParaRPr sz="1250" b="0" dirty="0">
              <a:solidFill>
                <a:srgbClr val="2A2D32"/>
              </a:solidFill>
            </a:endParaRPr>
          </a:p>
        </p:txBody>
      </p:sp>
      <p:sp>
        <p:nvSpPr>
          <p:cNvPr id="25" name="Rounded Rectangle 24"/>
          <p:cNvSpPr/>
          <p:nvPr/>
        </p:nvSpPr>
        <p:spPr>
          <a:xfrm>
            <a:off x="777240" y="4791456"/>
            <a:ext cx="1051560" cy="50292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86968" y="4855464"/>
            <a:ext cx="832103" cy="323165"/>
          </a:xfrm>
          <a:prstGeom prst="rect">
            <a:avLst/>
          </a:prstGeom>
          <a:noFill/>
        </p:spPr>
        <p:txBody>
          <a:bodyPr wrap="square">
            <a:spAutoFit/>
          </a:bodyPr>
          <a:lstStyle/>
          <a:p>
            <a:pPr algn="ctr"/>
            <a:r>
              <a:rPr sz="1500" b="0" dirty="0">
                <a:solidFill>
                  <a:srgbClr val="2A2D32"/>
                </a:solidFill>
              </a:rPr>
              <a:t>|</a:t>
            </a:r>
            <a:r>
              <a:rPr lang="it-IT" sz="1500" b="0" dirty="0">
                <a:solidFill>
                  <a:srgbClr val="2A2D32"/>
                </a:solidFill>
              </a:rPr>
              <a:t>0</a:t>
            </a:r>
            <a:r>
              <a:rPr sz="1500" b="0" dirty="0">
                <a:solidFill>
                  <a:srgbClr val="2A2D32"/>
                </a:solidFill>
              </a:rPr>
              <a:t>⟩</a:t>
            </a:r>
            <a:r>
              <a:rPr lang="it-IT" sz="1500" b="0" baseline="-25000" dirty="0" err="1">
                <a:solidFill>
                  <a:srgbClr val="2A2D32"/>
                </a:solidFill>
              </a:rPr>
              <a:t>F</a:t>
            </a:r>
            <a:endParaRPr sz="1500" b="0" baseline="-25000" dirty="0">
              <a:solidFill>
                <a:srgbClr val="2A2D32"/>
              </a:solidFill>
            </a:endParaRPr>
          </a:p>
        </p:txBody>
      </p:sp>
      <p:sp>
        <p:nvSpPr>
          <p:cNvPr id="27" name="TextBox 26"/>
          <p:cNvSpPr txBox="1"/>
          <p:nvPr/>
        </p:nvSpPr>
        <p:spPr>
          <a:xfrm>
            <a:off x="1965960" y="4864608"/>
            <a:ext cx="2971800" cy="284693"/>
          </a:xfrm>
          <a:prstGeom prst="rect">
            <a:avLst/>
          </a:prstGeom>
          <a:noFill/>
        </p:spPr>
        <p:txBody>
          <a:bodyPr wrap="square">
            <a:spAutoFit/>
          </a:bodyPr>
          <a:lstStyle/>
          <a:p>
            <a:pPr algn="l"/>
            <a:r>
              <a:rPr sz="1250" b="0" dirty="0">
                <a:solidFill>
                  <a:srgbClr val="2A2D32"/>
                </a:solidFill>
              </a:rPr>
              <a:t>1-qubit comparison flag</a:t>
            </a:r>
            <a:r>
              <a:rPr lang="it-IT" sz="1250" b="0" dirty="0">
                <a:solidFill>
                  <a:srgbClr val="2A2D32"/>
                </a:solidFill>
              </a:rPr>
              <a:t> (1 bit)</a:t>
            </a:r>
            <a:endParaRPr sz="1250" b="0" dirty="0">
              <a:solidFill>
                <a:srgbClr val="2A2D32"/>
              </a:solidFill>
            </a:endParaRPr>
          </a:p>
        </p:txBody>
      </p:sp>
      <p:sp>
        <p:nvSpPr>
          <p:cNvPr id="28" name="TextBox 27"/>
          <p:cNvSpPr txBox="1"/>
          <p:nvPr/>
        </p:nvSpPr>
        <p:spPr>
          <a:xfrm>
            <a:off x="5486400" y="2468880"/>
            <a:ext cx="5486400" cy="320040"/>
          </a:xfrm>
          <a:prstGeom prst="rect">
            <a:avLst/>
          </a:prstGeom>
          <a:noFill/>
        </p:spPr>
        <p:txBody>
          <a:bodyPr wrap="square">
            <a:spAutoFit/>
          </a:bodyPr>
          <a:lstStyle/>
          <a:p>
            <a:pPr algn="l"/>
            <a:r>
              <a:rPr sz="1700" b="1">
                <a:solidFill>
                  <a:srgbClr val="1C2D46"/>
                </a:solidFill>
              </a:rPr>
              <a:t>Reversible oracle structure</a:t>
            </a:r>
          </a:p>
        </p:txBody>
      </p:sp>
      <p:sp>
        <p:nvSpPr>
          <p:cNvPr id="29" name="Rounded Rectangle 28"/>
          <p:cNvSpPr/>
          <p:nvPr/>
        </p:nvSpPr>
        <p:spPr>
          <a:xfrm>
            <a:off x="5486400" y="2926080"/>
            <a:ext cx="5486400" cy="68580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96128" y="2990088"/>
            <a:ext cx="5266944" cy="307777"/>
          </a:xfrm>
          <a:prstGeom prst="rect">
            <a:avLst/>
          </a:prstGeom>
          <a:noFill/>
        </p:spPr>
        <p:txBody>
          <a:bodyPr wrap="square">
            <a:spAutoFit/>
          </a:bodyPr>
          <a:lstStyle/>
          <a:p>
            <a:pPr algn="ctr"/>
            <a:r>
              <a:rPr sz="1400" b="0" dirty="0">
                <a:solidFill>
                  <a:srgbClr val="2A2D32"/>
                </a:solidFill>
              </a:rPr>
              <a:t>|k⟩|0⟩ᵥ|0⟩</a:t>
            </a:r>
            <a:r>
              <a:rPr sz="1400" b="0" baseline="-25000" dirty="0">
                <a:solidFill>
                  <a:srgbClr val="2A2D32"/>
                </a:solidFill>
              </a:rPr>
              <a:t>C</a:t>
            </a:r>
            <a:r>
              <a:rPr sz="1400" b="0" dirty="0">
                <a:solidFill>
                  <a:srgbClr val="2A2D32"/>
                </a:solidFill>
              </a:rPr>
              <a:t>|0⟩</a:t>
            </a:r>
            <a:r>
              <a:rPr sz="1400" b="0" baseline="-25000" dirty="0">
                <a:solidFill>
                  <a:srgbClr val="2A2D32"/>
                </a:solidFill>
              </a:rPr>
              <a:t>F</a:t>
            </a:r>
            <a:r>
              <a:rPr sz="1400" b="0" dirty="0">
                <a:solidFill>
                  <a:srgbClr val="2A2D32"/>
                </a:solidFill>
              </a:rPr>
              <a:t>  →  |k⟩|0⟩ᵥ|C(k)⟩</a:t>
            </a:r>
            <a:r>
              <a:rPr sz="1400" b="0" baseline="-25000" dirty="0">
                <a:solidFill>
                  <a:srgbClr val="2A2D32"/>
                </a:solidFill>
              </a:rPr>
              <a:t>C</a:t>
            </a:r>
            <a:r>
              <a:rPr sz="1400" b="0" dirty="0">
                <a:solidFill>
                  <a:srgbClr val="2A2D32"/>
                </a:solidFill>
              </a:rPr>
              <a:t>|[C(k)&lt;</a:t>
            </a:r>
            <a:r>
              <a:rPr sz="1400" b="0" dirty="0" err="1">
                <a:solidFill>
                  <a:srgbClr val="2A2D32"/>
                </a:solidFill>
              </a:rPr>
              <a:t>τ</a:t>
            </a:r>
            <a:r>
              <a:rPr sz="1400" b="0" dirty="0">
                <a:solidFill>
                  <a:srgbClr val="2A2D32"/>
                </a:solidFill>
              </a:rPr>
              <a:t>]⟩</a:t>
            </a:r>
            <a:r>
              <a:rPr sz="1400" b="0" baseline="-25000" dirty="0">
                <a:solidFill>
                  <a:srgbClr val="2A2D32"/>
                </a:solidFill>
              </a:rPr>
              <a:t>F</a:t>
            </a:r>
          </a:p>
        </p:txBody>
      </p:sp>
      <p:sp>
        <p:nvSpPr>
          <p:cNvPr id="31" name="Rounded Rectangle 30"/>
          <p:cNvSpPr/>
          <p:nvPr/>
        </p:nvSpPr>
        <p:spPr>
          <a:xfrm>
            <a:off x="5486400" y="3840480"/>
            <a:ext cx="5486400" cy="6858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596128" y="3904488"/>
            <a:ext cx="5266944" cy="557784"/>
          </a:xfrm>
          <a:prstGeom prst="rect">
            <a:avLst/>
          </a:prstGeom>
          <a:noFill/>
        </p:spPr>
        <p:txBody>
          <a:bodyPr wrap="square">
            <a:spAutoFit/>
          </a:bodyPr>
          <a:lstStyle/>
          <a:p>
            <a:pPr algn="ctr"/>
            <a:r>
              <a:rPr sz="1500" b="0">
                <a:solidFill>
                  <a:srgbClr val="2A2D32"/>
                </a:solidFill>
              </a:rPr>
              <a:t>Apply Z to flag  →  multiply marked state by  −1</a:t>
            </a:r>
          </a:p>
        </p:txBody>
      </p:sp>
      <p:sp>
        <p:nvSpPr>
          <p:cNvPr id="33" name="Rounded Rectangle 32"/>
          <p:cNvSpPr/>
          <p:nvPr/>
        </p:nvSpPr>
        <p:spPr>
          <a:xfrm>
            <a:off x="5486400" y="4754880"/>
            <a:ext cx="5486400" cy="6858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96128" y="4818888"/>
            <a:ext cx="5266944" cy="557784"/>
          </a:xfrm>
          <a:prstGeom prst="rect">
            <a:avLst/>
          </a:prstGeom>
          <a:noFill/>
        </p:spPr>
        <p:txBody>
          <a:bodyPr wrap="square">
            <a:spAutoFit/>
          </a:bodyPr>
          <a:lstStyle/>
          <a:p>
            <a:pPr algn="ctr"/>
            <a:r>
              <a:rPr sz="1400" b="0">
                <a:solidFill>
                  <a:srgbClr val="2A2D32"/>
                </a:solidFill>
              </a:rPr>
              <a:t>Uncompute comparison + cost → auxiliary registers return to |0⟩</a:t>
            </a:r>
          </a:p>
        </p:txBody>
      </p:sp>
      <p:sp>
        <p:nvSpPr>
          <p:cNvPr id="35" name="TextBox 34"/>
          <p:cNvSpPr txBox="1"/>
          <p:nvPr/>
        </p:nvSpPr>
        <p:spPr>
          <a:xfrm>
            <a:off x="5669280" y="5669280"/>
            <a:ext cx="5120640" cy="353943"/>
          </a:xfrm>
          <a:prstGeom prst="rect">
            <a:avLst/>
          </a:prstGeom>
          <a:noFill/>
        </p:spPr>
        <p:txBody>
          <a:bodyPr wrap="square">
            <a:spAutoFit/>
          </a:bodyPr>
          <a:lstStyle/>
          <a:p>
            <a:pPr algn="ctr"/>
            <a:r>
              <a:rPr sz="1700" b="1" dirty="0">
                <a:solidFill>
                  <a:srgbClr val="1C2D46"/>
                </a:solidFill>
              </a:rPr>
              <a:t>Final effect:  |k⟩ → (−1)</a:t>
            </a:r>
            <a:r>
              <a:rPr sz="1700" b="1" baseline="30000" dirty="0">
                <a:solidFill>
                  <a:srgbClr val="1C2D46"/>
                </a:solidFill>
              </a:rPr>
              <a:t>[C(k)&lt;</a:t>
            </a:r>
            <a:r>
              <a:rPr sz="1700" b="1" baseline="30000" dirty="0" err="1">
                <a:solidFill>
                  <a:srgbClr val="1C2D46"/>
                </a:solidFill>
              </a:rPr>
              <a:t>τ</a:t>
            </a:r>
            <a:r>
              <a:rPr sz="1700" b="1" baseline="30000" dirty="0">
                <a:solidFill>
                  <a:srgbClr val="1C2D46"/>
                </a:solidFill>
              </a:rPr>
              <a:t>]</a:t>
            </a:r>
            <a:r>
              <a:rPr sz="1700" b="1" dirty="0">
                <a:solidFill>
                  <a:srgbClr val="1C2D46"/>
                </a:solidFill>
              </a:rPr>
              <a:t> |k⟩</a:t>
            </a:r>
          </a:p>
        </p:txBody>
      </p:sp>
      <p:sp>
        <p:nvSpPr>
          <p:cNvPr id="37" name="TextBox 36">
            <a:extLst>
              <a:ext uri="{FF2B5EF4-FFF2-40B4-BE49-F238E27FC236}">
                <a16:creationId xmlns:a16="http://schemas.microsoft.com/office/drawing/2014/main" id="{E9167DDD-1EF2-8153-302B-6B8782026101}"/>
              </a:ext>
            </a:extLst>
          </p:cNvPr>
          <p:cNvSpPr txBox="1"/>
          <p:nvPr/>
        </p:nvSpPr>
        <p:spPr>
          <a:xfrm>
            <a:off x="4874560" y="5956185"/>
            <a:ext cx="6098240" cy="646331"/>
          </a:xfrm>
          <a:prstGeom prst="rect">
            <a:avLst/>
          </a:prstGeom>
          <a:noFill/>
        </p:spPr>
        <p:txBody>
          <a:bodyPr wrap="square">
            <a:spAutoFit/>
          </a:bodyPr>
          <a:lstStyle/>
          <a:p>
            <a:r>
              <a:rPr lang="en-IT" dirty="0"/>
              <a:t>The oracle changes the </a:t>
            </a:r>
            <a:r>
              <a:rPr lang="en-IT" b="1" dirty="0"/>
              <a:t>phase</a:t>
            </a:r>
            <a:r>
              <a:rPr lang="en-IT" dirty="0"/>
              <a:t> of configuration ∣k⟩ depending on whether its cost is better than the current threshold 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3446"/>
            <a:ext cx="8856655" cy="492443"/>
          </a:xfrm>
          <a:prstGeom prst="rect">
            <a:avLst/>
          </a:prstGeom>
          <a:noFill/>
        </p:spPr>
        <p:txBody>
          <a:bodyPr wrap="none">
            <a:spAutoFit/>
          </a:bodyPr>
          <a:lstStyle/>
          <a:p>
            <a:r>
              <a:rPr lang="it-IT" sz="2600" b="1" dirty="0">
                <a:solidFill>
                  <a:srgbClr val="1C2D46"/>
                </a:solidFill>
              </a:rPr>
              <a:t>Oracle 2 -</a:t>
            </a:r>
            <a:r>
              <a:rPr sz="2600" b="1" dirty="0">
                <a:solidFill>
                  <a:srgbClr val="1C2D46"/>
                </a:solidFill>
              </a:rPr>
              <a:t> How the Oracle Computes the Energy Cost</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The cost is accumulated sequentially over the T time slots using reversible arithmetic.</a:t>
            </a:r>
          </a:p>
        </p:txBody>
      </p:sp>
      <p:sp>
        <p:nvSpPr>
          <p:cNvPr id="4" name="Rounded Rectangle 3"/>
          <p:cNvSpPr/>
          <p:nvPr/>
        </p:nvSpPr>
        <p:spPr>
          <a:xfrm>
            <a:off x="594360" y="1234440"/>
            <a:ext cx="521208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298448"/>
            <a:ext cx="4992624" cy="694944"/>
          </a:xfrm>
          <a:prstGeom prst="rect">
            <a:avLst/>
          </a:prstGeom>
          <a:noFill/>
        </p:spPr>
        <p:txBody>
          <a:bodyPr wrap="square">
            <a:spAutoFit/>
          </a:bodyPr>
          <a:lstStyle/>
          <a:p>
            <a:pPr algn="ctr"/>
            <a:r>
              <a:rPr sz="1600" b="0">
                <a:solidFill>
                  <a:srgbClr val="2A2D32"/>
                </a:solidFill>
              </a:rPr>
              <a:t>For each time t, compute net consumption</a:t>
            </a:r>
          </a:p>
        </p:txBody>
      </p:sp>
      <p:sp>
        <p:nvSpPr>
          <p:cNvPr id="6" name="TextBox 5"/>
          <p:cNvSpPr txBox="1"/>
          <p:nvPr/>
        </p:nvSpPr>
        <p:spPr>
          <a:xfrm>
            <a:off x="731520" y="2148840"/>
            <a:ext cx="4937760" cy="640080"/>
          </a:xfrm>
          <a:prstGeom prst="rect">
            <a:avLst/>
          </a:prstGeom>
          <a:noFill/>
        </p:spPr>
        <p:txBody>
          <a:bodyPr wrap="square">
            <a:spAutoFit/>
          </a:bodyPr>
          <a:lstStyle/>
          <a:p>
            <a:pPr algn="ctr"/>
            <a:r>
              <a:rPr sz="1900" b="1" dirty="0">
                <a:solidFill>
                  <a:srgbClr val="1C2D46"/>
                </a:solidFill>
              </a:rPr>
              <a:t>vₖ(t) = f(t) + </a:t>
            </a:r>
            <a:r>
              <a:rPr sz="1900" b="1" dirty="0" err="1">
                <a:solidFill>
                  <a:srgbClr val="1C2D46"/>
                </a:solidFill>
              </a:rPr>
              <a:t>Σ</a:t>
            </a:r>
            <a:r>
              <a:rPr sz="1900" b="1" dirty="0">
                <a:solidFill>
                  <a:srgbClr val="1C2D46"/>
                </a:solidFill>
              </a:rPr>
              <a:t>ᵢ rₖᵢ(sᵢ)(t) − p(t)</a:t>
            </a:r>
          </a:p>
        </p:txBody>
      </p:sp>
      <p:sp>
        <p:nvSpPr>
          <p:cNvPr id="7" name="Rounded Rectangle 6"/>
          <p:cNvSpPr/>
          <p:nvPr/>
        </p:nvSpPr>
        <p:spPr>
          <a:xfrm>
            <a:off x="594360" y="2971800"/>
            <a:ext cx="5212080" cy="105156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3035808"/>
            <a:ext cx="4992624" cy="923543"/>
          </a:xfrm>
          <a:prstGeom prst="rect">
            <a:avLst/>
          </a:prstGeom>
          <a:noFill/>
        </p:spPr>
        <p:txBody>
          <a:bodyPr wrap="square">
            <a:spAutoFit/>
          </a:bodyPr>
          <a:lstStyle/>
          <a:p>
            <a:pPr algn="ctr"/>
            <a:r>
              <a:rPr sz="1500" b="0">
                <a:solidFill>
                  <a:srgbClr val="2A2D32"/>
                </a:solidFill>
              </a:rPr>
              <a:t>Choose tariff from the sign of vₖ(t)
vₖ(t) ≥ 0 → pᵇᵘʸ(t)     |     vₖ(t) &lt; 0 → pˢᵉˡˡ(t)</a:t>
            </a:r>
          </a:p>
        </p:txBody>
      </p:sp>
      <p:sp>
        <p:nvSpPr>
          <p:cNvPr id="9" name="Rounded Rectangle 8"/>
          <p:cNvSpPr/>
          <p:nvPr/>
        </p:nvSpPr>
        <p:spPr>
          <a:xfrm>
            <a:off x="594360" y="4343400"/>
            <a:ext cx="5212080" cy="9144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4407408"/>
            <a:ext cx="4992624" cy="786384"/>
          </a:xfrm>
          <a:prstGeom prst="rect">
            <a:avLst/>
          </a:prstGeom>
          <a:noFill/>
        </p:spPr>
        <p:txBody>
          <a:bodyPr wrap="square">
            <a:spAutoFit/>
          </a:bodyPr>
          <a:lstStyle/>
          <a:p>
            <a:pPr algn="ctr"/>
            <a:r>
              <a:rPr sz="1600" b="0">
                <a:solidFill>
                  <a:srgbClr val="2A2D32"/>
                </a:solidFill>
              </a:rPr>
              <a:t>Add contribution cₜ(vₖ(t))
to the cost register</a:t>
            </a:r>
          </a:p>
        </p:txBody>
      </p:sp>
      <p:sp>
        <p:nvSpPr>
          <p:cNvPr id="11" name="TextBox 10"/>
          <p:cNvSpPr txBox="1"/>
          <p:nvPr/>
        </p:nvSpPr>
        <p:spPr>
          <a:xfrm>
            <a:off x="731520" y="5532120"/>
            <a:ext cx="4937760" cy="457200"/>
          </a:xfrm>
          <a:prstGeom prst="rect">
            <a:avLst/>
          </a:prstGeom>
          <a:noFill/>
        </p:spPr>
        <p:txBody>
          <a:bodyPr wrap="square">
            <a:spAutoFit/>
          </a:bodyPr>
          <a:lstStyle/>
          <a:p>
            <a:pPr algn="ctr"/>
            <a:r>
              <a:rPr sz="1300" b="1" dirty="0">
                <a:solidFill>
                  <a:srgbClr val="376296"/>
                </a:solidFill>
              </a:rPr>
              <a:t>Then </a:t>
            </a:r>
            <a:r>
              <a:rPr sz="1300" b="1" dirty="0" err="1">
                <a:solidFill>
                  <a:srgbClr val="376296"/>
                </a:solidFill>
              </a:rPr>
              <a:t>uncompute</a:t>
            </a:r>
            <a:r>
              <a:rPr sz="1300" b="1" dirty="0">
                <a:solidFill>
                  <a:srgbClr val="376296"/>
                </a:solidFill>
              </a:rPr>
              <a:t> vₖ(t) and reuse the work register.</a:t>
            </a:r>
          </a:p>
        </p:txBody>
      </p:sp>
      <p:sp>
        <p:nvSpPr>
          <p:cNvPr id="12" name="TextBox 11"/>
          <p:cNvSpPr txBox="1"/>
          <p:nvPr/>
        </p:nvSpPr>
        <p:spPr>
          <a:xfrm>
            <a:off x="6400800" y="1280160"/>
            <a:ext cx="4663440" cy="365760"/>
          </a:xfrm>
          <a:prstGeom prst="rect">
            <a:avLst/>
          </a:prstGeom>
          <a:noFill/>
        </p:spPr>
        <p:txBody>
          <a:bodyPr wrap="square">
            <a:spAutoFit/>
          </a:bodyPr>
          <a:lstStyle/>
          <a:p>
            <a:pPr algn="l"/>
            <a:r>
              <a:rPr sz="1700" b="1">
                <a:solidFill>
                  <a:srgbClr val="1C2D46"/>
                </a:solidFill>
              </a:rPr>
              <a:t>Cost accumulation</a:t>
            </a:r>
          </a:p>
        </p:txBody>
      </p:sp>
      <p:sp>
        <p:nvSpPr>
          <p:cNvPr id="13" name="Rounded Rectangle 12"/>
          <p:cNvSpPr/>
          <p:nvPr/>
        </p:nvSpPr>
        <p:spPr>
          <a:xfrm>
            <a:off x="6400800" y="1828800"/>
            <a:ext cx="4663440" cy="91440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10528" y="1892807"/>
            <a:ext cx="4443983" cy="415498"/>
          </a:xfrm>
          <a:prstGeom prst="rect">
            <a:avLst/>
          </a:prstGeom>
          <a:noFill/>
        </p:spPr>
        <p:txBody>
          <a:bodyPr wrap="square">
            <a:spAutoFit/>
          </a:bodyPr>
          <a:lstStyle/>
          <a:p>
            <a:pPr algn="ctr"/>
            <a:r>
              <a:rPr sz="2100" b="0" dirty="0">
                <a:solidFill>
                  <a:srgbClr val="2A2D32"/>
                </a:solidFill>
              </a:rPr>
              <a:t>C(k) = </a:t>
            </a:r>
            <a:r>
              <a:rPr sz="2100" b="0" dirty="0" err="1">
                <a:solidFill>
                  <a:srgbClr val="2A2D32"/>
                </a:solidFill>
              </a:rPr>
              <a:t>Σ</a:t>
            </a:r>
            <a:r>
              <a:rPr sz="2100" b="0" dirty="0">
                <a:solidFill>
                  <a:srgbClr val="2A2D32"/>
                </a:solidFill>
              </a:rPr>
              <a:t>ₜ cₜ(vₖ(t))</a:t>
            </a:r>
            <a:endParaRPr lang="it-IT" sz="2100" b="0" dirty="0">
              <a:solidFill>
                <a:srgbClr val="2A2D32"/>
              </a:solidFill>
            </a:endParaRPr>
          </a:p>
        </p:txBody>
      </p:sp>
      <p:sp>
        <p:nvSpPr>
          <p:cNvPr id="15" name="TextBox 14"/>
          <p:cNvSpPr txBox="1"/>
          <p:nvPr/>
        </p:nvSpPr>
        <p:spPr>
          <a:xfrm>
            <a:off x="6400800" y="2971800"/>
            <a:ext cx="4663440" cy="738664"/>
          </a:xfrm>
          <a:prstGeom prst="rect">
            <a:avLst/>
          </a:prstGeom>
          <a:noFill/>
        </p:spPr>
        <p:txBody>
          <a:bodyPr wrap="square">
            <a:spAutoFit/>
          </a:bodyPr>
          <a:lstStyle/>
          <a:p>
            <a:pPr algn="ctr"/>
            <a:r>
              <a:rPr lang="it-IT" sz="1400" b="0" dirty="0" err="1">
                <a:solidFill>
                  <a:srgbClr val="2A2D32"/>
                </a:solidFill>
              </a:rPr>
              <a:t>We</a:t>
            </a:r>
            <a:r>
              <a:rPr lang="it-IT" sz="1400" b="0" dirty="0">
                <a:solidFill>
                  <a:srgbClr val="2A2D32"/>
                </a:solidFill>
              </a:rPr>
              <a:t> </a:t>
            </a:r>
            <a:r>
              <a:rPr lang="it-IT" sz="1400" b="0" dirty="0" err="1">
                <a:solidFill>
                  <a:srgbClr val="2A2D32"/>
                </a:solidFill>
              </a:rPr>
              <a:t>keep</a:t>
            </a:r>
            <a:r>
              <a:rPr sz="1400" b="0" dirty="0">
                <a:solidFill>
                  <a:srgbClr val="2A2D32"/>
                </a:solidFill>
              </a:rPr>
              <a:t> the cost register in the Fourier basis during accumulation, enabling additions through controlled phase rotations.</a:t>
            </a:r>
          </a:p>
        </p:txBody>
      </p:sp>
      <p:sp>
        <p:nvSpPr>
          <p:cNvPr id="16" name="Rounded Rectangle 15"/>
          <p:cNvSpPr/>
          <p:nvPr/>
        </p:nvSpPr>
        <p:spPr>
          <a:xfrm>
            <a:off x="6400800" y="4297680"/>
            <a:ext cx="4663440" cy="9144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0528" y="4361688"/>
            <a:ext cx="4443983" cy="786384"/>
          </a:xfrm>
          <a:prstGeom prst="rect">
            <a:avLst/>
          </a:prstGeom>
          <a:noFill/>
        </p:spPr>
        <p:txBody>
          <a:bodyPr wrap="square">
            <a:spAutoFit/>
          </a:bodyPr>
          <a:lstStyle/>
          <a:p>
            <a:pPr algn="ctr"/>
            <a:r>
              <a:rPr sz="1700" b="0">
                <a:solidFill>
                  <a:srgbClr val="2A2D32"/>
                </a:solidFill>
              </a:rPr>
              <a:t>QFT → successive additions → inverse QFT</a:t>
            </a:r>
          </a:p>
        </p:txBody>
      </p:sp>
      <p:sp>
        <p:nvSpPr>
          <p:cNvPr id="18" name="TextBox 17"/>
          <p:cNvSpPr txBox="1"/>
          <p:nvPr/>
        </p:nvSpPr>
        <p:spPr>
          <a:xfrm>
            <a:off x="6400800" y="5440680"/>
            <a:ext cx="4663440" cy="938719"/>
          </a:xfrm>
          <a:prstGeom prst="rect">
            <a:avLst/>
          </a:prstGeom>
          <a:noFill/>
        </p:spPr>
        <p:txBody>
          <a:bodyPr wrap="square">
            <a:spAutoFit/>
          </a:bodyPr>
          <a:lstStyle/>
          <a:p>
            <a:pPr algn="ctr"/>
            <a:r>
              <a:rPr sz="1500" b="1" dirty="0">
                <a:solidFill>
                  <a:srgbClr val="1C2D46"/>
                </a:solidFill>
              </a:rPr>
              <a:t>After all T slots:
|k⟩|0⟩ᵥ|C(k)⟩</a:t>
            </a:r>
            <a:r>
              <a:rPr sz="1500" b="1" baseline="-25000" dirty="0">
                <a:solidFill>
                  <a:srgbClr val="1C2D46"/>
                </a:solidFill>
              </a:rPr>
              <a:t>C</a:t>
            </a:r>
            <a:br>
              <a:rPr lang="it-IT" sz="1500" b="1" baseline="-25000" dirty="0">
                <a:solidFill>
                  <a:srgbClr val="1C2D46"/>
                </a:solidFill>
              </a:rPr>
            </a:br>
            <a:br>
              <a:rPr lang="it-IT" sz="1500" b="1" baseline="-25000" dirty="0">
                <a:solidFill>
                  <a:srgbClr val="1C2D46"/>
                </a:solidFill>
              </a:rPr>
            </a:br>
            <a:endParaRPr sz="1500" b="1" dirty="0">
              <a:solidFill>
                <a:srgbClr val="1C2D46"/>
              </a:solidFill>
            </a:endParaRPr>
          </a:p>
        </p:txBody>
      </p:sp>
      <p:pic>
        <p:nvPicPr>
          <p:cNvPr id="19" name="Picture 18">
            <a:extLst>
              <a:ext uri="{FF2B5EF4-FFF2-40B4-BE49-F238E27FC236}">
                <a16:creationId xmlns:a16="http://schemas.microsoft.com/office/drawing/2014/main" id="{1541F694-1C98-C2D6-D5F0-4CCCBC361BFC}"/>
              </a:ext>
            </a:extLst>
          </p:cNvPr>
          <p:cNvPicPr>
            <a:picLocks noChangeAspect="1"/>
          </p:cNvPicPr>
          <p:nvPr/>
        </p:nvPicPr>
        <p:blipFill>
          <a:blip r:embed="rId3"/>
          <a:stretch>
            <a:fillRect/>
          </a:stretch>
        </p:blipFill>
        <p:spPr>
          <a:xfrm>
            <a:off x="8188885" y="605552"/>
            <a:ext cx="3721100" cy="76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D862-02CF-4D0E-4F31-CC795FC674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42D0A4-464B-EDA3-3CE5-9AE6052CB2C3}"/>
              </a:ext>
            </a:extLst>
          </p:cNvPr>
          <p:cNvSpPr txBox="1"/>
          <p:nvPr/>
        </p:nvSpPr>
        <p:spPr>
          <a:xfrm>
            <a:off x="502920" y="-13446"/>
            <a:ext cx="7469032" cy="492443"/>
          </a:xfrm>
          <a:prstGeom prst="rect">
            <a:avLst/>
          </a:prstGeom>
          <a:noFill/>
        </p:spPr>
        <p:txBody>
          <a:bodyPr wrap="none">
            <a:spAutoFit/>
          </a:bodyPr>
          <a:lstStyle/>
          <a:p>
            <a:r>
              <a:rPr lang="it-IT" sz="2600" b="1" dirty="0">
                <a:solidFill>
                  <a:srgbClr val="1C2D46"/>
                </a:solidFill>
              </a:rPr>
              <a:t>Oracle 3 - </a:t>
            </a:r>
            <a:r>
              <a:rPr sz="2600" b="1" dirty="0">
                <a:solidFill>
                  <a:srgbClr val="1C2D46"/>
                </a:solidFill>
              </a:rPr>
              <a:t>How t</a:t>
            </a:r>
            <a:r>
              <a:rPr lang="it-IT" sz="2600" b="1" dirty="0">
                <a:solidFill>
                  <a:srgbClr val="1C2D46"/>
                </a:solidFill>
              </a:rPr>
              <a:t>o compute the FLAG </a:t>
            </a:r>
            <a:r>
              <a:rPr lang="it-IT" sz="2600" b="1" dirty="0" err="1">
                <a:solidFill>
                  <a:srgbClr val="1C2D46"/>
                </a:solidFill>
              </a:rPr>
              <a:t>register</a:t>
            </a:r>
            <a:endParaRPr sz="2600" b="1" dirty="0">
              <a:solidFill>
                <a:srgbClr val="1C2D46"/>
              </a:solidFill>
            </a:endParaRPr>
          </a:p>
        </p:txBody>
      </p:sp>
      <p:sp>
        <p:nvSpPr>
          <p:cNvPr id="3" name="TextBox 2">
            <a:extLst>
              <a:ext uri="{FF2B5EF4-FFF2-40B4-BE49-F238E27FC236}">
                <a16:creationId xmlns:a16="http://schemas.microsoft.com/office/drawing/2014/main" id="{043FD340-5709-9054-502F-9B05E25EEA0D}"/>
              </a:ext>
            </a:extLst>
          </p:cNvPr>
          <p:cNvSpPr txBox="1"/>
          <p:nvPr/>
        </p:nvSpPr>
        <p:spPr>
          <a:xfrm>
            <a:off x="530352" y="749808"/>
            <a:ext cx="2010487" cy="269304"/>
          </a:xfrm>
          <a:prstGeom prst="rect">
            <a:avLst/>
          </a:prstGeom>
          <a:noFill/>
        </p:spPr>
        <p:txBody>
          <a:bodyPr wrap="none">
            <a:spAutoFit/>
          </a:bodyPr>
          <a:lstStyle/>
          <a:p>
            <a:r>
              <a:rPr lang="it-IT" sz="1150" dirty="0">
                <a:solidFill>
                  <a:srgbClr val="376296"/>
                </a:solidFill>
              </a:rPr>
              <a:t>The flag </a:t>
            </a:r>
            <a:r>
              <a:rPr lang="it-IT" sz="1150" dirty="0" err="1">
                <a:solidFill>
                  <a:srgbClr val="376296"/>
                </a:solidFill>
              </a:rPr>
              <a:t>is</a:t>
            </a:r>
            <a:r>
              <a:rPr lang="it-IT" sz="1150" dirty="0">
                <a:solidFill>
                  <a:srgbClr val="376296"/>
                </a:solidFill>
              </a:rPr>
              <a:t> </a:t>
            </a:r>
            <a:r>
              <a:rPr lang="it-IT" sz="1150" dirty="0" err="1">
                <a:solidFill>
                  <a:srgbClr val="376296"/>
                </a:solidFill>
              </a:rPr>
              <a:t>at</a:t>
            </a:r>
            <a:r>
              <a:rPr lang="it-IT" sz="1150" dirty="0">
                <a:solidFill>
                  <a:srgbClr val="376296"/>
                </a:solidFill>
              </a:rPr>
              <a:t> the </a:t>
            </a:r>
            <a:r>
              <a:rPr lang="it-IT" sz="1150" dirty="0" err="1">
                <a:solidFill>
                  <a:srgbClr val="376296"/>
                </a:solidFill>
              </a:rPr>
              <a:t>beginning</a:t>
            </a:r>
            <a:r>
              <a:rPr lang="it-IT" sz="1150" dirty="0">
                <a:solidFill>
                  <a:srgbClr val="376296"/>
                </a:solidFill>
              </a:rPr>
              <a:t> |0&gt;</a:t>
            </a:r>
            <a:endParaRPr sz="1150" dirty="0">
              <a:solidFill>
                <a:srgbClr val="376296"/>
              </a:solidFill>
            </a:endParaRPr>
          </a:p>
        </p:txBody>
      </p:sp>
      <p:sp>
        <p:nvSpPr>
          <p:cNvPr id="4" name="Rounded Rectangle 3">
            <a:extLst>
              <a:ext uri="{FF2B5EF4-FFF2-40B4-BE49-F238E27FC236}">
                <a16:creationId xmlns:a16="http://schemas.microsoft.com/office/drawing/2014/main" id="{5A2E68BE-6DE1-E172-286F-ED44C27F4570}"/>
              </a:ext>
            </a:extLst>
          </p:cNvPr>
          <p:cNvSpPr/>
          <p:nvPr/>
        </p:nvSpPr>
        <p:spPr>
          <a:xfrm>
            <a:off x="594360" y="1234440"/>
            <a:ext cx="5212080" cy="822960"/>
          </a:xfrm>
          <a:prstGeom prst="roundRect">
            <a:avLst/>
          </a:prstGeom>
          <a:solidFill>
            <a:srgbClr val="F2F6FA"/>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389309A-4490-1A74-7863-50B3F82C73D9}"/>
              </a:ext>
            </a:extLst>
          </p:cNvPr>
          <p:cNvSpPr txBox="1"/>
          <p:nvPr/>
        </p:nvSpPr>
        <p:spPr>
          <a:xfrm>
            <a:off x="704088" y="1298448"/>
            <a:ext cx="4992624" cy="694944"/>
          </a:xfrm>
          <a:prstGeom prst="rect">
            <a:avLst/>
          </a:prstGeom>
          <a:noFill/>
        </p:spPr>
        <p:txBody>
          <a:bodyPr wrap="square">
            <a:spAutoFit/>
          </a:bodyPr>
          <a:lstStyle/>
          <a:p>
            <a:pPr algn="ctr"/>
            <a:r>
              <a:rPr sz="1600" b="0">
                <a:solidFill>
                  <a:srgbClr val="2A2D32"/>
                </a:solidFill>
              </a:rPr>
              <a:t>For each time t, compute net consumption</a:t>
            </a:r>
          </a:p>
        </p:txBody>
      </p:sp>
      <p:sp>
        <p:nvSpPr>
          <p:cNvPr id="6" name="TextBox 5">
            <a:extLst>
              <a:ext uri="{FF2B5EF4-FFF2-40B4-BE49-F238E27FC236}">
                <a16:creationId xmlns:a16="http://schemas.microsoft.com/office/drawing/2014/main" id="{FBC8CC69-6A6E-9195-4DBA-C953528FA0CC}"/>
              </a:ext>
            </a:extLst>
          </p:cNvPr>
          <p:cNvSpPr txBox="1"/>
          <p:nvPr/>
        </p:nvSpPr>
        <p:spPr>
          <a:xfrm>
            <a:off x="731520" y="2148840"/>
            <a:ext cx="4937760" cy="400110"/>
          </a:xfrm>
          <a:prstGeom prst="rect">
            <a:avLst/>
          </a:prstGeom>
          <a:noFill/>
        </p:spPr>
        <p:txBody>
          <a:bodyPr wrap="square">
            <a:spAutoFit/>
          </a:bodyPr>
          <a:lstStyle/>
          <a:p>
            <a:pPr algn="ctr"/>
            <a:r>
              <a:rPr lang="it-IT" sz="1900" b="1" dirty="0">
                <a:solidFill>
                  <a:srgbClr val="1C2D46"/>
                </a:solidFill>
              </a:rPr>
              <a:t>|C(k)-</a:t>
            </a:r>
            <a:r>
              <a:rPr lang="el-GR" sz="2000" b="1" dirty="0">
                <a:solidFill>
                  <a:srgbClr val="2A2D32"/>
                </a:solidFill>
              </a:rPr>
              <a:t> τ</a:t>
            </a:r>
            <a:r>
              <a:rPr lang="it-IT" sz="2000" b="1" dirty="0">
                <a:solidFill>
                  <a:srgbClr val="2A2D32"/>
                </a:solidFill>
              </a:rPr>
              <a:t>&gt;</a:t>
            </a:r>
            <a:r>
              <a:rPr lang="it-IT" sz="2000" b="1" baseline="-25000" dirty="0">
                <a:solidFill>
                  <a:srgbClr val="2A2D32"/>
                </a:solidFill>
              </a:rPr>
              <a:t>C</a:t>
            </a:r>
            <a:r>
              <a:rPr lang="el-GR" sz="2000" b="1" dirty="0">
                <a:solidFill>
                  <a:srgbClr val="2A2D32"/>
                </a:solidFill>
              </a:rPr>
              <a:t> </a:t>
            </a:r>
            <a:r>
              <a:rPr lang="it-IT" sz="2000" b="1" dirty="0">
                <a:solidFill>
                  <a:srgbClr val="2A2D32"/>
                </a:solidFill>
              </a:rPr>
              <a:t>|0&gt;</a:t>
            </a:r>
            <a:r>
              <a:rPr lang="it-IT" sz="2000" b="1" baseline="-25000" dirty="0" err="1">
                <a:solidFill>
                  <a:srgbClr val="2A2D32"/>
                </a:solidFill>
              </a:rPr>
              <a:t>F</a:t>
            </a:r>
            <a:endParaRPr sz="1900" b="1" dirty="0">
              <a:solidFill>
                <a:srgbClr val="1C2D46"/>
              </a:solidFill>
            </a:endParaRPr>
          </a:p>
        </p:txBody>
      </p:sp>
      <p:sp>
        <p:nvSpPr>
          <p:cNvPr id="7" name="Rounded Rectangle 6">
            <a:extLst>
              <a:ext uri="{FF2B5EF4-FFF2-40B4-BE49-F238E27FC236}">
                <a16:creationId xmlns:a16="http://schemas.microsoft.com/office/drawing/2014/main" id="{26022E20-6906-743F-7D0C-600875F6B057}"/>
              </a:ext>
            </a:extLst>
          </p:cNvPr>
          <p:cNvSpPr/>
          <p:nvPr/>
        </p:nvSpPr>
        <p:spPr>
          <a:xfrm>
            <a:off x="594360" y="2971800"/>
            <a:ext cx="5212080" cy="618006"/>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B686740-0236-1380-953A-B646B6C33488}"/>
              </a:ext>
            </a:extLst>
          </p:cNvPr>
          <p:cNvSpPr txBox="1"/>
          <p:nvPr/>
        </p:nvSpPr>
        <p:spPr>
          <a:xfrm>
            <a:off x="704088" y="3035808"/>
            <a:ext cx="4992624" cy="553998"/>
          </a:xfrm>
          <a:prstGeom prst="rect">
            <a:avLst/>
          </a:prstGeom>
          <a:noFill/>
        </p:spPr>
        <p:txBody>
          <a:bodyPr wrap="square">
            <a:spAutoFit/>
          </a:bodyPr>
          <a:lstStyle/>
          <a:p>
            <a:pPr algn="ctr"/>
            <a:r>
              <a:rPr lang="it-IT" sz="1500" b="0" dirty="0">
                <a:solidFill>
                  <a:srgbClr val="2A2D32"/>
                </a:solidFill>
              </a:rPr>
              <a:t>Flag </a:t>
            </a:r>
            <a:r>
              <a:rPr lang="it-IT" sz="1500" b="0" dirty="0" err="1">
                <a:solidFill>
                  <a:srgbClr val="2A2D32"/>
                </a:solidFill>
              </a:rPr>
              <a:t>qbit</a:t>
            </a:r>
            <a:r>
              <a:rPr lang="it-IT" sz="1500" b="0" dirty="0">
                <a:solidFill>
                  <a:srgbClr val="2A2D32"/>
                </a:solidFill>
              </a:rPr>
              <a:t> </a:t>
            </a:r>
            <a:r>
              <a:rPr lang="it-IT" sz="1500" b="0" dirty="0" err="1">
                <a:solidFill>
                  <a:srgbClr val="2A2D32"/>
                </a:solidFill>
              </a:rPr>
              <a:t>becomes</a:t>
            </a:r>
            <a:r>
              <a:rPr lang="it-IT" sz="1500" b="0" dirty="0">
                <a:solidFill>
                  <a:srgbClr val="2A2D32"/>
                </a:solidFill>
              </a:rPr>
              <a:t> the </a:t>
            </a:r>
            <a:r>
              <a:rPr lang="it-IT" sz="1500" b="0" dirty="0" err="1">
                <a:solidFill>
                  <a:srgbClr val="2A2D32"/>
                </a:solidFill>
              </a:rPr>
              <a:t>sign</a:t>
            </a:r>
            <a:r>
              <a:rPr lang="it-IT" sz="1500" b="0" dirty="0">
                <a:solidFill>
                  <a:srgbClr val="2A2D32"/>
                </a:solidFill>
              </a:rPr>
              <a:t> </a:t>
            </a:r>
            <a:r>
              <a:rPr lang="it-IT" sz="1500" b="0" dirty="0" err="1">
                <a:solidFill>
                  <a:srgbClr val="2A2D32"/>
                </a:solidFill>
              </a:rPr>
              <a:t>qbit</a:t>
            </a:r>
            <a:r>
              <a:rPr lang="it-IT" sz="1500" b="0" dirty="0">
                <a:solidFill>
                  <a:srgbClr val="2A2D32"/>
                </a:solidFill>
              </a:rPr>
              <a:t> of C </a:t>
            </a:r>
            <a:r>
              <a:rPr lang="it-IT" sz="1500" b="0" dirty="0" err="1">
                <a:solidFill>
                  <a:srgbClr val="2A2D32"/>
                </a:solidFill>
              </a:rPr>
              <a:t>register</a:t>
            </a:r>
            <a:r>
              <a:rPr lang="it-IT" sz="1500" b="0" dirty="0">
                <a:solidFill>
                  <a:srgbClr val="2A2D32"/>
                </a:solidFill>
              </a:rPr>
              <a:t> (0 </a:t>
            </a:r>
            <a:r>
              <a:rPr lang="it-IT" sz="1500" b="0" dirty="0" err="1">
                <a:solidFill>
                  <a:srgbClr val="2A2D32"/>
                </a:solidFill>
              </a:rPr>
              <a:t>if</a:t>
            </a:r>
            <a:r>
              <a:rPr lang="it-IT" sz="1500" b="0" dirty="0">
                <a:solidFill>
                  <a:srgbClr val="2A2D32"/>
                </a:solidFill>
              </a:rPr>
              <a:t> positive o</a:t>
            </a:r>
            <a:r>
              <a:rPr lang="it-IT" sz="1500" dirty="0">
                <a:solidFill>
                  <a:srgbClr val="2A2D32"/>
                </a:solidFill>
              </a:rPr>
              <a:t>r 1 </a:t>
            </a:r>
            <a:r>
              <a:rPr lang="it-IT" sz="1500" dirty="0" err="1">
                <a:solidFill>
                  <a:srgbClr val="2A2D32"/>
                </a:solidFill>
              </a:rPr>
              <a:t>if</a:t>
            </a:r>
            <a:r>
              <a:rPr lang="it-IT" sz="1500" dirty="0">
                <a:solidFill>
                  <a:srgbClr val="2A2D32"/>
                </a:solidFill>
              </a:rPr>
              <a:t> negative)</a:t>
            </a:r>
            <a:endParaRPr sz="1500" b="0" dirty="0">
              <a:solidFill>
                <a:srgbClr val="2A2D32"/>
              </a:solidFill>
            </a:endParaRPr>
          </a:p>
        </p:txBody>
      </p:sp>
      <p:sp>
        <p:nvSpPr>
          <p:cNvPr id="24" name="Rounded Rectangle 23">
            <a:extLst>
              <a:ext uri="{FF2B5EF4-FFF2-40B4-BE49-F238E27FC236}">
                <a16:creationId xmlns:a16="http://schemas.microsoft.com/office/drawing/2014/main" id="{2E96D58C-0DE5-E7FD-0003-803CE4D9E576}"/>
              </a:ext>
            </a:extLst>
          </p:cNvPr>
          <p:cNvSpPr/>
          <p:nvPr/>
        </p:nvSpPr>
        <p:spPr>
          <a:xfrm>
            <a:off x="594360" y="4274820"/>
            <a:ext cx="5212080" cy="9144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D0733F44-B7F2-F176-EB6C-F1446A41F6E2}"/>
              </a:ext>
            </a:extLst>
          </p:cNvPr>
          <p:cNvSpPr txBox="1"/>
          <p:nvPr/>
        </p:nvSpPr>
        <p:spPr>
          <a:xfrm>
            <a:off x="601218" y="4338828"/>
            <a:ext cx="5212080" cy="615553"/>
          </a:xfrm>
          <a:prstGeom prst="rect">
            <a:avLst/>
          </a:prstGeom>
          <a:noFill/>
        </p:spPr>
        <p:txBody>
          <a:bodyPr wrap="square">
            <a:spAutoFit/>
          </a:bodyPr>
          <a:lstStyle/>
          <a:p>
            <a:pPr algn="ctr"/>
            <a:r>
              <a:rPr lang="it-IT" sz="1600" b="0" dirty="0" err="1">
                <a:solidFill>
                  <a:srgbClr val="2A2D32"/>
                </a:solidFill>
              </a:rPr>
              <a:t>Z</a:t>
            </a:r>
            <a:r>
              <a:rPr lang="it-IT" sz="1600" b="0" dirty="0">
                <a:solidFill>
                  <a:srgbClr val="2A2D32"/>
                </a:solidFill>
              </a:rPr>
              <a:t> gate </a:t>
            </a:r>
            <a:r>
              <a:rPr lang="it-IT" sz="1600" b="0" dirty="0" err="1">
                <a:solidFill>
                  <a:srgbClr val="2A2D32"/>
                </a:solidFill>
              </a:rPr>
              <a:t>is</a:t>
            </a:r>
            <a:r>
              <a:rPr lang="it-IT" sz="1600" b="0" dirty="0">
                <a:solidFill>
                  <a:srgbClr val="2A2D32"/>
                </a:solidFill>
              </a:rPr>
              <a:t> </a:t>
            </a:r>
            <a:r>
              <a:rPr lang="it-IT" sz="1600" dirty="0" err="1">
                <a:solidFill>
                  <a:srgbClr val="2A2D32"/>
                </a:solidFill>
              </a:rPr>
              <a:t>used</a:t>
            </a:r>
            <a:r>
              <a:rPr lang="it-IT" sz="1600" dirty="0">
                <a:solidFill>
                  <a:srgbClr val="2A2D32"/>
                </a:solidFill>
              </a:rPr>
              <a:t> on </a:t>
            </a:r>
            <a:r>
              <a:rPr lang="it-IT" sz="1600" dirty="0" err="1">
                <a:solidFill>
                  <a:srgbClr val="2A2D32"/>
                </a:solidFill>
              </a:rPr>
              <a:t>qbit</a:t>
            </a:r>
            <a:r>
              <a:rPr lang="it-IT" sz="1600" dirty="0">
                <a:solidFill>
                  <a:srgbClr val="2A2D32"/>
                </a:solidFill>
              </a:rPr>
              <a:t> flag (</a:t>
            </a:r>
            <a:r>
              <a:rPr lang="it-IT" sz="1600" dirty="0" err="1">
                <a:solidFill>
                  <a:srgbClr val="2A2D32"/>
                </a:solidFill>
              </a:rPr>
              <a:t>we</a:t>
            </a:r>
            <a:r>
              <a:rPr lang="it-IT" sz="1600" dirty="0">
                <a:solidFill>
                  <a:srgbClr val="2A2D32"/>
                </a:solidFill>
              </a:rPr>
              <a:t> </a:t>
            </a:r>
            <a:r>
              <a:rPr lang="it-IT" sz="1600" dirty="0" err="1">
                <a:solidFill>
                  <a:srgbClr val="2A2D32"/>
                </a:solidFill>
              </a:rPr>
              <a:t>change</a:t>
            </a:r>
            <a:r>
              <a:rPr lang="it-IT" sz="1600" dirty="0">
                <a:solidFill>
                  <a:srgbClr val="2A2D32"/>
                </a:solidFill>
              </a:rPr>
              <a:t> flag </a:t>
            </a:r>
            <a:r>
              <a:rPr lang="it-IT" sz="1600" dirty="0" err="1">
                <a:solidFill>
                  <a:srgbClr val="2A2D32"/>
                </a:solidFill>
              </a:rPr>
              <a:t>sign</a:t>
            </a:r>
            <a:r>
              <a:rPr lang="it-IT" sz="1600" dirty="0">
                <a:solidFill>
                  <a:srgbClr val="2A2D32"/>
                </a:solidFill>
              </a:rPr>
              <a:t> </a:t>
            </a:r>
            <a:r>
              <a:rPr lang="it-IT" sz="1600" dirty="0" err="1">
                <a:solidFill>
                  <a:srgbClr val="2A2D32"/>
                </a:solidFill>
              </a:rPr>
              <a:t>when</a:t>
            </a:r>
            <a:r>
              <a:rPr lang="it-IT" sz="1600" dirty="0">
                <a:solidFill>
                  <a:srgbClr val="2A2D32"/>
                </a:solidFill>
              </a:rPr>
              <a:t> flag </a:t>
            </a:r>
            <a:r>
              <a:rPr lang="it-IT" sz="1600" dirty="0" err="1">
                <a:solidFill>
                  <a:srgbClr val="2A2D32"/>
                </a:solidFill>
              </a:rPr>
              <a:t>is</a:t>
            </a:r>
            <a:r>
              <a:rPr lang="it-IT" sz="1600" dirty="0">
                <a:solidFill>
                  <a:srgbClr val="2A2D32"/>
                </a:solidFill>
              </a:rPr>
              <a:t> 1)</a:t>
            </a:r>
          </a:p>
          <a:p>
            <a:pPr algn="ctr"/>
            <a:r>
              <a:rPr lang="en-IT" dirty="0"/>
              <a:t>Z|F⟩= (−1)</a:t>
            </a:r>
            <a:r>
              <a:rPr lang="en-IT" baseline="30000" dirty="0"/>
              <a:t>F</a:t>
            </a:r>
            <a:r>
              <a:rPr lang="en-IT" dirty="0"/>
              <a:t> |F&gt;</a:t>
            </a:r>
          </a:p>
        </p:txBody>
      </p:sp>
      <p:sp>
        <p:nvSpPr>
          <p:cNvPr id="26" name="Rounded Rectangle 25">
            <a:extLst>
              <a:ext uri="{FF2B5EF4-FFF2-40B4-BE49-F238E27FC236}">
                <a16:creationId xmlns:a16="http://schemas.microsoft.com/office/drawing/2014/main" id="{71070235-66AD-DA68-9F1B-7FFC233F0D8B}"/>
              </a:ext>
            </a:extLst>
          </p:cNvPr>
          <p:cNvSpPr/>
          <p:nvPr/>
        </p:nvSpPr>
        <p:spPr>
          <a:xfrm>
            <a:off x="594360" y="5653278"/>
            <a:ext cx="4663440" cy="914400"/>
          </a:xfrm>
          <a:prstGeom prst="roundRect">
            <a:avLst/>
          </a:prstGeom>
          <a:solidFill>
            <a:srgbClr val="F6F2FA"/>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7EB00DAD-F9D4-71EF-8216-087971F000CC}"/>
              </a:ext>
            </a:extLst>
          </p:cNvPr>
          <p:cNvSpPr txBox="1"/>
          <p:nvPr/>
        </p:nvSpPr>
        <p:spPr>
          <a:xfrm>
            <a:off x="704088" y="5717286"/>
            <a:ext cx="4443983" cy="615553"/>
          </a:xfrm>
          <a:prstGeom prst="rect">
            <a:avLst/>
          </a:prstGeom>
          <a:noFill/>
        </p:spPr>
        <p:txBody>
          <a:bodyPr wrap="square">
            <a:spAutoFit/>
          </a:bodyPr>
          <a:lstStyle/>
          <a:p>
            <a:pPr algn="ctr"/>
            <a:r>
              <a:rPr lang="it-IT" sz="1700" dirty="0" err="1">
                <a:solidFill>
                  <a:srgbClr val="2A2D32"/>
                </a:solidFill>
              </a:rPr>
              <a:t>Uncompute</a:t>
            </a:r>
            <a:r>
              <a:rPr lang="it-IT" sz="1700" dirty="0">
                <a:solidFill>
                  <a:srgbClr val="2A2D32"/>
                </a:solidFill>
              </a:rPr>
              <a:t> flag and cost </a:t>
            </a:r>
            <a:r>
              <a:rPr lang="it-IT" sz="1700" dirty="0" err="1">
                <a:solidFill>
                  <a:srgbClr val="2A2D32"/>
                </a:solidFill>
              </a:rPr>
              <a:t>registers</a:t>
            </a:r>
            <a:r>
              <a:rPr lang="it-IT" sz="1700" dirty="0">
                <a:solidFill>
                  <a:srgbClr val="2A2D32"/>
                </a:solidFill>
              </a:rPr>
              <a:t>. </a:t>
            </a:r>
            <a:r>
              <a:rPr lang="it-IT" sz="1700" dirty="0" err="1">
                <a:solidFill>
                  <a:srgbClr val="2A2D32"/>
                </a:solidFill>
              </a:rPr>
              <a:t>Only</a:t>
            </a:r>
            <a:r>
              <a:rPr lang="it-IT" sz="1700" dirty="0">
                <a:solidFill>
                  <a:srgbClr val="2A2D32"/>
                </a:solidFill>
              </a:rPr>
              <a:t> k </a:t>
            </a:r>
            <a:r>
              <a:rPr lang="it-IT" sz="1700" dirty="0" err="1">
                <a:solidFill>
                  <a:srgbClr val="2A2D32"/>
                </a:solidFill>
              </a:rPr>
              <a:t>register</a:t>
            </a:r>
            <a:r>
              <a:rPr lang="it-IT" sz="1700" dirty="0">
                <a:solidFill>
                  <a:srgbClr val="2A2D32"/>
                </a:solidFill>
              </a:rPr>
              <a:t> </a:t>
            </a:r>
            <a:r>
              <a:rPr lang="it-IT" sz="1700" dirty="0" err="1">
                <a:solidFill>
                  <a:srgbClr val="2A2D32"/>
                </a:solidFill>
              </a:rPr>
              <a:t>is</a:t>
            </a:r>
            <a:r>
              <a:rPr lang="it-IT" sz="1700" dirty="0">
                <a:solidFill>
                  <a:srgbClr val="2A2D32"/>
                </a:solidFill>
              </a:rPr>
              <a:t> </a:t>
            </a:r>
            <a:r>
              <a:rPr lang="it-IT" sz="1700" dirty="0" err="1">
                <a:solidFill>
                  <a:srgbClr val="2A2D32"/>
                </a:solidFill>
              </a:rPr>
              <a:t>left</a:t>
            </a:r>
            <a:r>
              <a:rPr lang="it-IT" sz="1700" dirty="0">
                <a:solidFill>
                  <a:srgbClr val="2A2D32"/>
                </a:solidFill>
              </a:rPr>
              <a:t> with </a:t>
            </a:r>
            <a:r>
              <a:rPr lang="it-IT" sz="1700" dirty="0" err="1">
                <a:solidFill>
                  <a:srgbClr val="2A2D32"/>
                </a:solidFill>
              </a:rPr>
              <a:t>sign</a:t>
            </a:r>
            <a:r>
              <a:rPr lang="it-IT" sz="1700" dirty="0">
                <a:solidFill>
                  <a:srgbClr val="2A2D32"/>
                </a:solidFill>
              </a:rPr>
              <a:t> </a:t>
            </a:r>
            <a:r>
              <a:rPr lang="it-IT" sz="1700" dirty="0" err="1">
                <a:solidFill>
                  <a:srgbClr val="2A2D32"/>
                </a:solidFill>
              </a:rPr>
              <a:t>changed</a:t>
            </a:r>
            <a:r>
              <a:rPr lang="it-IT" sz="1700" dirty="0">
                <a:solidFill>
                  <a:srgbClr val="2A2D32"/>
                </a:solidFill>
              </a:rPr>
              <a:t> </a:t>
            </a:r>
            <a:r>
              <a:rPr lang="it-IT" sz="1700" dirty="0" err="1">
                <a:solidFill>
                  <a:srgbClr val="2A2D32"/>
                </a:solidFill>
              </a:rPr>
              <a:t>iff</a:t>
            </a:r>
            <a:r>
              <a:rPr lang="it-IT" sz="1700" dirty="0">
                <a:solidFill>
                  <a:srgbClr val="2A2D32"/>
                </a:solidFill>
              </a:rPr>
              <a:t> flag </a:t>
            </a:r>
            <a:r>
              <a:rPr lang="it-IT" sz="1700" dirty="0" err="1">
                <a:solidFill>
                  <a:srgbClr val="2A2D32"/>
                </a:solidFill>
              </a:rPr>
              <a:t>was</a:t>
            </a:r>
            <a:r>
              <a:rPr lang="it-IT" sz="1700" dirty="0">
                <a:solidFill>
                  <a:srgbClr val="2A2D32"/>
                </a:solidFill>
              </a:rPr>
              <a:t> 1</a:t>
            </a:r>
            <a:endParaRPr sz="1700" b="0" dirty="0">
              <a:solidFill>
                <a:srgbClr val="2A2D32"/>
              </a:solidFill>
            </a:endParaRPr>
          </a:p>
        </p:txBody>
      </p:sp>
    </p:spTree>
    <p:extLst>
      <p:ext uri="{BB962C8B-B14F-4D97-AF65-F5344CB8AC3E}">
        <p14:creationId xmlns:p14="http://schemas.microsoft.com/office/powerpoint/2010/main" val="2323093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6893"/>
            <a:ext cx="3441198" cy="492443"/>
          </a:xfrm>
          <a:prstGeom prst="rect">
            <a:avLst/>
          </a:prstGeom>
          <a:noFill/>
        </p:spPr>
        <p:txBody>
          <a:bodyPr wrap="none">
            <a:spAutoFit/>
          </a:bodyPr>
          <a:lstStyle/>
          <a:p>
            <a:r>
              <a:rPr sz="2600" b="1" dirty="0">
                <a:solidFill>
                  <a:srgbClr val="1C2D46"/>
                </a:solidFill>
              </a:rPr>
              <a:t>Grover Amplification</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The oracle identifies improving states; the diffusion operator increases their probability of being measured.</a:t>
            </a:r>
          </a:p>
        </p:txBody>
      </p:sp>
      <p:sp>
        <p:nvSpPr>
          <p:cNvPr id="4" name="Rounded Rectangle 3"/>
          <p:cNvSpPr/>
          <p:nvPr/>
        </p:nvSpPr>
        <p:spPr>
          <a:xfrm>
            <a:off x="685800" y="1280160"/>
            <a:ext cx="2971800" cy="91440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344168"/>
            <a:ext cx="2752344" cy="830997"/>
          </a:xfrm>
          <a:prstGeom prst="rect">
            <a:avLst/>
          </a:prstGeom>
          <a:noFill/>
        </p:spPr>
        <p:txBody>
          <a:bodyPr wrap="square">
            <a:spAutoFit/>
          </a:bodyPr>
          <a:lstStyle/>
          <a:p>
            <a:pPr algn="ctr"/>
            <a:r>
              <a:rPr lang="it-IT" sz="1600" b="0" dirty="0" err="1">
                <a:solidFill>
                  <a:srgbClr val="2A2D32"/>
                </a:solidFill>
              </a:rPr>
              <a:t>As</a:t>
            </a:r>
            <a:r>
              <a:rPr lang="it-IT" sz="1600" b="0" dirty="0">
                <a:solidFill>
                  <a:srgbClr val="2A2D32"/>
                </a:solidFill>
              </a:rPr>
              <a:t> </a:t>
            </a:r>
            <a:r>
              <a:rPr lang="it-IT" sz="1600" b="0" dirty="0" err="1">
                <a:solidFill>
                  <a:srgbClr val="2A2D32"/>
                </a:solidFill>
              </a:rPr>
              <a:t>seen</a:t>
            </a:r>
            <a:r>
              <a:rPr lang="it-IT" sz="1600" b="0" dirty="0">
                <a:solidFill>
                  <a:srgbClr val="2A2D32"/>
                </a:solidFill>
              </a:rPr>
              <a:t> </a:t>
            </a:r>
            <a:r>
              <a:rPr lang="it-IT" sz="1600" b="0" dirty="0" err="1">
                <a:solidFill>
                  <a:srgbClr val="2A2D32"/>
                </a:solidFill>
              </a:rPr>
              <a:t>before</a:t>
            </a:r>
            <a:r>
              <a:rPr lang="it-IT" sz="1600" b="0" dirty="0">
                <a:solidFill>
                  <a:srgbClr val="2A2D32"/>
                </a:solidFill>
              </a:rPr>
              <a:t>, </a:t>
            </a:r>
            <a:r>
              <a:rPr sz="1600" b="0" dirty="0">
                <a:solidFill>
                  <a:srgbClr val="2A2D32"/>
                </a:solidFill>
              </a:rPr>
              <a:t>Oracle</a:t>
            </a:r>
            <a:r>
              <a:rPr lang="en-IT" sz="1600" b="0" dirty="0">
                <a:solidFill>
                  <a:srgbClr val="2A2D32"/>
                </a:solidFill>
              </a:rPr>
              <a:t> </a:t>
            </a:r>
            <a:r>
              <a:rPr lang="en-GB" sz="1600" b="0" dirty="0">
                <a:solidFill>
                  <a:srgbClr val="2A2D32"/>
                </a:solidFill>
              </a:rPr>
              <a:t>O</a:t>
            </a:r>
            <a:r>
              <a:rPr lang="el-GR" sz="1600" b="0" dirty="0">
                <a:solidFill>
                  <a:srgbClr val="2A2D32"/>
                </a:solidFill>
              </a:rPr>
              <a:t>τ</a:t>
            </a:r>
            <a:r>
              <a:rPr sz="1600" b="0" dirty="0">
                <a:solidFill>
                  <a:srgbClr val="2A2D32"/>
                </a:solidFill>
              </a:rPr>
              <a:t>
phase-flip states
with C(k) &lt; </a:t>
            </a:r>
            <a:r>
              <a:rPr sz="1600" b="0" dirty="0" err="1">
                <a:solidFill>
                  <a:srgbClr val="2A2D32"/>
                </a:solidFill>
              </a:rPr>
              <a:t>τ</a:t>
            </a:r>
            <a:endParaRPr sz="1600" b="0" dirty="0">
              <a:solidFill>
                <a:srgbClr val="2A2D32"/>
              </a:solidFill>
            </a:endParaRPr>
          </a:p>
        </p:txBody>
      </p:sp>
      <p:cxnSp>
        <p:nvCxnSpPr>
          <p:cNvPr id="6" name="Connector 5"/>
          <p:cNvCxnSpPr/>
          <p:nvPr/>
        </p:nvCxnSpPr>
        <p:spPr>
          <a:xfrm>
            <a:off x="3703320" y="1737360"/>
            <a:ext cx="548640" cy="0"/>
          </a:xfrm>
          <a:prstGeom prst="line">
            <a:avLst/>
          </a:prstGeom>
          <a:ln w="25400">
            <a:solidFill>
              <a:srgbClr val="6F4D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97680" y="1280160"/>
            <a:ext cx="2971800" cy="91440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07408" y="1344168"/>
            <a:ext cx="2752344" cy="786384"/>
          </a:xfrm>
          <a:prstGeom prst="rect">
            <a:avLst/>
          </a:prstGeom>
          <a:noFill/>
        </p:spPr>
        <p:txBody>
          <a:bodyPr wrap="square">
            <a:spAutoFit/>
          </a:bodyPr>
          <a:lstStyle/>
          <a:p>
            <a:pPr algn="ctr"/>
            <a:r>
              <a:rPr sz="1600" b="0">
                <a:solidFill>
                  <a:srgbClr val="2A2D32"/>
                </a:solidFill>
              </a:rPr>
              <a:t>Diffusion D
reflect amplitudes
about their mean</a:t>
            </a:r>
          </a:p>
        </p:txBody>
      </p:sp>
      <p:cxnSp>
        <p:nvCxnSpPr>
          <p:cNvPr id="9" name="Connector 8"/>
          <p:cNvCxnSpPr/>
          <p:nvPr/>
        </p:nvCxnSpPr>
        <p:spPr>
          <a:xfrm>
            <a:off x="7315200" y="1737360"/>
            <a:ext cx="548640"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909560" y="1280160"/>
            <a:ext cx="3520440" cy="91440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19288" y="1344168"/>
            <a:ext cx="3300984" cy="786384"/>
          </a:xfrm>
          <a:prstGeom prst="rect">
            <a:avLst/>
          </a:prstGeom>
          <a:noFill/>
        </p:spPr>
        <p:txBody>
          <a:bodyPr wrap="square">
            <a:spAutoFit/>
          </a:bodyPr>
          <a:lstStyle/>
          <a:p>
            <a:pPr algn="ctr"/>
            <a:r>
              <a:rPr sz="1600" b="0">
                <a:solidFill>
                  <a:srgbClr val="2A2D32"/>
                </a:solidFill>
              </a:rPr>
              <a:t>Marked states become
more likely to be measured</a:t>
            </a:r>
          </a:p>
        </p:txBody>
      </p:sp>
      <p:sp>
        <p:nvSpPr>
          <p:cNvPr id="12" name="TextBox 11"/>
          <p:cNvSpPr txBox="1"/>
          <p:nvPr/>
        </p:nvSpPr>
        <p:spPr>
          <a:xfrm>
            <a:off x="731520" y="2606040"/>
            <a:ext cx="3931920" cy="320040"/>
          </a:xfrm>
          <a:prstGeom prst="rect">
            <a:avLst/>
          </a:prstGeom>
          <a:noFill/>
        </p:spPr>
        <p:txBody>
          <a:bodyPr wrap="square">
            <a:spAutoFit/>
          </a:bodyPr>
          <a:lstStyle/>
          <a:p>
            <a:pPr algn="l"/>
            <a:r>
              <a:rPr sz="1700" b="1">
                <a:solidFill>
                  <a:srgbClr val="1C2D46"/>
                </a:solidFill>
              </a:rPr>
              <a:t>One Grover iteration</a:t>
            </a:r>
          </a:p>
        </p:txBody>
      </p:sp>
      <p:sp>
        <p:nvSpPr>
          <p:cNvPr id="13" name="Rounded Rectangle 12"/>
          <p:cNvSpPr/>
          <p:nvPr/>
        </p:nvSpPr>
        <p:spPr>
          <a:xfrm>
            <a:off x="731520" y="3063240"/>
            <a:ext cx="3931920" cy="822960"/>
          </a:xfrm>
          <a:prstGeom prst="roundRect">
            <a:avLst/>
          </a:prstGeom>
          <a:solidFill>
            <a:srgbClr val="F2F6FA"/>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3127248"/>
            <a:ext cx="3712463" cy="694944"/>
          </a:xfrm>
          <a:prstGeom prst="rect">
            <a:avLst/>
          </a:prstGeom>
          <a:noFill/>
        </p:spPr>
        <p:txBody>
          <a:bodyPr wrap="square">
            <a:spAutoFit/>
          </a:bodyPr>
          <a:lstStyle/>
          <a:p>
            <a:pPr algn="ctr"/>
            <a:r>
              <a:rPr sz="2200" b="0">
                <a:solidFill>
                  <a:srgbClr val="2A2D32"/>
                </a:solidFill>
              </a:rPr>
              <a:t>Gτ = D · Oτ</a:t>
            </a:r>
          </a:p>
        </p:txBody>
      </p:sp>
      <p:sp>
        <p:nvSpPr>
          <p:cNvPr id="15" name="TextBox 14"/>
          <p:cNvSpPr txBox="1"/>
          <p:nvPr/>
        </p:nvSpPr>
        <p:spPr>
          <a:xfrm>
            <a:off x="5166360" y="2606040"/>
            <a:ext cx="5669280" cy="320040"/>
          </a:xfrm>
          <a:prstGeom prst="rect">
            <a:avLst/>
          </a:prstGeom>
          <a:noFill/>
        </p:spPr>
        <p:txBody>
          <a:bodyPr wrap="square">
            <a:spAutoFit/>
          </a:bodyPr>
          <a:lstStyle/>
          <a:p>
            <a:pPr algn="l"/>
            <a:r>
              <a:rPr sz="1700" b="1">
                <a:solidFill>
                  <a:srgbClr val="1C2D46"/>
                </a:solidFill>
              </a:rPr>
              <a:t>Why not use a fixed number of iterations?</a:t>
            </a:r>
          </a:p>
        </p:txBody>
      </p:sp>
      <p:sp>
        <p:nvSpPr>
          <p:cNvPr id="16" name="TextBox 15"/>
          <p:cNvSpPr txBox="1"/>
          <p:nvPr/>
        </p:nvSpPr>
        <p:spPr>
          <a:xfrm>
            <a:off x="5166360" y="3063240"/>
            <a:ext cx="5669280" cy="1188720"/>
          </a:xfrm>
          <a:prstGeom prst="rect">
            <a:avLst/>
          </a:prstGeom>
          <a:noFill/>
        </p:spPr>
        <p:txBody>
          <a:bodyPr wrap="square">
            <a:spAutoFit/>
          </a:bodyPr>
          <a:lstStyle/>
          <a:p>
            <a:pPr algn="l"/>
            <a:r>
              <a:rPr sz="1400" b="0">
                <a:solidFill>
                  <a:srgbClr val="2A2D32"/>
                </a:solidFill>
              </a:rPr>
              <a:t>The correct number depends on how many configurations satisfy C(k) &lt; τ. That number is unknown and changes every time τ improves.</a:t>
            </a:r>
          </a:p>
        </p:txBody>
      </p:sp>
      <p:sp>
        <p:nvSpPr>
          <p:cNvPr id="17" name="Rounded Rectangle 16"/>
          <p:cNvSpPr/>
          <p:nvPr/>
        </p:nvSpPr>
        <p:spPr>
          <a:xfrm>
            <a:off x="1234440" y="4709160"/>
            <a:ext cx="9738360" cy="914400"/>
          </a:xfrm>
          <a:prstGeom prst="roundRect">
            <a:avLst/>
          </a:prstGeom>
          <a:solidFill>
            <a:srgbClr val="FAF7EB"/>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44168" y="4773168"/>
            <a:ext cx="9518904" cy="786384"/>
          </a:xfrm>
          <a:prstGeom prst="rect">
            <a:avLst/>
          </a:prstGeom>
          <a:noFill/>
        </p:spPr>
        <p:txBody>
          <a:bodyPr wrap="square">
            <a:spAutoFit/>
          </a:bodyPr>
          <a:lstStyle/>
          <a:p>
            <a:pPr algn="ctr"/>
            <a:r>
              <a:rPr sz="1600" b="0">
                <a:solidFill>
                  <a:srgbClr val="2A2D32"/>
                </a:solidFill>
              </a:rPr>
              <a:t>Too few iterations → weak amplification     |     Too many → probability can decrease again</a:t>
            </a:r>
          </a:p>
        </p:txBody>
      </p:sp>
      <p:sp>
        <p:nvSpPr>
          <p:cNvPr id="19" name="TextBox 18"/>
          <p:cNvSpPr txBox="1"/>
          <p:nvPr/>
        </p:nvSpPr>
        <p:spPr>
          <a:xfrm>
            <a:off x="1828800" y="5897880"/>
            <a:ext cx="8503920" cy="323165"/>
          </a:xfrm>
          <a:prstGeom prst="rect">
            <a:avLst/>
          </a:prstGeom>
          <a:noFill/>
        </p:spPr>
        <p:txBody>
          <a:bodyPr wrap="square">
            <a:spAutoFit/>
          </a:bodyPr>
          <a:lstStyle/>
          <a:p>
            <a:pPr algn="ctr"/>
            <a:r>
              <a:rPr lang="it-IT" sz="1500" b="1" dirty="0" err="1">
                <a:solidFill>
                  <a:srgbClr val="376296"/>
                </a:solidFill>
              </a:rPr>
              <a:t>We</a:t>
            </a:r>
            <a:r>
              <a:rPr sz="1500" b="1" dirty="0">
                <a:solidFill>
                  <a:srgbClr val="376296"/>
                </a:solidFill>
              </a:rPr>
              <a:t> use</a:t>
            </a:r>
            <a:r>
              <a:rPr lang="it-IT" sz="1500" b="1" dirty="0">
                <a:solidFill>
                  <a:srgbClr val="376296"/>
                </a:solidFill>
              </a:rPr>
              <a:t> </a:t>
            </a:r>
            <a:r>
              <a:rPr sz="1500" b="1" dirty="0">
                <a:solidFill>
                  <a:srgbClr val="376296"/>
                </a:solidFill>
              </a:rPr>
              <a:t>an adaptive randomized number of Grover iterations.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
            <a:ext cx="9525172" cy="492443"/>
          </a:xfrm>
          <a:prstGeom prst="rect">
            <a:avLst/>
          </a:prstGeom>
          <a:noFill/>
        </p:spPr>
        <p:txBody>
          <a:bodyPr wrap="none">
            <a:spAutoFit/>
          </a:bodyPr>
          <a:lstStyle/>
          <a:p>
            <a:r>
              <a:rPr lang="it-IT" sz="2600" b="1" dirty="0">
                <a:solidFill>
                  <a:srgbClr val="1C2D46"/>
                </a:solidFill>
              </a:rPr>
              <a:t>The </a:t>
            </a:r>
            <a:r>
              <a:rPr lang="it-IT" sz="2600" b="1" dirty="0" err="1">
                <a:solidFill>
                  <a:srgbClr val="1C2D46"/>
                </a:solidFill>
              </a:rPr>
              <a:t>whole</a:t>
            </a:r>
            <a:r>
              <a:rPr lang="it-IT" sz="2600" b="1" dirty="0">
                <a:solidFill>
                  <a:srgbClr val="1C2D46"/>
                </a:solidFill>
              </a:rPr>
              <a:t> </a:t>
            </a:r>
            <a:r>
              <a:rPr lang="it-IT" sz="2600" b="1" dirty="0" err="1">
                <a:solidFill>
                  <a:srgbClr val="1C2D46"/>
                </a:solidFill>
              </a:rPr>
              <a:t>algorithm</a:t>
            </a:r>
            <a:r>
              <a:rPr lang="it-IT" sz="2600" b="1" dirty="0">
                <a:solidFill>
                  <a:srgbClr val="1C2D46"/>
                </a:solidFill>
              </a:rPr>
              <a:t> -</a:t>
            </a:r>
            <a:r>
              <a:rPr sz="2600" b="1" dirty="0">
                <a:solidFill>
                  <a:srgbClr val="1C2D46"/>
                </a:solidFill>
              </a:rPr>
              <a:t> Adaptive Quantum Minimum Finding</a:t>
            </a:r>
          </a:p>
        </p:txBody>
      </p:sp>
      <p:sp>
        <p:nvSpPr>
          <p:cNvPr id="3" name="TextBox 2"/>
          <p:cNvSpPr txBox="1"/>
          <p:nvPr/>
        </p:nvSpPr>
        <p:spPr>
          <a:xfrm>
            <a:off x="530352" y="749808"/>
            <a:ext cx="10972800" cy="347472"/>
          </a:xfrm>
          <a:prstGeom prst="rect">
            <a:avLst/>
          </a:prstGeom>
          <a:noFill/>
        </p:spPr>
        <p:txBody>
          <a:bodyPr wrap="none">
            <a:spAutoFit/>
          </a:bodyPr>
          <a:lstStyle/>
          <a:p>
            <a:r>
              <a:rPr sz="1150">
                <a:solidFill>
                  <a:srgbClr val="376296"/>
                </a:solidFill>
              </a:rPr>
              <a:t>Each round searches for a configuration better than the best one found so far.</a:t>
            </a:r>
          </a:p>
        </p:txBody>
      </p:sp>
      <p:sp>
        <p:nvSpPr>
          <p:cNvPr id="4" name="Rounded Rectangle 3"/>
          <p:cNvSpPr/>
          <p:nvPr/>
        </p:nvSpPr>
        <p:spPr>
          <a:xfrm>
            <a:off x="594360" y="1325880"/>
            <a:ext cx="2514600" cy="1097280"/>
          </a:xfrm>
          <a:prstGeom prst="roundRect">
            <a:avLst/>
          </a:prstGeom>
          <a:solidFill>
            <a:srgbClr val="FFFFFF"/>
          </a:solidFill>
          <a:ln>
            <a:solidFill>
              <a:srgbClr val="376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088" y="1389888"/>
            <a:ext cx="2295144" cy="969264"/>
          </a:xfrm>
          <a:prstGeom prst="rect">
            <a:avLst/>
          </a:prstGeom>
          <a:noFill/>
        </p:spPr>
        <p:txBody>
          <a:bodyPr wrap="square">
            <a:spAutoFit/>
          </a:bodyPr>
          <a:lstStyle/>
          <a:p>
            <a:pPr algn="ctr"/>
            <a:r>
              <a:rPr sz="1400" b="0">
                <a:solidFill>
                  <a:srgbClr val="2A2D32"/>
                </a:solidFill>
              </a:rPr>
              <a:t>1. Choose initial k_best
and compute τ = C(k_best)</a:t>
            </a:r>
          </a:p>
        </p:txBody>
      </p:sp>
      <p:cxnSp>
        <p:nvCxnSpPr>
          <p:cNvPr id="6" name="Connector 5"/>
          <p:cNvCxnSpPr/>
          <p:nvPr/>
        </p:nvCxnSpPr>
        <p:spPr>
          <a:xfrm>
            <a:off x="3136391" y="1874519"/>
            <a:ext cx="246888" cy="0"/>
          </a:xfrm>
          <a:prstGeom prst="line">
            <a:avLst/>
          </a:prstGeom>
          <a:ln w="25400">
            <a:solidFill>
              <a:srgbClr val="376296"/>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47288" y="1325880"/>
            <a:ext cx="2514600" cy="1097280"/>
          </a:xfrm>
          <a:prstGeom prst="roundRect">
            <a:avLst/>
          </a:prstGeom>
          <a:solidFill>
            <a:srgbClr val="FFFFFF"/>
          </a:solidFill>
          <a:ln>
            <a:solidFill>
              <a:srgbClr val="6F4D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57016" y="1389888"/>
            <a:ext cx="2295144" cy="969264"/>
          </a:xfrm>
          <a:prstGeom prst="rect">
            <a:avLst/>
          </a:prstGeom>
          <a:noFill/>
        </p:spPr>
        <p:txBody>
          <a:bodyPr wrap="square">
            <a:spAutoFit/>
          </a:bodyPr>
          <a:lstStyle/>
          <a:p>
            <a:pPr algn="ctr"/>
            <a:r>
              <a:rPr sz="1400" b="0">
                <a:solidFill>
                  <a:srgbClr val="2A2D32"/>
                </a:solidFill>
              </a:rPr>
              <a:t>2. Set μ = 1 and choose
r ∈ {0,…,μ−1} randomly</a:t>
            </a:r>
          </a:p>
        </p:txBody>
      </p:sp>
      <p:cxnSp>
        <p:nvCxnSpPr>
          <p:cNvPr id="9" name="Connector 8"/>
          <p:cNvCxnSpPr/>
          <p:nvPr/>
        </p:nvCxnSpPr>
        <p:spPr>
          <a:xfrm>
            <a:off x="5989320" y="1874519"/>
            <a:ext cx="246888" cy="0"/>
          </a:xfrm>
          <a:prstGeom prst="line">
            <a:avLst/>
          </a:prstGeom>
          <a:ln w="25400">
            <a:solidFill>
              <a:srgbClr val="6F4D9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00216" y="1325880"/>
            <a:ext cx="2514600" cy="1097280"/>
          </a:xfrm>
          <a:prstGeom prst="roundRect">
            <a:avLst/>
          </a:prstGeom>
          <a:solidFill>
            <a:srgbClr val="FFFFFF"/>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9944" y="1389888"/>
            <a:ext cx="2295144" cy="969264"/>
          </a:xfrm>
          <a:prstGeom prst="rect">
            <a:avLst/>
          </a:prstGeom>
          <a:noFill/>
        </p:spPr>
        <p:txBody>
          <a:bodyPr wrap="square">
            <a:spAutoFit/>
          </a:bodyPr>
          <a:lstStyle/>
          <a:p>
            <a:pPr algn="ctr"/>
            <a:r>
              <a:rPr sz="1400" b="0" dirty="0">
                <a:solidFill>
                  <a:srgbClr val="2A2D32"/>
                </a:solidFill>
              </a:rPr>
              <a:t>3. Prepare superposition and
apply </a:t>
            </a:r>
            <a:r>
              <a:rPr sz="1400" b="0" dirty="0" err="1">
                <a:solidFill>
                  <a:srgbClr val="2A2D32"/>
                </a:solidFill>
              </a:rPr>
              <a:t>Gτ</a:t>
            </a:r>
            <a:r>
              <a:rPr sz="1400" b="0" dirty="0">
                <a:solidFill>
                  <a:srgbClr val="2A2D32"/>
                </a:solidFill>
              </a:rPr>
              <a:t> exactly r times</a:t>
            </a:r>
          </a:p>
        </p:txBody>
      </p:sp>
      <p:cxnSp>
        <p:nvCxnSpPr>
          <p:cNvPr id="12" name="Connector 11"/>
          <p:cNvCxnSpPr/>
          <p:nvPr/>
        </p:nvCxnSpPr>
        <p:spPr>
          <a:xfrm>
            <a:off x="8842248" y="1874519"/>
            <a:ext cx="246888" cy="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53144" y="1325880"/>
            <a:ext cx="2514600" cy="1097280"/>
          </a:xfrm>
          <a:prstGeom prst="roundRect">
            <a:avLst/>
          </a:prstGeom>
          <a:solidFill>
            <a:srgbClr val="FFFFFF"/>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62872" y="1389888"/>
            <a:ext cx="2295144" cy="969264"/>
          </a:xfrm>
          <a:prstGeom prst="rect">
            <a:avLst/>
          </a:prstGeom>
          <a:noFill/>
        </p:spPr>
        <p:txBody>
          <a:bodyPr wrap="square">
            <a:spAutoFit/>
          </a:bodyPr>
          <a:lstStyle/>
          <a:p>
            <a:pPr algn="ctr"/>
            <a:r>
              <a:rPr sz="1400" b="0">
                <a:solidFill>
                  <a:srgbClr val="2A2D32"/>
                </a:solidFill>
              </a:rPr>
              <a:t>4. Measure k_cand and
compute C(k_cand) classically</a:t>
            </a:r>
          </a:p>
        </p:txBody>
      </p:sp>
      <p:sp>
        <p:nvSpPr>
          <p:cNvPr id="15" name="Rounded Rectangle 14"/>
          <p:cNvSpPr/>
          <p:nvPr/>
        </p:nvSpPr>
        <p:spPr>
          <a:xfrm>
            <a:off x="731520" y="3063240"/>
            <a:ext cx="5120640" cy="1097280"/>
          </a:xfrm>
          <a:prstGeom prst="roundRect">
            <a:avLst/>
          </a:prstGeom>
          <a:solidFill>
            <a:srgbClr val="EDF8F1"/>
          </a:solidFill>
          <a:ln>
            <a:solidFill>
              <a:srgbClr val="377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 y="3127248"/>
            <a:ext cx="4901183" cy="969264"/>
          </a:xfrm>
          <a:prstGeom prst="rect">
            <a:avLst/>
          </a:prstGeom>
          <a:noFill/>
        </p:spPr>
        <p:txBody>
          <a:bodyPr wrap="square">
            <a:spAutoFit/>
          </a:bodyPr>
          <a:lstStyle/>
          <a:p>
            <a:pPr algn="ctr"/>
            <a:r>
              <a:rPr sz="1600" b="0">
                <a:solidFill>
                  <a:srgbClr val="2A2D32"/>
                </a:solidFill>
              </a:rPr>
              <a:t>If C(k_cand) &lt; C(k_best)
k_best ← k_cand     τ ← C(k_cand)     μ ← 1</a:t>
            </a:r>
          </a:p>
        </p:txBody>
      </p:sp>
      <p:sp>
        <p:nvSpPr>
          <p:cNvPr id="17" name="Rounded Rectangle 16"/>
          <p:cNvSpPr/>
          <p:nvPr/>
        </p:nvSpPr>
        <p:spPr>
          <a:xfrm>
            <a:off x="6309360" y="3063240"/>
            <a:ext cx="5120640" cy="1097280"/>
          </a:xfrm>
          <a:prstGeom prst="roundRect">
            <a:avLst/>
          </a:prstGeom>
          <a:solidFill>
            <a:srgbClr val="FAF7EB"/>
          </a:solidFill>
          <a:ln>
            <a:solidFill>
              <a:srgbClr val="BE7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3127248"/>
            <a:ext cx="4901183" cy="1015663"/>
          </a:xfrm>
          <a:prstGeom prst="rect">
            <a:avLst/>
          </a:prstGeom>
          <a:noFill/>
        </p:spPr>
        <p:txBody>
          <a:bodyPr wrap="square">
            <a:spAutoFit/>
          </a:bodyPr>
          <a:lstStyle/>
          <a:p>
            <a:pPr algn="ctr"/>
            <a:r>
              <a:rPr sz="1500" b="0" dirty="0">
                <a:solidFill>
                  <a:srgbClr val="2A2D32"/>
                </a:solidFill>
              </a:rPr>
              <a:t>If there is NO improvement
keep </a:t>
            </a:r>
            <a:r>
              <a:rPr sz="1500" b="0" dirty="0" err="1">
                <a:solidFill>
                  <a:srgbClr val="2A2D32"/>
                </a:solidFill>
              </a:rPr>
              <a:t>τ</a:t>
            </a:r>
            <a:r>
              <a:rPr sz="1500" b="0" dirty="0">
                <a:solidFill>
                  <a:srgbClr val="2A2D32"/>
                </a:solidFill>
              </a:rPr>
              <a:t> and increase search range:
</a:t>
            </a:r>
            <a:r>
              <a:rPr sz="1500" b="0" dirty="0" err="1">
                <a:solidFill>
                  <a:srgbClr val="2A2D32"/>
                </a:solidFill>
              </a:rPr>
              <a:t>μ</a:t>
            </a:r>
            <a:r>
              <a:rPr sz="1500" b="0" dirty="0">
                <a:solidFill>
                  <a:srgbClr val="2A2D32"/>
                </a:solidFill>
              </a:rPr>
              <a:t> ← min{⌈8μ/7⌉, </a:t>
            </a:r>
            <a:r>
              <a:rPr sz="1500" b="0" dirty="0" err="1">
                <a:solidFill>
                  <a:srgbClr val="2A2D32"/>
                </a:solidFill>
              </a:rPr>
              <a:t>μmax</a:t>
            </a:r>
            <a:r>
              <a:rPr sz="1500" b="0" dirty="0">
                <a:solidFill>
                  <a:srgbClr val="2A2D32"/>
                </a:solidFill>
              </a:rPr>
              <a:t>}</a:t>
            </a:r>
            <a:r>
              <a:rPr lang="it-IT" sz="1500" b="0" dirty="0">
                <a:solidFill>
                  <a:srgbClr val="2A2D32"/>
                </a:solidFill>
              </a:rPr>
              <a:t> with </a:t>
            </a:r>
            <a:r>
              <a:rPr lang="el-GR" sz="1500" dirty="0">
                <a:solidFill>
                  <a:srgbClr val="2A2D32"/>
                </a:solidFill>
              </a:rPr>
              <a:t>μ</a:t>
            </a:r>
            <a:r>
              <a:rPr lang="en-GB" sz="1500" dirty="0">
                <a:solidFill>
                  <a:srgbClr val="2A2D32"/>
                </a:solidFill>
              </a:rPr>
              <a:t>max=ceil(sqrt(S)) with S=number of configurations in search space</a:t>
            </a:r>
            <a:endParaRPr sz="1500" b="0" dirty="0">
              <a:solidFill>
                <a:srgbClr val="2A2D32"/>
              </a:solidFill>
            </a:endParaRPr>
          </a:p>
        </p:txBody>
      </p:sp>
      <p:cxnSp>
        <p:nvCxnSpPr>
          <p:cNvPr id="19" name="Connector 18"/>
          <p:cNvCxnSpPr/>
          <p:nvPr/>
        </p:nvCxnSpPr>
        <p:spPr>
          <a:xfrm>
            <a:off x="6080760" y="4389120"/>
            <a:ext cx="0" cy="502920"/>
          </a:xfrm>
          <a:prstGeom prst="line">
            <a:avLst/>
          </a:prstGeom>
          <a:ln w="25400">
            <a:solidFill>
              <a:srgbClr val="1C2D4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3200" y="4937760"/>
            <a:ext cx="6675120" cy="822960"/>
          </a:xfrm>
          <a:prstGeom prst="roundRect">
            <a:avLst/>
          </a:prstGeom>
          <a:solidFill>
            <a:srgbClr val="F2F6FA"/>
          </a:solidFill>
          <a:ln>
            <a:solidFill>
              <a:srgbClr val="1C2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852928" y="5001768"/>
            <a:ext cx="6455664" cy="615553"/>
          </a:xfrm>
          <a:prstGeom prst="rect">
            <a:avLst/>
          </a:prstGeom>
          <a:noFill/>
        </p:spPr>
        <p:txBody>
          <a:bodyPr wrap="square">
            <a:spAutoFit/>
          </a:bodyPr>
          <a:lstStyle/>
          <a:p>
            <a:pPr algn="ctr"/>
            <a:r>
              <a:rPr sz="1700" b="0" dirty="0">
                <a:solidFill>
                  <a:srgbClr val="2A2D32"/>
                </a:solidFill>
              </a:rPr>
              <a:t>Repeat until the maximum number of search rounds is reached</a:t>
            </a:r>
            <a:r>
              <a:rPr lang="it-IT" sz="1700" b="0" dirty="0">
                <a:solidFill>
                  <a:srgbClr val="2A2D32"/>
                </a:solidFill>
              </a:rPr>
              <a:t> (</a:t>
            </a:r>
            <a:r>
              <a:rPr lang="it-IT" sz="1700" b="0" dirty="0" err="1">
                <a:solidFill>
                  <a:srgbClr val="2A2D32"/>
                </a:solidFill>
              </a:rPr>
              <a:t>chosen</a:t>
            </a:r>
            <a:r>
              <a:rPr lang="it-IT" sz="1700" b="0" dirty="0">
                <a:solidFill>
                  <a:srgbClr val="2A2D32"/>
                </a:solidFill>
              </a:rPr>
              <a:t> a priori, </a:t>
            </a:r>
            <a:r>
              <a:rPr lang="it-IT" sz="1700" b="0" dirty="0" err="1">
                <a:solidFill>
                  <a:srgbClr val="2A2D32"/>
                </a:solidFill>
              </a:rPr>
              <a:t>currently</a:t>
            </a:r>
            <a:r>
              <a:rPr lang="it-IT" sz="1700" b="0" dirty="0">
                <a:solidFill>
                  <a:srgbClr val="2A2D32"/>
                </a:solidFill>
              </a:rPr>
              <a:t> under </a:t>
            </a:r>
            <a:r>
              <a:rPr lang="it-IT" sz="1700" b="0" dirty="0" err="1">
                <a:solidFill>
                  <a:srgbClr val="2A2D32"/>
                </a:solidFill>
              </a:rPr>
              <a:t>analysis</a:t>
            </a:r>
            <a:r>
              <a:rPr lang="it-IT" sz="1700" b="0" dirty="0">
                <a:solidFill>
                  <a:srgbClr val="2A2D32"/>
                </a:solidFill>
              </a:rPr>
              <a:t>)</a:t>
            </a:r>
            <a:endParaRPr sz="1700" b="0" dirty="0">
              <a:solidFill>
                <a:srgbClr val="2A2D32"/>
              </a:solidFill>
            </a:endParaRPr>
          </a:p>
        </p:txBody>
      </p:sp>
      <p:sp>
        <p:nvSpPr>
          <p:cNvPr id="22" name="TextBox 21"/>
          <p:cNvSpPr txBox="1"/>
          <p:nvPr/>
        </p:nvSpPr>
        <p:spPr>
          <a:xfrm>
            <a:off x="1188720" y="5989320"/>
            <a:ext cx="9875520" cy="411480"/>
          </a:xfrm>
          <a:prstGeom prst="rect">
            <a:avLst/>
          </a:prstGeom>
          <a:noFill/>
        </p:spPr>
        <p:txBody>
          <a:bodyPr wrap="square">
            <a:spAutoFit/>
          </a:bodyPr>
          <a:lstStyle/>
          <a:p>
            <a:pPr algn="ctr"/>
            <a:r>
              <a:rPr sz="1350" b="1">
                <a:solidFill>
                  <a:srgbClr val="1C2D46"/>
                </a:solidFill>
              </a:rPr>
              <a:t>Important: the method is probabilistic — a finite run does not guarantee that the global minimum is measured.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9C40C-D726-3D7B-8995-4892421279B4}"/>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763A1315-7399-CB77-74F3-D3D878CC3473}"/>
              </a:ext>
            </a:extLst>
          </p:cNvPr>
          <p:cNvPicPr>
            <a:picLocks noChangeAspect="1"/>
          </p:cNvPicPr>
          <p:nvPr/>
        </p:nvPicPr>
        <p:blipFill>
          <a:blip r:embed="rId2"/>
          <a:stretch>
            <a:fillRect/>
          </a:stretch>
        </p:blipFill>
        <p:spPr>
          <a:xfrm>
            <a:off x="2787650" y="1250950"/>
            <a:ext cx="6616700" cy="4356100"/>
          </a:xfrm>
          <a:prstGeom prst="rect">
            <a:avLst/>
          </a:prstGeom>
        </p:spPr>
      </p:pic>
    </p:spTree>
    <p:extLst>
      <p:ext uri="{BB962C8B-B14F-4D97-AF65-F5344CB8AC3E}">
        <p14:creationId xmlns:p14="http://schemas.microsoft.com/office/powerpoint/2010/main" val="2198685278"/>
      </p:ext>
    </p:extLst>
  </p:cSld>
  <p:clrMapOvr>
    <a:masterClrMapping/>
  </p:clrMapOvr>
</p:sld>
</file>

<file path=ppt/theme/theme1.xml><?xml version="1.0" encoding="utf-8"?>
<a:theme xmlns:a="http://schemas.openxmlformats.org/drawingml/2006/main" name="Dividendi">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TM03457464[[fn=Dividendi]]</Template>
  <TotalTime>4303</TotalTime>
  <Words>4883</Words>
  <Application>Microsoft Macintosh PowerPoint</Application>
  <PresentationFormat>Widescreen</PresentationFormat>
  <Paragraphs>487</Paragraphs>
  <Slides>28</Slides>
  <Notes>22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Cambria Math</vt:lpstr>
      <vt:lpstr>Gill Sans MT</vt:lpstr>
      <vt:lpstr>Wingdings 2</vt:lpstr>
      <vt:lpstr>Dividendi</vt:lpstr>
      <vt:lpstr>From Healthcare to Smart Grids: Exploring Optimization Problems and Quantum 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Progress Report</dc:title>
  <dc:creator>GIACOMO MEDDA</dc:creator>
  <cp:lastModifiedBy>dieg ref</cp:lastModifiedBy>
  <cp:revision>249</cp:revision>
  <dcterms:created xsi:type="dcterms:W3CDTF">2021-09-22T02:37:23Z</dcterms:created>
  <dcterms:modified xsi:type="dcterms:W3CDTF">2026-09-10T14:08:35Z</dcterms:modified>
</cp:coreProperties>
</file>