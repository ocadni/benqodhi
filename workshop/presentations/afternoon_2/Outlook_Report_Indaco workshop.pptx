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1205" r:id="rId5"/>
    <p:sldId id="1203" r:id="rId6"/>
    <p:sldId id="1202" r:id="rId7"/>
    <p:sldId id="1204" r:id="rId8"/>
    <p:sldId id="12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9-08T12:29:04.641"/>
    <p1510:client id="{13462F75-CA15-49C7-8BCC-DCBB94938E57}" v="6" dt="2026-09-08T08:32:38.613"/>
    <p1510:client id="{7F813E89-DAED-4FA2-B3BB-772B4A2305E7}" v="1" dt="2026-09-09T15:30:17.183"/>
    <p1510:client id="{D550F7AF-5C28-9B42-BF8D-1304D27F5151}" v="95" dt="2026-09-08T12:41:19.716"/>
    <p1510:client id="{EC92DDA9-12D7-2B79-F074-53340D187464}" v="533" dt="2026-09-08T09:38:46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B28CF3-9B12-4C2F-B28D-FB08B1E914B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DABB1-DC80-46A8-8FDC-3929F0703B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up of </a:t>
          </a:r>
          <a:r>
            <a:rPr lang="en-US">
              <a:latin typeface="Aptos Display" panose="020F0302020204030204"/>
            </a:rPr>
            <a:t>16</a:t>
          </a:r>
          <a:r>
            <a:rPr lang="en-US"/>
            <a:t>+ individuals from all 8 scientific directorates, led by directorates E and T</a:t>
          </a:r>
        </a:p>
      </dgm:t>
    </dgm:pt>
    <dgm:pt modelId="{631C9D38-3539-4C7A-ADB0-262E207A762C}" type="parTrans" cxnId="{8778040D-4F50-452A-A108-5CE1C2422A14}">
      <dgm:prSet/>
      <dgm:spPr/>
      <dgm:t>
        <a:bodyPr/>
        <a:lstStyle/>
        <a:p>
          <a:endParaRPr lang="en-US"/>
        </a:p>
      </dgm:t>
    </dgm:pt>
    <dgm:pt modelId="{42573C05-D4EA-4150-A97A-985BD2042DFA}" type="sibTrans" cxnId="{8778040D-4F50-452A-A108-5CE1C2422A14}">
      <dgm:prSet/>
      <dgm:spPr/>
      <dgm:t>
        <a:bodyPr/>
        <a:lstStyle/>
        <a:p>
          <a:endParaRPr lang="en-US"/>
        </a:p>
      </dgm:t>
    </dgm:pt>
    <dgm:pt modelId="{43995DDD-27C0-428E-B788-5EE0CA24BE7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Multi-disciplinary perspective on quantum </a:t>
          </a:r>
          <a:r>
            <a:rPr lang="en-US">
              <a:latin typeface="Aptos Display" panose="020F0302020204030204"/>
            </a:rPr>
            <a:t>and quantum </a:t>
          </a:r>
          <a:r>
            <a:rPr lang="en-US"/>
            <a:t>technologies at the JRC.</a:t>
          </a:r>
        </a:p>
      </dgm:t>
    </dgm:pt>
    <dgm:pt modelId="{02ABB5B7-8560-4806-BD47-CDBC406C177A}" type="parTrans" cxnId="{2263C7DC-40D6-40FC-84DA-945C691AA39D}">
      <dgm:prSet/>
      <dgm:spPr/>
      <dgm:t>
        <a:bodyPr/>
        <a:lstStyle/>
        <a:p>
          <a:endParaRPr lang="en-US"/>
        </a:p>
      </dgm:t>
    </dgm:pt>
    <dgm:pt modelId="{B4FC5FD5-A364-4955-BAD4-978496E4F5CD}" type="sibTrans" cxnId="{2263C7DC-40D6-40FC-84DA-945C691AA39D}">
      <dgm:prSet/>
      <dgm:spPr/>
      <dgm:t>
        <a:bodyPr/>
        <a:lstStyle/>
        <a:p>
          <a:endParaRPr lang="en-US"/>
        </a:p>
      </dgm:t>
    </dgm:pt>
    <dgm:pt modelId="{E5AB9C6B-4ABB-4D1E-ABF4-CFCD0513D56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Research and scientific </a:t>
          </a:r>
          <a:r>
            <a:rPr lang="en-US" err="1"/>
            <a:t>organisation</a:t>
          </a:r>
          <a:r>
            <a:rPr lang="en-US"/>
            <a:t> focused</a:t>
          </a:r>
          <a:r>
            <a:rPr lang="en-US">
              <a:latin typeface="Aptos Display" panose="020F0302020204030204"/>
            </a:rPr>
            <a:t> – not only JRC.</a:t>
          </a:r>
          <a:endParaRPr lang="en-US"/>
        </a:p>
      </dgm:t>
    </dgm:pt>
    <dgm:pt modelId="{DF49EDCA-B13C-4E34-AD75-1CC916697327}" type="parTrans" cxnId="{0BBF6A7E-3E0A-4E54-B45F-55FC9221A1FD}">
      <dgm:prSet/>
      <dgm:spPr/>
      <dgm:t>
        <a:bodyPr/>
        <a:lstStyle/>
        <a:p>
          <a:endParaRPr lang="en-US"/>
        </a:p>
      </dgm:t>
    </dgm:pt>
    <dgm:pt modelId="{526D0E5C-7C40-44C6-9CE0-3F91EAAD015A}" type="sibTrans" cxnId="{0BBF6A7E-3E0A-4E54-B45F-55FC9221A1FD}">
      <dgm:prSet/>
      <dgm:spPr/>
      <dgm:t>
        <a:bodyPr/>
        <a:lstStyle/>
        <a:p>
          <a:endParaRPr lang="en-US"/>
        </a:p>
      </dgm:t>
    </dgm:pt>
    <dgm:pt modelId="{80F82704-48C7-4624-BC28-F20AFB61D27C}" type="pres">
      <dgm:prSet presAssocID="{77B28CF3-9B12-4C2F-B28D-FB08B1E914BF}" presName="root" presStyleCnt="0">
        <dgm:presLayoutVars>
          <dgm:dir/>
          <dgm:resizeHandles val="exact"/>
        </dgm:presLayoutVars>
      </dgm:prSet>
      <dgm:spPr/>
    </dgm:pt>
    <dgm:pt modelId="{3B69C6CA-C3DD-49F3-A519-E489390451E3}" type="pres">
      <dgm:prSet presAssocID="{724DABB1-DC80-46A8-8FDC-3929F0703B38}" presName="compNode" presStyleCnt="0"/>
      <dgm:spPr/>
    </dgm:pt>
    <dgm:pt modelId="{14D6244E-3EA4-4D85-83BC-12B173DF6A77}" type="pres">
      <dgm:prSet presAssocID="{724DABB1-DC80-46A8-8FDC-3929F0703B38}" presName="bgRect" presStyleLbl="bgShp" presStyleIdx="0" presStyleCnt="3"/>
      <dgm:spPr/>
    </dgm:pt>
    <dgm:pt modelId="{5D25FE85-45F6-4AFD-8796-847AF0B54945}" type="pres">
      <dgm:prSet presAssocID="{724DABB1-DC80-46A8-8FDC-3929F0703B3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FC3FE7DC-A5E2-4A2C-9F17-2C5A774F2146}" type="pres">
      <dgm:prSet presAssocID="{724DABB1-DC80-46A8-8FDC-3929F0703B38}" presName="spaceRect" presStyleCnt="0"/>
      <dgm:spPr/>
    </dgm:pt>
    <dgm:pt modelId="{D21D81DE-41A9-4AB9-9CA9-207D099A5DAD}" type="pres">
      <dgm:prSet presAssocID="{724DABB1-DC80-46A8-8FDC-3929F0703B38}" presName="parTx" presStyleLbl="revTx" presStyleIdx="0" presStyleCnt="3">
        <dgm:presLayoutVars>
          <dgm:chMax val="0"/>
          <dgm:chPref val="0"/>
        </dgm:presLayoutVars>
      </dgm:prSet>
      <dgm:spPr/>
    </dgm:pt>
    <dgm:pt modelId="{8094D8AA-39E9-4641-BB09-0A5AA9392F18}" type="pres">
      <dgm:prSet presAssocID="{42573C05-D4EA-4150-A97A-985BD2042DFA}" presName="sibTrans" presStyleCnt="0"/>
      <dgm:spPr/>
    </dgm:pt>
    <dgm:pt modelId="{8B5795CF-F8C1-4565-AF75-CC443A52CCDE}" type="pres">
      <dgm:prSet presAssocID="{43995DDD-27C0-428E-B788-5EE0CA24BE70}" presName="compNode" presStyleCnt="0"/>
      <dgm:spPr/>
    </dgm:pt>
    <dgm:pt modelId="{C9B6BAC8-B55D-49FC-883A-8FFE8D896735}" type="pres">
      <dgm:prSet presAssocID="{43995DDD-27C0-428E-B788-5EE0CA24BE70}" presName="bgRect" presStyleLbl="bgShp" presStyleIdx="1" presStyleCnt="3"/>
      <dgm:spPr/>
    </dgm:pt>
    <dgm:pt modelId="{02B25F5B-AB28-48CF-8C37-A4BB8B6C9992}" type="pres">
      <dgm:prSet presAssocID="{43995DDD-27C0-428E-B788-5EE0CA24BE7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4973F6FC-42D1-48AA-B687-7ECA1F0F0F91}" type="pres">
      <dgm:prSet presAssocID="{43995DDD-27C0-428E-B788-5EE0CA24BE70}" presName="spaceRect" presStyleCnt="0"/>
      <dgm:spPr/>
    </dgm:pt>
    <dgm:pt modelId="{4B497163-BE63-4CF2-8E7E-7EB17E55315B}" type="pres">
      <dgm:prSet presAssocID="{43995DDD-27C0-428E-B788-5EE0CA24BE70}" presName="parTx" presStyleLbl="revTx" presStyleIdx="1" presStyleCnt="3">
        <dgm:presLayoutVars>
          <dgm:chMax val="0"/>
          <dgm:chPref val="0"/>
        </dgm:presLayoutVars>
      </dgm:prSet>
      <dgm:spPr/>
    </dgm:pt>
    <dgm:pt modelId="{DB8B005D-9E56-40F1-A253-3D9282E2F6E5}" type="pres">
      <dgm:prSet presAssocID="{B4FC5FD5-A364-4955-BAD4-978496E4F5CD}" presName="sibTrans" presStyleCnt="0"/>
      <dgm:spPr/>
    </dgm:pt>
    <dgm:pt modelId="{6B4884A8-17C9-4321-916F-D61ABE78D4B5}" type="pres">
      <dgm:prSet presAssocID="{E5AB9C6B-4ABB-4D1E-ABF4-CFCD0513D562}" presName="compNode" presStyleCnt="0"/>
      <dgm:spPr/>
    </dgm:pt>
    <dgm:pt modelId="{9151D8AE-CB1E-4BDC-AC22-EA7A3ABBD0D3}" type="pres">
      <dgm:prSet presAssocID="{E5AB9C6B-4ABB-4D1E-ABF4-CFCD0513D562}" presName="bgRect" presStyleLbl="bgShp" presStyleIdx="2" presStyleCnt="3"/>
      <dgm:spPr/>
    </dgm:pt>
    <dgm:pt modelId="{E5C5B76C-3343-4D06-BF82-F12665BBDCA7}" type="pres">
      <dgm:prSet presAssocID="{E5AB9C6B-4ABB-4D1E-ABF4-CFCD0513D56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0CBA4B74-F70B-44E6-9311-F0BC4320D38C}" type="pres">
      <dgm:prSet presAssocID="{E5AB9C6B-4ABB-4D1E-ABF4-CFCD0513D562}" presName="spaceRect" presStyleCnt="0"/>
      <dgm:spPr/>
    </dgm:pt>
    <dgm:pt modelId="{B2B0EFE6-711F-455E-AAF8-2F4EDC36BA4D}" type="pres">
      <dgm:prSet presAssocID="{E5AB9C6B-4ABB-4D1E-ABF4-CFCD0513D56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78040D-4F50-452A-A108-5CE1C2422A14}" srcId="{77B28CF3-9B12-4C2F-B28D-FB08B1E914BF}" destId="{724DABB1-DC80-46A8-8FDC-3929F0703B38}" srcOrd="0" destOrd="0" parTransId="{631C9D38-3539-4C7A-ADB0-262E207A762C}" sibTransId="{42573C05-D4EA-4150-A97A-985BD2042DFA}"/>
    <dgm:cxn modelId="{75E13143-7540-44FD-8EB4-81ED8684FFED}" type="presOf" srcId="{E5AB9C6B-4ABB-4D1E-ABF4-CFCD0513D562}" destId="{B2B0EFE6-711F-455E-AAF8-2F4EDC36BA4D}" srcOrd="0" destOrd="0" presId="urn:microsoft.com/office/officeart/2018/2/layout/IconVerticalSolidList"/>
    <dgm:cxn modelId="{176C444B-8FE1-47FD-A2FF-59B4C4D6A363}" type="presOf" srcId="{43995DDD-27C0-428E-B788-5EE0CA24BE70}" destId="{4B497163-BE63-4CF2-8E7E-7EB17E55315B}" srcOrd="0" destOrd="0" presId="urn:microsoft.com/office/officeart/2018/2/layout/IconVerticalSolidList"/>
    <dgm:cxn modelId="{0BBF6A7E-3E0A-4E54-B45F-55FC9221A1FD}" srcId="{77B28CF3-9B12-4C2F-B28D-FB08B1E914BF}" destId="{E5AB9C6B-4ABB-4D1E-ABF4-CFCD0513D562}" srcOrd="2" destOrd="0" parTransId="{DF49EDCA-B13C-4E34-AD75-1CC916697327}" sibTransId="{526D0E5C-7C40-44C6-9CE0-3F91EAAD015A}"/>
    <dgm:cxn modelId="{F64006BC-F5F7-4F25-999C-ECBC068B01F1}" type="presOf" srcId="{77B28CF3-9B12-4C2F-B28D-FB08B1E914BF}" destId="{80F82704-48C7-4624-BC28-F20AFB61D27C}" srcOrd="0" destOrd="0" presId="urn:microsoft.com/office/officeart/2018/2/layout/IconVerticalSolidList"/>
    <dgm:cxn modelId="{B727ACC5-FF3C-4B49-9328-1F845DBFED70}" type="presOf" srcId="{724DABB1-DC80-46A8-8FDC-3929F0703B38}" destId="{D21D81DE-41A9-4AB9-9CA9-207D099A5DAD}" srcOrd="0" destOrd="0" presId="urn:microsoft.com/office/officeart/2018/2/layout/IconVerticalSolidList"/>
    <dgm:cxn modelId="{2263C7DC-40D6-40FC-84DA-945C691AA39D}" srcId="{77B28CF3-9B12-4C2F-B28D-FB08B1E914BF}" destId="{43995DDD-27C0-428E-B788-5EE0CA24BE70}" srcOrd="1" destOrd="0" parTransId="{02ABB5B7-8560-4806-BD47-CDBC406C177A}" sibTransId="{B4FC5FD5-A364-4955-BAD4-978496E4F5CD}"/>
    <dgm:cxn modelId="{799E492C-A579-4F26-8CC5-4DED0FB06A49}" type="presParOf" srcId="{80F82704-48C7-4624-BC28-F20AFB61D27C}" destId="{3B69C6CA-C3DD-49F3-A519-E489390451E3}" srcOrd="0" destOrd="0" presId="urn:microsoft.com/office/officeart/2018/2/layout/IconVerticalSolidList"/>
    <dgm:cxn modelId="{E6811623-C414-4CC4-A8DF-0D69E5690CD4}" type="presParOf" srcId="{3B69C6CA-C3DD-49F3-A519-E489390451E3}" destId="{14D6244E-3EA4-4D85-83BC-12B173DF6A77}" srcOrd="0" destOrd="0" presId="urn:microsoft.com/office/officeart/2018/2/layout/IconVerticalSolidList"/>
    <dgm:cxn modelId="{3A1E63D1-2AAA-4866-9079-FA4A98F8ABAD}" type="presParOf" srcId="{3B69C6CA-C3DD-49F3-A519-E489390451E3}" destId="{5D25FE85-45F6-4AFD-8796-847AF0B54945}" srcOrd="1" destOrd="0" presId="urn:microsoft.com/office/officeart/2018/2/layout/IconVerticalSolidList"/>
    <dgm:cxn modelId="{95EE515B-5097-4CF3-AF6E-EB55642F525A}" type="presParOf" srcId="{3B69C6CA-C3DD-49F3-A519-E489390451E3}" destId="{FC3FE7DC-A5E2-4A2C-9F17-2C5A774F2146}" srcOrd="2" destOrd="0" presId="urn:microsoft.com/office/officeart/2018/2/layout/IconVerticalSolidList"/>
    <dgm:cxn modelId="{6A8B5434-2E1F-43FC-8FD7-0B286F1FDBE6}" type="presParOf" srcId="{3B69C6CA-C3DD-49F3-A519-E489390451E3}" destId="{D21D81DE-41A9-4AB9-9CA9-207D099A5DAD}" srcOrd="3" destOrd="0" presId="urn:microsoft.com/office/officeart/2018/2/layout/IconVerticalSolidList"/>
    <dgm:cxn modelId="{D9F4723C-DD04-4FF0-AD16-021B22BEF355}" type="presParOf" srcId="{80F82704-48C7-4624-BC28-F20AFB61D27C}" destId="{8094D8AA-39E9-4641-BB09-0A5AA9392F18}" srcOrd="1" destOrd="0" presId="urn:microsoft.com/office/officeart/2018/2/layout/IconVerticalSolidList"/>
    <dgm:cxn modelId="{794A864F-B5AA-4009-8196-FFCA44888102}" type="presParOf" srcId="{80F82704-48C7-4624-BC28-F20AFB61D27C}" destId="{8B5795CF-F8C1-4565-AF75-CC443A52CCDE}" srcOrd="2" destOrd="0" presId="urn:microsoft.com/office/officeart/2018/2/layout/IconVerticalSolidList"/>
    <dgm:cxn modelId="{7FB61CF5-EF43-4BF3-B71B-5D3CFC4330EA}" type="presParOf" srcId="{8B5795CF-F8C1-4565-AF75-CC443A52CCDE}" destId="{C9B6BAC8-B55D-49FC-883A-8FFE8D896735}" srcOrd="0" destOrd="0" presId="urn:microsoft.com/office/officeart/2018/2/layout/IconVerticalSolidList"/>
    <dgm:cxn modelId="{8C3A88F3-F100-4D27-B7DF-A9F4A7917C0C}" type="presParOf" srcId="{8B5795CF-F8C1-4565-AF75-CC443A52CCDE}" destId="{02B25F5B-AB28-48CF-8C37-A4BB8B6C9992}" srcOrd="1" destOrd="0" presId="urn:microsoft.com/office/officeart/2018/2/layout/IconVerticalSolidList"/>
    <dgm:cxn modelId="{12559C91-A5A8-4072-ACE3-2DEC137F3528}" type="presParOf" srcId="{8B5795CF-F8C1-4565-AF75-CC443A52CCDE}" destId="{4973F6FC-42D1-48AA-B687-7ECA1F0F0F91}" srcOrd="2" destOrd="0" presId="urn:microsoft.com/office/officeart/2018/2/layout/IconVerticalSolidList"/>
    <dgm:cxn modelId="{723C38E8-791B-4E84-9E7B-9DFAB42B417F}" type="presParOf" srcId="{8B5795CF-F8C1-4565-AF75-CC443A52CCDE}" destId="{4B497163-BE63-4CF2-8E7E-7EB17E55315B}" srcOrd="3" destOrd="0" presId="urn:microsoft.com/office/officeart/2018/2/layout/IconVerticalSolidList"/>
    <dgm:cxn modelId="{0A52AAB4-5A74-4EED-A3AE-10536453A578}" type="presParOf" srcId="{80F82704-48C7-4624-BC28-F20AFB61D27C}" destId="{DB8B005D-9E56-40F1-A253-3D9282E2F6E5}" srcOrd="3" destOrd="0" presId="urn:microsoft.com/office/officeart/2018/2/layout/IconVerticalSolidList"/>
    <dgm:cxn modelId="{46C6B8AF-0F7D-47FD-98B6-07C44F9FBD79}" type="presParOf" srcId="{80F82704-48C7-4624-BC28-F20AFB61D27C}" destId="{6B4884A8-17C9-4321-916F-D61ABE78D4B5}" srcOrd="4" destOrd="0" presId="urn:microsoft.com/office/officeart/2018/2/layout/IconVerticalSolidList"/>
    <dgm:cxn modelId="{E57FE7DE-EADC-4875-9CC7-B5BDC95F6E42}" type="presParOf" srcId="{6B4884A8-17C9-4321-916F-D61ABE78D4B5}" destId="{9151D8AE-CB1E-4BDC-AC22-EA7A3ABBD0D3}" srcOrd="0" destOrd="0" presId="urn:microsoft.com/office/officeart/2018/2/layout/IconVerticalSolidList"/>
    <dgm:cxn modelId="{74ADF5D5-AE82-4AAC-8144-EDC452C07CAA}" type="presParOf" srcId="{6B4884A8-17C9-4321-916F-D61ABE78D4B5}" destId="{E5C5B76C-3343-4D06-BF82-F12665BBDCA7}" srcOrd="1" destOrd="0" presId="urn:microsoft.com/office/officeart/2018/2/layout/IconVerticalSolidList"/>
    <dgm:cxn modelId="{AC76DB3E-301B-4440-95A6-07CE65CBDE78}" type="presParOf" srcId="{6B4884A8-17C9-4321-916F-D61ABE78D4B5}" destId="{0CBA4B74-F70B-44E6-9311-F0BC4320D38C}" srcOrd="2" destOrd="0" presId="urn:microsoft.com/office/officeart/2018/2/layout/IconVerticalSolidList"/>
    <dgm:cxn modelId="{F730F5F2-7229-47AD-87A5-0C15831EED54}" type="presParOf" srcId="{6B4884A8-17C9-4321-916F-D61ABE78D4B5}" destId="{B2B0EFE6-711F-455E-AAF8-2F4EDC36BA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6244E-3EA4-4D85-83BC-12B173DF6A77}">
      <dsp:nvSpPr>
        <dsp:cNvPr id="0" name=""/>
        <dsp:cNvSpPr/>
      </dsp:nvSpPr>
      <dsp:spPr>
        <a:xfrm>
          <a:off x="0" y="225"/>
          <a:ext cx="9329056" cy="5268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5FE85-45F6-4AFD-8796-847AF0B54945}">
      <dsp:nvSpPr>
        <dsp:cNvPr id="0" name=""/>
        <dsp:cNvSpPr/>
      </dsp:nvSpPr>
      <dsp:spPr>
        <a:xfrm>
          <a:off x="159374" y="118768"/>
          <a:ext cx="289771" cy="289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D81DE-41A9-4AB9-9CA9-207D099A5DAD}">
      <dsp:nvSpPr>
        <dsp:cNvPr id="0" name=""/>
        <dsp:cNvSpPr/>
      </dsp:nvSpPr>
      <dsp:spPr>
        <a:xfrm>
          <a:off x="608520" y="225"/>
          <a:ext cx="8720535" cy="52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759" tIns="55759" rIns="55759" bIns="5575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Made up of </a:t>
          </a:r>
          <a:r>
            <a:rPr lang="en-US" sz="1800" kern="1200">
              <a:latin typeface="Aptos Display" panose="020F0302020204030204"/>
            </a:rPr>
            <a:t>16</a:t>
          </a:r>
          <a:r>
            <a:rPr lang="en-US" sz="1800" kern="1200"/>
            <a:t>+ individuals from all 8 scientific directorates, led by directorates E and T</a:t>
          </a:r>
        </a:p>
      </dsp:txBody>
      <dsp:txXfrm>
        <a:off x="608520" y="225"/>
        <a:ext cx="8720535" cy="526857"/>
      </dsp:txXfrm>
    </dsp:sp>
    <dsp:sp modelId="{C9B6BAC8-B55D-49FC-883A-8FFE8D896735}">
      <dsp:nvSpPr>
        <dsp:cNvPr id="0" name=""/>
        <dsp:cNvSpPr/>
      </dsp:nvSpPr>
      <dsp:spPr>
        <a:xfrm>
          <a:off x="0" y="658796"/>
          <a:ext cx="9329056" cy="5268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25F5B-AB28-48CF-8C37-A4BB8B6C9992}">
      <dsp:nvSpPr>
        <dsp:cNvPr id="0" name=""/>
        <dsp:cNvSpPr/>
      </dsp:nvSpPr>
      <dsp:spPr>
        <a:xfrm>
          <a:off x="159374" y="777339"/>
          <a:ext cx="289771" cy="289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97163-BE63-4CF2-8E7E-7EB17E55315B}">
      <dsp:nvSpPr>
        <dsp:cNvPr id="0" name=""/>
        <dsp:cNvSpPr/>
      </dsp:nvSpPr>
      <dsp:spPr>
        <a:xfrm>
          <a:off x="608520" y="658796"/>
          <a:ext cx="8720535" cy="52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759" tIns="55759" rIns="55759" bIns="55759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Multi-disciplinary perspective on quantum </a:t>
          </a:r>
          <a:r>
            <a:rPr lang="en-US" sz="1800" kern="1200">
              <a:latin typeface="Aptos Display" panose="020F0302020204030204"/>
            </a:rPr>
            <a:t>and quantum </a:t>
          </a:r>
          <a:r>
            <a:rPr lang="en-US" sz="1800" kern="1200"/>
            <a:t>technologies at the JRC.</a:t>
          </a:r>
        </a:p>
      </dsp:txBody>
      <dsp:txXfrm>
        <a:off x="608520" y="658796"/>
        <a:ext cx="8720535" cy="526857"/>
      </dsp:txXfrm>
    </dsp:sp>
    <dsp:sp modelId="{9151D8AE-CB1E-4BDC-AC22-EA7A3ABBD0D3}">
      <dsp:nvSpPr>
        <dsp:cNvPr id="0" name=""/>
        <dsp:cNvSpPr/>
      </dsp:nvSpPr>
      <dsp:spPr>
        <a:xfrm>
          <a:off x="0" y="1317368"/>
          <a:ext cx="9329056" cy="5268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5B76C-3343-4D06-BF82-F12665BBDCA7}">
      <dsp:nvSpPr>
        <dsp:cNvPr id="0" name=""/>
        <dsp:cNvSpPr/>
      </dsp:nvSpPr>
      <dsp:spPr>
        <a:xfrm>
          <a:off x="159374" y="1435911"/>
          <a:ext cx="289771" cy="289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0EFE6-711F-455E-AAF8-2F4EDC36BA4D}">
      <dsp:nvSpPr>
        <dsp:cNvPr id="0" name=""/>
        <dsp:cNvSpPr/>
      </dsp:nvSpPr>
      <dsp:spPr>
        <a:xfrm>
          <a:off x="608520" y="1317368"/>
          <a:ext cx="8720535" cy="526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759" tIns="55759" rIns="55759" bIns="55759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Research and scientific </a:t>
          </a:r>
          <a:r>
            <a:rPr lang="en-US" sz="1800" kern="1200" err="1"/>
            <a:t>organisation</a:t>
          </a:r>
          <a:r>
            <a:rPr lang="en-US" sz="1800" kern="1200"/>
            <a:t> focused</a:t>
          </a:r>
          <a:r>
            <a:rPr lang="en-US" sz="1800" kern="1200">
              <a:latin typeface="Aptos Display" panose="020F0302020204030204"/>
            </a:rPr>
            <a:t> – not only JRC.</a:t>
          </a:r>
          <a:endParaRPr lang="en-US" sz="1800" kern="1200"/>
        </a:p>
      </dsp:txBody>
      <dsp:txXfrm>
        <a:off x="608520" y="1317368"/>
        <a:ext cx="8720535" cy="526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12899-7830-4494-A9E9-F6E9D0C6901A}" type="datetimeFigureOut">
              <a:t>09/09/2026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1BFC-6FAF-4E25-8970-78E04E79DB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5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gradFill>
          <a:gsLst>
            <a:gs pos="75000">
              <a:srgbClr val="5DA6C5"/>
            </a:gs>
            <a:gs pos="47000">
              <a:srgbClr val="5781B8"/>
            </a:gs>
            <a:gs pos="4000">
              <a:srgbClr val="4E51A7"/>
            </a:gs>
            <a:gs pos="100000">
              <a:srgbClr val="65D4D5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JRC symbol" descr="A black circle with dots&#10;&#10;AI-generated content may be incorrect.">
            <a:extLst>
              <a:ext uri="{FF2B5EF4-FFF2-40B4-BE49-F238E27FC236}">
                <a16:creationId xmlns:a16="http://schemas.microsoft.com/office/drawing/2014/main" id="{725D4AB3-EADA-E922-EA70-C927A8FFB8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47" r="49243" b="4824"/>
          <a:stretch>
            <a:fillRect/>
          </a:stretch>
        </p:blipFill>
        <p:spPr>
          <a:xfrm>
            <a:off x="8401069" y="0"/>
            <a:ext cx="3790932" cy="6858000"/>
          </a:xfrm>
          <a:prstGeom prst="rect">
            <a:avLst/>
          </a:prstGeom>
        </p:spPr>
      </p:pic>
      <p:pic>
        <p:nvPicPr>
          <p:cNvPr id="5" name="EC logo" descr="European Commission">
            <a:extLst>
              <a:ext uri="{FF2B5EF4-FFF2-40B4-BE49-F238E27FC236}">
                <a16:creationId xmlns:a16="http://schemas.microsoft.com/office/drawing/2014/main" id="{5BB2D12E-18B3-959D-037B-3FCA2A7027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63383" y="5738784"/>
            <a:ext cx="2544024" cy="941017"/>
          </a:xfrm>
          <a:prstGeom prst="rect">
            <a:avLst/>
          </a:prstGeom>
          <a:noFill/>
        </p:spPr>
      </p:pic>
      <p:sp>
        <p:nvSpPr>
          <p:cNvPr id="7" name="Speaker, venue">
            <a:extLst>
              <a:ext uri="{FF2B5EF4-FFF2-40B4-BE49-F238E27FC236}">
                <a16:creationId xmlns:a16="http://schemas.microsoft.com/office/drawing/2014/main" id="{CD23B510-2F58-56A1-7F6F-515ECCAF7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803275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Speaker</a:t>
            </a:r>
          </a:p>
        </p:txBody>
      </p:sp>
      <p:sp>
        <p:nvSpPr>
          <p:cNvPr id="40" name="Subtitle">
            <a:extLst>
              <a:ext uri="{FF2B5EF4-FFF2-40B4-BE49-F238E27FC236}">
                <a16:creationId xmlns:a16="http://schemas.microsoft.com/office/drawing/2014/main" id="{BE9F0F0B-69CC-DFB6-5C7F-41B2FD0B0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803275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GB" noProof="1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15F952-885D-C605-132C-FFDBD2BCFF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03275" y="575220"/>
            <a:ext cx="7324004" cy="313138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1"/>
              <a:t>Cover slide </a:t>
            </a:r>
            <a:br>
              <a:rPr lang="en-GB" noProof="1"/>
            </a:br>
            <a:r>
              <a:rPr lang="en-GB" noProof="1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606321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DFBD9765-3C72-06D1-09D8-10CDE03BB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6096001" y="1805204"/>
            <a:ext cx="5303838" cy="4241583"/>
          </a:xfrm>
          <a:prstGeom prst="roundRect">
            <a:avLst>
              <a:gd name="adj" fmla="val 8983"/>
            </a:avLst>
          </a:prstGeom>
          <a:solidFill>
            <a:srgbClr val="D6E0FF"/>
          </a:solidFill>
          <a:ln w="28575" cmpd="sng">
            <a:noFill/>
          </a:ln>
        </p:spPr>
        <p:txBody>
          <a:bodyPr tIns="720000" bIns="0" anchor="ctr" anchorCtr="0"/>
          <a:lstStyle>
            <a:lvl1pPr marL="0" indent="0" algn="ctr">
              <a:buClr>
                <a:schemeClr val="accent2"/>
              </a:buClr>
              <a:buFont typeface="Arial"/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E4E583BE-0611-D157-910C-723414A4A6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575" y="2358000"/>
            <a:ext cx="4985536" cy="3474000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AA0E8AFA-B815-894A-CDD8-718FCA065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9C5041D-2DA5-80C0-E0FA-80521700E9B7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925997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8DF9FA3-520D-226E-FE5C-8C0AB77F13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0"/>
          </p:nvPr>
        </p:nvSpPr>
        <p:spPr>
          <a:xfrm>
            <a:off x="790574" y="1798638"/>
            <a:ext cx="10609261" cy="4248150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209256F-2ACF-82E0-4B63-2250C7FA3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F6BB3B9-1656-8CC1-621D-BE00C0BE3CC3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0" smtClean="0"/>
              <a:pPr/>
              <a:t>‹#›</a:t>
            </a:fld>
            <a:endParaRPr lang="en-GB" sz="1050" noProof="0"/>
          </a:p>
        </p:txBody>
      </p:sp>
    </p:spTree>
    <p:extLst>
      <p:ext uri="{BB962C8B-B14F-4D97-AF65-F5344CB8AC3E}">
        <p14:creationId xmlns:p14="http://schemas.microsoft.com/office/powerpoint/2010/main" val="409533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220C-17AB-F119-A60D-C046C39F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1473-F560-D029-FC0C-91F64D20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JRC Quantum Inter-directorate </a:t>
            </a:r>
            <a:r>
              <a:rPr lang="en-US" i="1">
                <a:solidFill>
                  <a:srgbClr val="0070C0"/>
                </a:solidFill>
              </a:rPr>
              <a:t>Work</a:t>
            </a:r>
            <a:r>
              <a:rPr lang="en-US">
                <a:solidFill>
                  <a:srgbClr val="0070C0"/>
                </a:solidFill>
              </a:rPr>
              <a:t>ing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29678-0863-3CD7-2FD6-B70A81A3C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332513"/>
            <a:ext cx="3026229" cy="1844449"/>
          </a:xfr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70C0"/>
                </a:solidFill>
                <a:ea typeface="+mn-lt"/>
                <a:cs typeface="+mn-lt"/>
              </a:rPr>
              <a:t>Deliverable 1:</a:t>
            </a: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 Outlook Report on Quantum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C331C2-5A34-7F03-9A20-186BFF933B9F}"/>
              </a:ext>
            </a:extLst>
          </p:cNvPr>
          <p:cNvSpPr txBox="1">
            <a:spLocks/>
          </p:cNvSpPr>
          <p:nvPr/>
        </p:nvSpPr>
        <p:spPr>
          <a:xfrm>
            <a:off x="4484915" y="4332513"/>
            <a:ext cx="2939142" cy="184445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0070C0"/>
                </a:solidFill>
                <a:ea typeface="+mn-lt"/>
                <a:cs typeface="+mn-lt"/>
              </a:rPr>
              <a:t>Deliverable 2:</a:t>
            </a: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 Detailed Implementation Plan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8DB018-518D-30AC-ABEA-D458E3D85FFD}"/>
              </a:ext>
            </a:extLst>
          </p:cNvPr>
          <p:cNvSpPr txBox="1">
            <a:spLocks/>
          </p:cNvSpPr>
          <p:nvPr/>
        </p:nvSpPr>
        <p:spPr>
          <a:xfrm>
            <a:off x="8044543" y="4332511"/>
            <a:ext cx="2939142" cy="1844451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0070C0"/>
                </a:solidFill>
                <a:ea typeface="+mn-lt"/>
                <a:cs typeface="+mn-lt"/>
              </a:rPr>
              <a:t>Deliverable 3:</a:t>
            </a: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 Federated Quantum Lab</a:t>
            </a:r>
          </a:p>
          <a:p>
            <a:pPr>
              <a:buFont typeface="Arial" panose="020B0604020202020204" pitchFamily="34" charset="0"/>
              <a:buNone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    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9CF173B-719F-4711-867C-797E9DA56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4156838"/>
              </p:ext>
            </p:extLst>
          </p:nvPr>
        </p:nvGraphicFramePr>
        <p:xfrm>
          <a:off x="925287" y="1603261"/>
          <a:ext cx="9329056" cy="1844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39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25AE-4F9B-4F3A-F002-3AF6B395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1A93-5E28-4762-7D24-76E7518A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Quantum Outlook Methodology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02BBF8-0787-9A87-9559-E54DECFA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5411"/>
            <a:ext cx="4987471" cy="42696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Collaborative, structured, cross-disciplinary inquiry within the JRC.</a:t>
            </a:r>
          </a:p>
          <a:p>
            <a:r>
              <a:rPr lang="en-US">
                <a:ea typeface="+mn-lt"/>
                <a:cs typeface="+mn-lt"/>
              </a:rPr>
              <a:t>Identification of potential </a:t>
            </a:r>
            <a:r>
              <a:rPr lang="en-US" sz="2900">
                <a:ea typeface="+mn-lt"/>
                <a:cs typeface="+mn-lt"/>
              </a:rPr>
              <a:t>quantum technologies </a:t>
            </a:r>
            <a:r>
              <a:rPr lang="en-US">
                <a:ea typeface="+mn-lt"/>
                <a:cs typeface="+mn-lt"/>
              </a:rPr>
              <a:t>applications by each Directorate.</a:t>
            </a:r>
            <a:endParaRPr lang="en-US" sz="2900">
              <a:ea typeface="+mn-lt"/>
              <a:cs typeface="+mn-lt"/>
            </a:endParaRPr>
          </a:p>
          <a:p>
            <a:r>
              <a:rPr lang="en-US" sz="2900">
                <a:ea typeface="+mn-lt"/>
                <a:cs typeface="+mn-lt"/>
              </a:rPr>
              <a:t>Unique science-for-policy focus on the topic.</a:t>
            </a: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24F78-6B94-6EB8-7E88-5EEB43F456FC}"/>
              </a:ext>
            </a:extLst>
          </p:cNvPr>
          <p:cNvSpPr txBox="1"/>
          <p:nvPr/>
        </p:nvSpPr>
        <p:spPr>
          <a:xfrm>
            <a:off x="6395358" y="1923143"/>
            <a:ext cx="5488215" cy="37512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/>
            <a:endParaRPr lang="en-US">
              <a:ea typeface="+mn-lt"/>
              <a:cs typeface="+mn-lt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>
                <a:ea typeface="+mn-lt"/>
                <a:cs typeface="+mn-lt"/>
              </a:rPr>
              <a:t>Assessment of the relevant scientific domains and themes covered by the organisation.</a:t>
            </a:r>
            <a:endParaRPr lang="en-US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sz="1700">
                <a:cs typeface="Arial"/>
              </a:rPr>
              <a:t>Developments of these thematic areas across three key families of quantum technologies.</a:t>
            </a:r>
            <a:endParaRPr lang="en-US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sz="1700">
                <a:cs typeface="Arial"/>
              </a:rPr>
              <a:t>Link to broader impacts, including considerations related to strategic autonomy.</a:t>
            </a:r>
            <a:endParaRPr lang="en-US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 sz="170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 sz="170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endParaRPr lang="en-US" sz="1600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564457-15CF-1AD5-ADBD-F1AF0563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99" t="24630" r="-406" b="19704"/>
          <a:stretch>
            <a:fillRect/>
          </a:stretch>
        </p:blipFill>
        <p:spPr>
          <a:xfrm>
            <a:off x="6960382" y="4375114"/>
            <a:ext cx="4754166" cy="10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E858-3C5C-C529-672A-8E732DB0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Quantum Outlook Report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4B311-20B8-8622-9A20-AC44C20E9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93210" cy="4351338"/>
          </a:xfr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Introduction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2. Research Use Cases using Quantum Technologies</a:t>
            </a:r>
          </a:p>
          <a:p>
            <a:pPr>
              <a:buNone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    </a:t>
            </a:r>
            <a:r>
              <a:rPr lang="en-US" sz="2000">
                <a:ea typeface="+mn-lt"/>
                <a:cs typeface="+mn-lt"/>
              </a:rPr>
              <a:t>-Theme 1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      .Sensing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      .Communication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      .Computing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      .(Other considerations)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  -Theme 2</a:t>
            </a:r>
            <a:endParaRPr lang="en-US" sz="2000"/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3. Strategic positioning</a:t>
            </a:r>
            <a:endParaRPr 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4. Conclusion</a:t>
            </a:r>
            <a:endParaRPr lang="en-US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FD9C3DF-DEF1-E30D-7A6A-5B539BA3AE2D}"/>
              </a:ext>
            </a:extLst>
          </p:cNvPr>
          <p:cNvSpPr txBox="1">
            <a:spLocks/>
          </p:cNvSpPr>
          <p:nvPr/>
        </p:nvSpPr>
        <p:spPr>
          <a:xfrm>
            <a:off x="5487720" y="1825625"/>
            <a:ext cx="295250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Themes:</a:t>
            </a:r>
          </a:p>
          <a:p>
            <a:br>
              <a:rPr lang="en-US" sz="2800"/>
            </a:br>
            <a:r>
              <a:rPr lang="en-US" sz="2000">
                <a:ea typeface="+mn-lt"/>
                <a:cs typeface="+mn-lt"/>
              </a:rPr>
              <a:t>-Artificial Intelligence</a:t>
            </a:r>
          </a:p>
          <a:p>
            <a:r>
              <a:rPr lang="en-US" sz="2000">
                <a:ea typeface="+mn-lt"/>
                <a:cs typeface="+mn-lt"/>
              </a:rPr>
              <a:t>-Climate</a:t>
            </a:r>
          </a:p>
          <a:p>
            <a:r>
              <a:rPr lang="en-US" sz="2000">
                <a:ea typeface="+mn-lt"/>
                <a:cs typeface="+mn-lt"/>
              </a:rPr>
              <a:t>-Cybersecurity </a:t>
            </a:r>
          </a:p>
          <a:p>
            <a:r>
              <a:rPr lang="en-US" sz="2000">
                <a:ea typeface="+mn-lt"/>
                <a:cs typeface="+mn-lt"/>
              </a:rPr>
              <a:t>-Earth Observation</a:t>
            </a:r>
          </a:p>
          <a:p>
            <a:r>
              <a:rPr lang="en-US" sz="2000">
                <a:ea typeface="+mn-lt"/>
                <a:cs typeface="+mn-lt"/>
              </a:rPr>
              <a:t>-Economy and Finance</a:t>
            </a:r>
          </a:p>
          <a:p>
            <a:r>
              <a:rPr lang="en-US" sz="2000">
                <a:ea typeface="+mn-lt"/>
                <a:cs typeface="+mn-lt"/>
              </a:rPr>
              <a:t>-Energy</a:t>
            </a:r>
          </a:p>
          <a:p>
            <a:r>
              <a:rPr lang="en-US" sz="2000">
                <a:ea typeface="+mn-lt"/>
                <a:cs typeface="+mn-lt"/>
              </a:rPr>
              <a:t>-Health</a:t>
            </a:r>
          </a:p>
          <a:p>
            <a:r>
              <a:rPr lang="en-US" sz="2000">
                <a:ea typeface="+mn-lt"/>
                <a:cs typeface="+mn-lt"/>
              </a:rPr>
              <a:t>-Law Enforcement</a:t>
            </a:r>
          </a:p>
          <a:p>
            <a:r>
              <a:rPr lang="en-US" sz="2000">
                <a:ea typeface="+mn-lt"/>
                <a:cs typeface="+mn-lt"/>
              </a:rPr>
              <a:t>-Nuclear</a:t>
            </a:r>
          </a:p>
          <a:p>
            <a:r>
              <a:rPr lang="en-US" sz="2000">
                <a:ea typeface="+mn-lt"/>
                <a:cs typeface="+mn-lt"/>
              </a:rPr>
              <a:t>-Social Sciences</a:t>
            </a:r>
          </a:p>
          <a:p>
            <a:r>
              <a:rPr lang="en-US" sz="2000">
                <a:ea typeface="+mn-lt"/>
                <a:cs typeface="+mn-lt"/>
              </a:rPr>
              <a:t>-Space systems, Navigation and Communications</a:t>
            </a:r>
          </a:p>
          <a:p>
            <a:r>
              <a:rPr lang="en-US" sz="2000">
                <a:ea typeface="+mn-lt"/>
                <a:cs typeface="+mn-lt"/>
              </a:rPr>
              <a:t>-Transports</a:t>
            </a:r>
          </a:p>
        </p:txBody>
      </p:sp>
      <p:pic>
        <p:nvPicPr>
          <p:cNvPr id="5" name="Picture 4" descr="A close-up of a white block&#10;&#10;AI-generated content may be incorrect.">
            <a:extLst>
              <a:ext uri="{FF2B5EF4-FFF2-40B4-BE49-F238E27FC236}">
                <a16:creationId xmlns:a16="http://schemas.microsoft.com/office/drawing/2014/main" id="{6A3F6F63-A74A-DF3D-0A56-8A466393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468" y="1829604"/>
            <a:ext cx="2957558" cy="4355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77E8D4-BF4A-F530-1E2A-1F70002AF99A}"/>
              </a:ext>
            </a:extLst>
          </p:cNvPr>
          <p:cNvSpPr txBox="1"/>
          <p:nvPr/>
        </p:nvSpPr>
        <p:spPr>
          <a:xfrm>
            <a:off x="8639297" y="860960"/>
            <a:ext cx="294904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/>
              <a:t>Artist Libby Heaney’s Growler series (2024) explores superposition Sculpting glass into​ forms that appear simultaneously solid and slimy creates a tactile encounter with the concept of in-​ betweenness.</a:t>
            </a:r>
          </a:p>
        </p:txBody>
      </p:sp>
    </p:spTree>
    <p:extLst>
      <p:ext uri="{BB962C8B-B14F-4D97-AF65-F5344CB8AC3E}">
        <p14:creationId xmlns:p14="http://schemas.microsoft.com/office/powerpoint/2010/main" val="135395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284-94F3-01BD-F6D3-4667C40B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5526-BF19-DE80-85C6-214A65E8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Quantum Outlook Key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C5E8-045D-FFA3-727E-22A97067C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18797"/>
            <a:ext cx="9884229" cy="656318"/>
          </a:xfr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Key message 1: Q</a:t>
            </a:r>
            <a:r>
              <a:rPr lang="en-IE" sz="2000" err="1"/>
              <a:t>uantum</a:t>
            </a:r>
            <a:r>
              <a:rPr lang="en-IE" sz="2000"/>
              <a:t> technology has potential for numerous research applications of direct interest for European public policy.</a:t>
            </a:r>
            <a:endParaRPr lang="en-US" sz="20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E384C6-ABEB-4C97-E2B7-0095D0ED24D0}"/>
              </a:ext>
            </a:extLst>
          </p:cNvPr>
          <p:cNvSpPr txBox="1">
            <a:spLocks/>
          </p:cNvSpPr>
          <p:nvPr/>
        </p:nvSpPr>
        <p:spPr>
          <a:xfrm>
            <a:off x="838198" y="2565854"/>
            <a:ext cx="9884229" cy="656318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Key message 2: Some scientific domains will develop the quantum technology itself, but most will benefit from it</a:t>
            </a:r>
            <a:r>
              <a:rPr lang="en-US" sz="240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E" sz="2400"/>
              <a:t>.</a:t>
            </a:r>
            <a:endParaRPr 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545CC4-3681-33AE-7117-4D7E39616368}"/>
              </a:ext>
            </a:extLst>
          </p:cNvPr>
          <p:cNvSpPr txBox="1">
            <a:spLocks/>
          </p:cNvSpPr>
          <p:nvPr/>
        </p:nvSpPr>
        <p:spPr>
          <a:xfrm>
            <a:off x="838194" y="3512912"/>
            <a:ext cx="9884229" cy="656318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Key message 3: Quantum technologies have different readiness levels and thus require operating on multiple policy adoption horizons.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D4C960-3A59-1F4B-7D84-87612385187E}"/>
              </a:ext>
            </a:extLst>
          </p:cNvPr>
          <p:cNvSpPr txBox="1">
            <a:spLocks/>
          </p:cNvSpPr>
          <p:nvPr/>
        </p:nvSpPr>
        <p:spPr>
          <a:xfrm>
            <a:off x="838196" y="4459968"/>
            <a:ext cx="9884229" cy="92619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Key message 4 : </a:t>
            </a:r>
            <a:r>
              <a:rPr lang="en-IE" sz="2000"/>
              <a:t>One EU sovereign challenge is the EU’s capacity to independently test, benchmark, vali date and certify quantum systems. This requires more than producing hardware or supporting companies.</a:t>
            </a:r>
            <a:endParaRPr lang="en-US" sz="20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85B00A-1E66-F283-4816-E21EE7391F24}"/>
              </a:ext>
            </a:extLst>
          </p:cNvPr>
          <p:cNvSpPr txBox="1">
            <a:spLocks/>
          </p:cNvSpPr>
          <p:nvPr/>
        </p:nvSpPr>
        <p:spPr>
          <a:xfrm>
            <a:off x="838193" y="5562829"/>
            <a:ext cx="9884229" cy="92619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Key message 5 :</a:t>
            </a:r>
            <a:r>
              <a:rPr lang="en-IE" sz="2000"/>
              <a:t>Research institutions should anticipate quantum capabilities before the technology is operational. This includes building up quantum-readiness through skills, infrastructure, and collaborations to boost future adoption and development.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099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EC05-5EA3-2EEC-A3BF-83D71C2E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C996-1E33-05CF-676C-92722EF1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Quantum Outlook for Policymakers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C1FE0-FA0E-36B9-1C9F-1AD14C038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36771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Intended audience is scientific community and interested policymakers potentially useful for DG CNECT to inform the Quantum Act</a:t>
            </a:r>
          </a:p>
          <a:p>
            <a:r>
              <a:rPr lang="en-US"/>
              <a:t>Concrete use case  tables for each theme</a:t>
            </a:r>
          </a:p>
          <a:p>
            <a:r>
              <a:rPr lang="en-US"/>
              <a:t>Added text boxes to explain more technical and abstract concepts</a:t>
            </a:r>
          </a:p>
          <a:p>
            <a:pPr lvl="1"/>
            <a:r>
              <a:rPr lang="en-US"/>
              <a:t>Towards understanding quantum via art</a:t>
            </a:r>
          </a:p>
          <a:p>
            <a:r>
              <a:rPr lang="en-US"/>
              <a:t>Section on strategic positioning</a:t>
            </a:r>
            <a:endParaRPr lang="en-I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8CFF4-83E5-8F05-FA3C-EC222DF5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321" y="2005013"/>
            <a:ext cx="5001986" cy="2837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3A6F31-9DB7-3823-F347-F372FD681CBD}"/>
              </a:ext>
            </a:extLst>
          </p:cNvPr>
          <p:cNvSpPr txBox="1"/>
          <p:nvPr/>
        </p:nvSpPr>
        <p:spPr>
          <a:xfrm>
            <a:off x="6705600" y="4844142"/>
            <a:ext cx="50074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0" i="0" u="none" strike="noStrike">
                <a:solidFill>
                  <a:srgbClr val="000000"/>
                </a:solidFill>
                <a:latin typeface="Calibri"/>
              </a:rPr>
              <a:t>Evelina Domnitch and Dmitry Gelfand's </a:t>
            </a:r>
            <a:r>
              <a:rPr lang="en-GB" b="0" i="1" u="none" strike="noStrike">
                <a:solidFill>
                  <a:srgbClr val="000000"/>
                </a:solidFill>
                <a:latin typeface="Calibri"/>
              </a:rPr>
              <a:t>Quantum Lattice</a:t>
            </a:r>
            <a:r>
              <a:rPr lang="en-GB" b="0" i="0" u="none" strike="noStrike">
                <a:solidFill>
                  <a:srgbClr val="000000"/>
                </a:solidFill>
                <a:latin typeface="Calibri"/>
              </a:rPr>
              <a:t> hollow glass microspheres make trapped particle dynamics directly visible 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2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B3BB308FB7BE4CB435D4CCC7D28B6C" ma:contentTypeVersion="3" ma:contentTypeDescription="Create a new document." ma:contentTypeScope="" ma:versionID="f756f06c785b1863bc93371460d7010f">
  <xsd:schema xmlns:xsd="http://www.w3.org/2001/XMLSchema" xmlns:xs="http://www.w3.org/2001/XMLSchema" xmlns:p="http://schemas.microsoft.com/office/2006/metadata/properties" xmlns:ns2="73c75f13-5b59-497b-b224-b690bc898e49" targetNamespace="http://schemas.microsoft.com/office/2006/metadata/properties" ma:root="true" ma:fieldsID="e2cfd8b44d83d3b42420fdf42ca7edfc" ns2:_="">
    <xsd:import namespace="73c75f13-5b59-497b-b224-b690bc898e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75f13-5b59-497b-b224-b690bc898e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555FDA-CF32-4A9E-8EC7-42371B7EA142}">
  <ds:schemaRefs>
    <ds:schemaRef ds:uri="73c75f13-5b59-497b-b224-b690bc898e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E41DC11-A676-4B41-AA6B-5D2673F80F1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73c75f13-5b59-497b-b224-b690bc898e49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6270077-5EAF-4FEE-9853-CDB829B5C8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445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Courier New,monospace</vt:lpstr>
      <vt:lpstr>office theme</vt:lpstr>
      <vt:lpstr>JRC Quantum Inter-directorate Working Group</vt:lpstr>
      <vt:lpstr>Quantum Outlook Methodology </vt:lpstr>
      <vt:lpstr>Quantum Outlook Report </vt:lpstr>
      <vt:lpstr>Quantum Outlook Key Messages</vt:lpstr>
      <vt:lpstr>Quantum Outlook for Policymakers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BIAZZO Indaco (JRC-ISPRA)</dc:creator>
  <cp:lastModifiedBy>BIAZZO Indaco (JRC-ISPRA)</cp:lastModifiedBy>
  <cp:revision>2</cp:revision>
  <dcterms:created xsi:type="dcterms:W3CDTF">2026-01-26T14:39:32Z</dcterms:created>
  <dcterms:modified xsi:type="dcterms:W3CDTF">2026-09-09T15:30:17Z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0x0101007FB3BB308FB7BE4CB435D4CCC7D28B6C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2026-01-26T14:39:38Z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ec730166-607f-4953-9525-6d5841b651da</vt:lpwstr>
  </property>
  <property fmtid="{D5CDD505-2E9C-101B-9397-08002B2CF9AE}" pid="9" name="MSIP_Label_6bd9ddd1-4d20-43f6-abfa-fc3c07406f94_ContentBits">
    <vt:lpwstr>0</vt:lpwstr>
  </property>
  <property fmtid="{D5CDD505-2E9C-101B-9397-08002B2CF9AE}" pid="10" name="MSIP_Label_6bd9ddd1-4d20-43f6-abfa-fc3c07406f94_Tag">
    <vt:lpwstr>10, 3, 0, 2</vt:lpwstr>
  </property>
</Properties>
</file>